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28831b89c94e94" /><Relationship Type="http://schemas.openxmlformats.org/officeDocument/2006/relationships/extended-properties" Target="/docProps/app.xml" Id="Ra549184b0a96492e" /><Relationship Type="http://schemas.openxmlformats.org/officeDocument/2006/relationships/officeDocument" Target="/ppt/presentation.xml" Id="R6cd239b2ed48465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656df3940fb4550"/>
  </p:sldMasterIdLst>
  <p:notesMasterIdLst>
    <p:notesMasterId xmlns:r="http://schemas.openxmlformats.org/officeDocument/2006/relationships" r:id="R15938a16084448ae"/>
  </p:notesMasterIdLst>
  <p:sldIdLst>
    <p:sldId xmlns:r="http://schemas.openxmlformats.org/officeDocument/2006/relationships" id="256" r:id="R558b24984f014295"/>
    <p:sldId xmlns:r="http://schemas.openxmlformats.org/officeDocument/2006/relationships" id="257" r:id="R0ef5cd4d60a74ec4"/>
    <p:sldId xmlns:r="http://schemas.openxmlformats.org/officeDocument/2006/relationships" id="258" r:id="R1bf5305e937e4990"/>
    <p:sldId xmlns:r="http://schemas.openxmlformats.org/officeDocument/2006/relationships" id="259" r:id="R4292af58d98c45c5"/>
    <p:sldId xmlns:r="http://schemas.openxmlformats.org/officeDocument/2006/relationships" id="260" r:id="R7d7cbe6701004cd6"/>
    <p:sldId xmlns:r="http://schemas.openxmlformats.org/officeDocument/2006/relationships" id="261" r:id="Rd921be68634640a5"/>
    <p:sldId xmlns:r="http://schemas.openxmlformats.org/officeDocument/2006/relationships" id="262" r:id="Reeffd9fdbe154bb3"/>
    <p:sldId xmlns:r="http://schemas.openxmlformats.org/officeDocument/2006/relationships" id="263" r:id="Raf4890f2e9a545ea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8dc5ab12d21f40f5"/>
    </p:embeddedFont>
    <p:embeddedFont>
      <p:font typeface="Roboto"/>
      <p:regular xmlns:r="http://schemas.openxmlformats.org/officeDocument/2006/relationships" r:id="Rfff55529f52545af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7af8df8ec04398" /><Relationship Type="http://schemas.openxmlformats.org/officeDocument/2006/relationships/slideMaster" Target="/ppt/slideMasters/slideMaster1.xml" Id="Rb656df3940fb4550" /><Relationship Type="http://schemas.openxmlformats.org/officeDocument/2006/relationships/notesMaster" Target="/ppt/notesMasters/notesMaster1.xml" Id="R15938a16084448ae" /><Relationship Type="http://schemas.openxmlformats.org/officeDocument/2006/relationships/presProps" Target="/ppt/presProps.xml" Id="Re4fb33e8713241c6" /><Relationship Type="http://schemas.openxmlformats.org/officeDocument/2006/relationships/viewProps" Target="/ppt/viewProps.xml" Id="R066cfcd1e3c3449f" /><Relationship Type="http://schemas.openxmlformats.org/officeDocument/2006/relationships/tableStyles" Target="/ppt/tableStyles.xml" Id="R561f53b368d14a96" /><Relationship Type="http://schemas.openxmlformats.org/officeDocument/2006/relationships/font" Target="/ppt/fonts/font.dat" Id="R8dc5ab12d21f40f5" /><Relationship Type="http://schemas.openxmlformats.org/officeDocument/2006/relationships/font" Target="/ppt/fonts/font2.dat" Id="Rfff55529f52545af" /><Relationship Type="http://schemas.openxmlformats.org/officeDocument/2006/relationships/slide" Target="/ppt/slides/slide1.xml" Id="R558b24984f014295" /><Relationship Type="http://schemas.openxmlformats.org/officeDocument/2006/relationships/slide" Target="/ppt/slides/slide2.xml" Id="R0ef5cd4d60a74ec4" /><Relationship Type="http://schemas.openxmlformats.org/officeDocument/2006/relationships/slide" Target="/ppt/slides/slide3.xml" Id="R1bf5305e937e4990" /><Relationship Type="http://schemas.openxmlformats.org/officeDocument/2006/relationships/slide" Target="/ppt/slides/slide4.xml" Id="R4292af58d98c45c5" /><Relationship Type="http://schemas.openxmlformats.org/officeDocument/2006/relationships/slide" Target="/ppt/slides/slide5.xml" Id="R7d7cbe6701004cd6" /><Relationship Type="http://schemas.openxmlformats.org/officeDocument/2006/relationships/slide" Target="/ppt/slides/slide6.xml" Id="Rd921be68634640a5" /><Relationship Type="http://schemas.openxmlformats.org/officeDocument/2006/relationships/slide" Target="/ppt/slides/slide7.xml" Id="Reeffd9fdbe154bb3" /><Relationship Type="http://schemas.openxmlformats.org/officeDocument/2006/relationships/slide" Target="/ppt/slides/slide8.xml" Id="Raf4890f2e9a5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820bd89a8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33eee873046b6" /><Relationship Type="http://schemas.openxmlformats.org/officeDocument/2006/relationships/notesMaster" Target="/ppt/notesMasters/notesMaster1.xml" Id="R227c00999a91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ee786d3964eac" /><Relationship Type="http://schemas.openxmlformats.org/officeDocument/2006/relationships/notesMaster" Target="/ppt/notesMasters/notesMaster1.xml" Id="R7bc98b19675e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e88598c5fa43d1" /><Relationship Type="http://schemas.openxmlformats.org/officeDocument/2006/relationships/notesMaster" Target="/ppt/notesMasters/notesMaster1.xml" Id="Rb389e32d7541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c7666914f648d3" /><Relationship Type="http://schemas.openxmlformats.org/officeDocument/2006/relationships/notesMaster" Target="/ppt/notesMasters/notesMaster1.xml" Id="Raca72557f593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1cb5df58df4522" /><Relationship Type="http://schemas.openxmlformats.org/officeDocument/2006/relationships/notesMaster" Target="/ppt/notesMasters/notesMaster1.xml" Id="R83d32150ac9d4e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dea276ce394528" /><Relationship Type="http://schemas.openxmlformats.org/officeDocument/2006/relationships/notesMaster" Target="/ppt/notesMasters/notesMaster1.xml" Id="R9a2aafcd4bb74f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061d534f447d0" /><Relationship Type="http://schemas.openxmlformats.org/officeDocument/2006/relationships/notesMaster" Target="/ppt/notesMasters/notesMaster1.xml" Id="R24925239b56d48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4e259065014a95" /><Relationship Type="http://schemas.openxmlformats.org/officeDocument/2006/relationships/notesMaster" Target="/ppt/notesMasters/notesMaster1.xml" Id="Rd08f71269d074d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4b23595ae43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7b89d999242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53f8d958440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5d25bafc44e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0ef1ef41144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fbd7fec2848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20f6a35f84f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fda82491e4b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0111ea5b049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c5adb0b6e47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73c9c72cd49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6FDB12-BEE2-41CF-BA0C-442CC68E2F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6484E57-651B-4FB5-876D-27277EB861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B0588D-EC90-4501-8336-4C52A19A2D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C69C52-7B0A-466D-9CD0-CDBE06BCD9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395B49-663F-4E95-B39E-FD65DBB03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8BCD4D-7481-4605-BC4A-BC458DBA2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BA2B93-A8D0-41E5-9E55-79B70AAD1C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7BAABB-FFB7-4CCB-A395-2F18CE2F5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434013-B87A-4254-97E4-5F3CAEE61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7C766D-5F8B-458B-A021-6B02CE8479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021EA7-861E-4203-9E49-2D429C032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33755A-5ED7-4DC7-867F-B56329E79C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68C44F-8EA9-4729-9598-D2B661CAF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49DD34-273E-49F7-B7F2-EEBFB3A9E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717E0F-9605-4744-9357-B613F249F5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D27378-C95E-4925-8980-30C92C43E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AE2D24-F737-4328-90EF-46126BDA2E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9AF6896-405B-49A5-8DD5-2A18492506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79893B5-D7FF-44E5-BBAA-43C25B1C84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02A5416-8455-4CD5-A688-EB64FF37F5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098DC8-C3A2-4160-94F7-EC544DDF26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5C30FE-5E3A-4AD4-A1A1-9272DD48F2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6BA055-2FAD-450B-99A8-DE8D8C2F2C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3EA0874-497E-407E-A38B-9FF13CADDA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E78FFC-7407-4D96-A171-F52D4837778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20887C-42ED-4C1C-B3CF-9F409F19915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CD9D9DA-295B-40FA-8D8D-C85BADCC4F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86F82E4-4120-4E8B-BDDE-6C6D2A9F3B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118FA54-D342-402E-BC85-375352CFE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4765E8-ECA6-4969-A3A0-5E81C47752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051AA2E-A5C1-4E96-968B-4571C86885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63A-C7E0-4885-9187-C2187E883A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CD3246A-430B-431A-9103-C99201AF6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03D6CBE-1278-4021-BEA5-81A38A2539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08F3334-7107-4B45-8B45-CC46D09813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2FE7B5-3DF2-4BEC-AAF2-6CA45B118B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FECA5-A72D-4EF9-B245-6DF28FBCF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86867A-49B0-4D09-A679-CA1D298A180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4987082-3F68-45C6-920A-B58AA43540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92C917D-A96E-46AE-93D2-D5F692DE9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D2EA7C1-CBD2-4DED-9154-B5A441253C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75D5F-6106-4605-A571-AA4B8BDCC9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1FF05-1F7D-47CE-9EB1-57E5FED9C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B98B7-1E59-4BDA-9DBA-67E2942CC83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65E16D9-B28E-4C54-BF6E-B0D745766D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75526F-3F9D-4081-A277-C3D5BCF28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2D76EE-6E8D-46F7-8A92-7CC4517080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34D92C5-0296-48FE-A1C9-0C06AEF4D8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5853FF-1E95-4B80-A02E-CE4A45E72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3EC993-D0FC-4CD6-A3AB-8467BCAF2D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06C3B3-EB05-4A18-848F-BC283384DA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57AF9D-1C2F-4734-9896-9C12DB4EE7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F0DE20-6891-4B0B-B88C-A98AF7B9ED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55AFFCF-75CF-45AC-A3DB-D93CF21FE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CC8E6F-F06E-4490-B5DE-56CC8C98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21FE61-BB2A-4124-A14C-A624F195A2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080B61-373D-4C35-BC4D-FA7D9E6B42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401597-4754-4731-AA64-B728B0AEDE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ae24303ae4443" /><Relationship Type="http://schemas.openxmlformats.org/officeDocument/2006/relationships/slideLayout" Target="/ppt/slideLayouts/slideLayout1.xml" Id="R4e32511c432b4037" /><Relationship Type="http://schemas.openxmlformats.org/officeDocument/2006/relationships/slideLayout" Target="/ppt/slideLayouts/slideLayout2.xml" Id="Ra529fc706cbe4f3e" /><Relationship Type="http://schemas.openxmlformats.org/officeDocument/2006/relationships/slideLayout" Target="/ppt/slideLayouts/slideLayout3.xml" Id="R51c1308cfd4a40be" /><Relationship Type="http://schemas.openxmlformats.org/officeDocument/2006/relationships/slideLayout" Target="/ppt/slideLayouts/slideLayout4.xml" Id="R590c0e7a472f438d" /><Relationship Type="http://schemas.openxmlformats.org/officeDocument/2006/relationships/slideLayout" Target="/ppt/slideLayouts/slideLayout5.xml" Id="Rd8da9e36b3764141" /><Relationship Type="http://schemas.openxmlformats.org/officeDocument/2006/relationships/slideLayout" Target="/ppt/slideLayouts/slideLayout6.xml" Id="R93e1c9050ff943cc" /><Relationship Type="http://schemas.openxmlformats.org/officeDocument/2006/relationships/slideLayout" Target="/ppt/slideLayouts/slideLayout7.xml" Id="Rc4e233e6344a4851" /><Relationship Type="http://schemas.openxmlformats.org/officeDocument/2006/relationships/slideLayout" Target="/ppt/slideLayouts/slideLayout8.xml" Id="R72e8dc75df474603" /><Relationship Type="http://schemas.openxmlformats.org/officeDocument/2006/relationships/slideLayout" Target="/ppt/slideLayouts/slideLayout9.xml" Id="Re311394e5f2e425d" /><Relationship Type="http://schemas.openxmlformats.org/officeDocument/2006/relationships/slideLayout" Target="/ppt/slideLayouts/slideLayout10.xml" Id="R865308b2502d49a6" /><Relationship Type="http://schemas.openxmlformats.org/officeDocument/2006/relationships/slideLayout" Target="/ppt/slideLayouts/slideLayout11.xml" Id="Rfa266bdb13e54d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7F3D626-7F4B-4C40-992C-82E58B6D6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38760C-A773-44AB-837D-81AA214E5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5314D8-28D1-4D17-9D67-35360A01AC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FD957B-80AF-4A5C-9591-3891314B6D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BC00F6-4903-4362-A0FE-2EEEB4AE07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2511c432b4037"/>
    <p:sldLayoutId xmlns:r="http://schemas.openxmlformats.org/officeDocument/2006/relationships" id="2147483650" r:id="Ra529fc706cbe4f3e"/>
    <p:sldLayoutId xmlns:r="http://schemas.openxmlformats.org/officeDocument/2006/relationships" id="2147483651" r:id="R51c1308cfd4a40be"/>
    <p:sldLayoutId xmlns:r="http://schemas.openxmlformats.org/officeDocument/2006/relationships" id="2147483652" r:id="R590c0e7a472f438d"/>
    <p:sldLayoutId xmlns:r="http://schemas.openxmlformats.org/officeDocument/2006/relationships" id="2147483653" r:id="Rd8da9e36b3764141"/>
    <p:sldLayoutId xmlns:r="http://schemas.openxmlformats.org/officeDocument/2006/relationships" id="2147483654" r:id="R93e1c9050ff943cc"/>
    <p:sldLayoutId xmlns:r="http://schemas.openxmlformats.org/officeDocument/2006/relationships" id="2147483655" r:id="Rc4e233e6344a4851"/>
    <p:sldLayoutId xmlns:r="http://schemas.openxmlformats.org/officeDocument/2006/relationships" id="2147483656" r:id="R72e8dc75df474603"/>
    <p:sldLayoutId xmlns:r="http://schemas.openxmlformats.org/officeDocument/2006/relationships" id="2147483657" r:id="Re311394e5f2e425d"/>
    <p:sldLayoutId xmlns:r="http://schemas.openxmlformats.org/officeDocument/2006/relationships" id="2147483658" r:id="R865308b2502d49a6"/>
    <p:sldLayoutId xmlns:r="http://schemas.openxmlformats.org/officeDocument/2006/relationships" id="2147483659" r:id="Rfa266bdb13e54d12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4143b80bf949bd" /><Relationship Type="http://schemas.openxmlformats.org/officeDocument/2006/relationships/image" Target="/ppt/media/image.png" Id="Rde5fc24e8e114d09" /><Relationship Type="http://schemas.openxmlformats.org/officeDocument/2006/relationships/image" Target="/ppt/media/image2.png" Id="Rad2b2377d6e04ff9" /><Relationship Type="http://schemas.openxmlformats.org/officeDocument/2006/relationships/image" Target="/ppt/media/image3.png" Id="Ra2dc4823220647f0" /><Relationship Type="http://schemas.openxmlformats.org/officeDocument/2006/relationships/notesSlide" Target="/ppt/notesSlides/notesSlide1.xml" Id="R2d0216501c0847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242c8935bc4a7a" /><Relationship Type="http://schemas.openxmlformats.org/officeDocument/2006/relationships/image" Target="/ppt/media/image4.png" Id="R7dadca2e92454c52" /><Relationship Type="http://schemas.openxmlformats.org/officeDocument/2006/relationships/image" Target="/ppt/media/image5.png" Id="R7f09db36f3fb4dff" /><Relationship Type="http://schemas.openxmlformats.org/officeDocument/2006/relationships/image" Target="/ppt/media/image6.png" Id="R62ef8013ef3a4cb5" /><Relationship Type="http://schemas.openxmlformats.org/officeDocument/2006/relationships/image" Target="/ppt/media/image7.png" Id="R6b8f9b3df8134368" /><Relationship Type="http://schemas.openxmlformats.org/officeDocument/2006/relationships/image" Target="/ppt/media/image8.png" Id="Rf9e4c958878d4aab" /><Relationship Type="http://schemas.openxmlformats.org/officeDocument/2006/relationships/image" Target="/ppt/media/image9.png" Id="Rb6a392fd12be41f9" /><Relationship Type="http://schemas.openxmlformats.org/officeDocument/2006/relationships/image" Target="/ppt/media/image10.png" Id="R949a8b85c3e04649" /><Relationship Type="http://schemas.openxmlformats.org/officeDocument/2006/relationships/image" Target="/ppt/media/image11.png" Id="Rb32b247fdea842e2" /><Relationship Type="http://schemas.openxmlformats.org/officeDocument/2006/relationships/image" Target="/ppt/media/image12.png" Id="R3669e879d6894e06" /><Relationship Type="http://schemas.openxmlformats.org/officeDocument/2006/relationships/notesSlide" Target="/ppt/notesSlides/notesSlide2.xml" Id="R559dea9d92404c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ff4a4a1754435d" /><Relationship Type="http://schemas.openxmlformats.org/officeDocument/2006/relationships/image" Target="/ppt/media/image13.png" Id="R3c5ef7be24714760" /><Relationship Type="http://schemas.openxmlformats.org/officeDocument/2006/relationships/image" Target="/ppt/media/image14.png" Id="Rd96d9554da5d4726" /><Relationship Type="http://schemas.openxmlformats.org/officeDocument/2006/relationships/image" Target="/ppt/media/image15.png" Id="R887f42a379054f2a" /><Relationship Type="http://schemas.openxmlformats.org/officeDocument/2006/relationships/image" Target="/ppt/media/image16.png" Id="R68475f84c2644cae" /><Relationship Type="http://schemas.openxmlformats.org/officeDocument/2006/relationships/image" Target="/ppt/media/image17.png" Id="Raf4276d601714ce3" /><Relationship Type="http://schemas.openxmlformats.org/officeDocument/2006/relationships/image" Target="/ppt/media/image18.png" Id="Rd789bb52fc534346" /><Relationship Type="http://schemas.openxmlformats.org/officeDocument/2006/relationships/image" Target="/ppt/media/image19.png" Id="Raf3ae7fb1ae74cf0" /><Relationship Type="http://schemas.openxmlformats.org/officeDocument/2006/relationships/image" Target="/ppt/media/image20.png" Id="R7c5d4bbe36d34733" /><Relationship Type="http://schemas.openxmlformats.org/officeDocument/2006/relationships/image" Target="/ppt/media/image21.png" Id="R28d4b7d5b3474171" /><Relationship Type="http://schemas.openxmlformats.org/officeDocument/2006/relationships/image" Target="/ppt/media/image22.png" Id="Reedf0a5438e2435d" /><Relationship Type="http://schemas.openxmlformats.org/officeDocument/2006/relationships/image" Target="/ppt/media/image23.png" Id="R66f0c45249af4c21" /><Relationship Type="http://schemas.openxmlformats.org/officeDocument/2006/relationships/image" Target="/ppt/media/image24.png" Id="Rbf7e25b1f3e24863" /><Relationship Type="http://schemas.openxmlformats.org/officeDocument/2006/relationships/image" Target="/ppt/media/image25.png" Id="Rb9ab3cdd83be40d8" /><Relationship Type="http://schemas.openxmlformats.org/officeDocument/2006/relationships/image" Target="/ppt/media/image26.png" Id="R4967d6a56ecc4353" /><Relationship Type="http://schemas.openxmlformats.org/officeDocument/2006/relationships/image" Target="/ppt/media/image27.png" Id="R472f5aa8701e4363" /><Relationship Type="http://schemas.openxmlformats.org/officeDocument/2006/relationships/notesSlide" Target="/ppt/notesSlides/notesSlide3.xml" Id="R00e0b49c131148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f82bac902440e1" /><Relationship Type="http://schemas.openxmlformats.org/officeDocument/2006/relationships/image" Target="/ppt/media/image28.png" Id="R4e105888f7d94117" /><Relationship Type="http://schemas.openxmlformats.org/officeDocument/2006/relationships/image" Target="/ppt/media/image29.png" Id="R5e636e50533f4d36" /><Relationship Type="http://schemas.openxmlformats.org/officeDocument/2006/relationships/image" Target="/ppt/media/image30.png" Id="Rfe534842201547f6" /><Relationship Type="http://schemas.openxmlformats.org/officeDocument/2006/relationships/image" Target="/ppt/media/image31.png" Id="Rf82ad2dbfbde4ffa" /><Relationship Type="http://schemas.openxmlformats.org/officeDocument/2006/relationships/image" Target="/ppt/media/image32.png" Id="R58adeded190448e4" /><Relationship Type="http://schemas.openxmlformats.org/officeDocument/2006/relationships/image" Target="/ppt/media/image33.png" Id="R0cc41c7644904576" /><Relationship Type="http://schemas.openxmlformats.org/officeDocument/2006/relationships/image" Target="/ppt/media/image34.png" Id="R7ab217b3c1924637" /><Relationship Type="http://schemas.openxmlformats.org/officeDocument/2006/relationships/image" Target="/ppt/media/image35.png" Id="R61b9e54382dd4276" /><Relationship Type="http://schemas.openxmlformats.org/officeDocument/2006/relationships/image" Target="/ppt/media/image36.png" Id="Rffde86ae3d354820" /><Relationship Type="http://schemas.openxmlformats.org/officeDocument/2006/relationships/image" Target="/ppt/media/image37.png" Id="R9da6cefea2654605" /><Relationship Type="http://schemas.openxmlformats.org/officeDocument/2006/relationships/notesSlide" Target="/ppt/notesSlides/notesSlide4.xml" Id="R3973f52dafbf4d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7489734c934525" /><Relationship Type="http://schemas.openxmlformats.org/officeDocument/2006/relationships/image" Target="/ppt/media/image38.png" Id="R48ca6218a7184a17" /><Relationship Type="http://schemas.openxmlformats.org/officeDocument/2006/relationships/image" Target="/ppt/media/image39.png" Id="R0777dd4645f4495f" /><Relationship Type="http://schemas.openxmlformats.org/officeDocument/2006/relationships/image" Target="/ppt/media/image40.png" Id="R489ef15c17014e7d" /><Relationship Type="http://schemas.openxmlformats.org/officeDocument/2006/relationships/image" Target="/ppt/media/image41.png" Id="R818151b4e8134091" /><Relationship Type="http://schemas.openxmlformats.org/officeDocument/2006/relationships/image" Target="/ppt/media/image42.png" Id="R08892ccfb5824207" /><Relationship Type="http://schemas.openxmlformats.org/officeDocument/2006/relationships/image" Target="/ppt/media/image43.png" Id="Rab739ebb2c4443bf" /><Relationship Type="http://schemas.openxmlformats.org/officeDocument/2006/relationships/image" Target="/ppt/media/image44.png" Id="Ra4aa4807b3d64c61" /><Relationship Type="http://schemas.openxmlformats.org/officeDocument/2006/relationships/image" Target="/ppt/media/image45.png" Id="R635b096a75b348e9" /><Relationship Type="http://schemas.openxmlformats.org/officeDocument/2006/relationships/image" Target="/ppt/media/image46.png" Id="Ra56bfdb9b5374819" /><Relationship Type="http://schemas.openxmlformats.org/officeDocument/2006/relationships/image" Target="/ppt/media/image47.png" Id="Re5d7b6ccbc4743a1" /><Relationship Type="http://schemas.openxmlformats.org/officeDocument/2006/relationships/notesSlide" Target="/ppt/notesSlides/notesSlide5.xml" Id="Rd9a3a2550d3f4f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66d60279f84137" /><Relationship Type="http://schemas.openxmlformats.org/officeDocument/2006/relationships/image" Target="/ppt/media/image48.png" Id="R4ecac09708904a2c" /><Relationship Type="http://schemas.openxmlformats.org/officeDocument/2006/relationships/image" Target="/ppt/media/image49.png" Id="R66ccc8bbff7e4e61" /><Relationship Type="http://schemas.openxmlformats.org/officeDocument/2006/relationships/image" Target="/ppt/media/image50.png" Id="R221c3b90e86f43c1" /><Relationship Type="http://schemas.openxmlformats.org/officeDocument/2006/relationships/image" Target="/ppt/media/image51.png" Id="R9baa005a3bbe48a0" /><Relationship Type="http://schemas.openxmlformats.org/officeDocument/2006/relationships/image" Target="/ppt/media/image52.png" Id="R53067f666beb4420" /><Relationship Type="http://schemas.openxmlformats.org/officeDocument/2006/relationships/image" Target="/ppt/media/image53.png" Id="R876f438c40f84d4c" /><Relationship Type="http://schemas.openxmlformats.org/officeDocument/2006/relationships/image" Target="/ppt/media/image54.png" Id="R201654aca9514316" /><Relationship Type="http://schemas.openxmlformats.org/officeDocument/2006/relationships/image" Target="/ppt/media/image55.png" Id="Rd8b4a8cfc7c540b7" /><Relationship Type="http://schemas.openxmlformats.org/officeDocument/2006/relationships/image" Target="/ppt/media/image56.png" Id="Rd8ac28c9339b46a6" /><Relationship Type="http://schemas.openxmlformats.org/officeDocument/2006/relationships/image" Target="/ppt/media/image57.png" Id="R3236baba8cf041f0" /><Relationship Type="http://schemas.openxmlformats.org/officeDocument/2006/relationships/image" Target="/ppt/media/image58.png" Id="R41a20291c246435e" /><Relationship Type="http://schemas.openxmlformats.org/officeDocument/2006/relationships/notesSlide" Target="/ppt/notesSlides/notesSlide6.xml" Id="Rbf8cb862de4a47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fde887487147a9" /><Relationship Type="http://schemas.openxmlformats.org/officeDocument/2006/relationships/image" Target="/ppt/media/image59.png" Id="Rbce99f5a8ded407f" /><Relationship Type="http://schemas.openxmlformats.org/officeDocument/2006/relationships/image" Target="/ppt/media/image60.png" Id="Rb4352fea484d4c02" /><Relationship Type="http://schemas.openxmlformats.org/officeDocument/2006/relationships/image" Target="/ppt/media/image61.png" Id="Ra54abb887c6e4434" /><Relationship Type="http://schemas.openxmlformats.org/officeDocument/2006/relationships/image" Target="/ppt/media/image62.png" Id="R9b321fef96454bf5" /><Relationship Type="http://schemas.openxmlformats.org/officeDocument/2006/relationships/image" Target="/ppt/media/image63.png" Id="R57f56c450b464e4f" /><Relationship Type="http://schemas.openxmlformats.org/officeDocument/2006/relationships/image" Target="/ppt/media/image64.png" Id="Ra918a15f3427430d" /><Relationship Type="http://schemas.openxmlformats.org/officeDocument/2006/relationships/image" Target="/ppt/media/image65.png" Id="R1061ca418ae44a4c" /><Relationship Type="http://schemas.openxmlformats.org/officeDocument/2006/relationships/image" Target="/ppt/media/image66.png" Id="R42c03ee8bf65434e" /><Relationship Type="http://schemas.openxmlformats.org/officeDocument/2006/relationships/image" Target="/ppt/media/image67.png" Id="R37d46e2e329e47dc" /><Relationship Type="http://schemas.openxmlformats.org/officeDocument/2006/relationships/image" Target="/ppt/media/image68.png" Id="R8bcd4c39b10f420c" /><Relationship Type="http://schemas.openxmlformats.org/officeDocument/2006/relationships/image" Target="/ppt/media/image69.png" Id="R267bdbe658f8483e" /><Relationship Type="http://schemas.openxmlformats.org/officeDocument/2006/relationships/image" Target="/ppt/media/image70.png" Id="R19704ebd6ede41ff" /><Relationship Type="http://schemas.openxmlformats.org/officeDocument/2006/relationships/image" Target="/ppt/media/image71.png" Id="R48cdea0b15f44921" /><Relationship Type="http://schemas.openxmlformats.org/officeDocument/2006/relationships/image" Target="/ppt/media/image72.png" Id="Rf99f5424f45948fc" /><Relationship Type="http://schemas.openxmlformats.org/officeDocument/2006/relationships/notesSlide" Target="/ppt/notesSlides/notesSlide7.xml" Id="Re4b2b06a4d504b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9051fd72bd4b26" /><Relationship Type="http://schemas.openxmlformats.org/officeDocument/2006/relationships/image" Target="/ppt/media/image73.png" Id="Rd1792b350a924cd7" /><Relationship Type="http://schemas.openxmlformats.org/officeDocument/2006/relationships/image" Target="/ppt/media/image74.png" Id="R850291870cc9434f" /><Relationship Type="http://schemas.openxmlformats.org/officeDocument/2006/relationships/image" Target="/ppt/media/image75.png" Id="R55d2b2be30394082" /><Relationship Type="http://schemas.openxmlformats.org/officeDocument/2006/relationships/image" Target="/ppt/media/image76.png" Id="R3e05a7f01f3f4968" /><Relationship Type="http://schemas.openxmlformats.org/officeDocument/2006/relationships/image" Target="/ppt/media/image77.png" Id="Rd7b35318588740af" /><Relationship Type="http://schemas.openxmlformats.org/officeDocument/2006/relationships/image" Target="/ppt/media/image78.png" Id="R8809360b45b24c97" /><Relationship Type="http://schemas.openxmlformats.org/officeDocument/2006/relationships/image" Target="/ppt/media/image79.png" Id="R8c62b487a218446c" /><Relationship Type="http://schemas.openxmlformats.org/officeDocument/2006/relationships/notesSlide" Target="/ppt/notesSlides/notesSlide8.xml" Id="R0204c20d39344e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9636337-70DB-4AF7-A45D-4DF6B456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5fc24e8e114d09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74FE3F9-6CB6-4CC7-A3E9-738E9F73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5196" y="0"/>
            <a:ext cx="11112804" cy="10287000"/>
          </a:xfrm>
          <a:custGeom xmlns:a="http://schemas.openxmlformats.org/drawingml/2006/main">
            <a:rect l="l" t="t" r="r" b="b"/>
            <a:pathLst>
              <a:path w="11112804" h="10287000">
                <a:moveTo>
                  <a:pt x="0" y="0"/>
                </a:moveTo>
                <a:lnTo>
                  <a:pt x="11112804" y="0"/>
                </a:lnTo>
                <a:lnTo>
                  <a:pt x="11112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2b2377d6e04ff9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5A94EBF-8B82-48F2-9753-9503CA3F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688" y="1231265"/>
            <a:ext cx="2670048" cy="449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40"/>
              </a:lnSpc>
              <a:buNone/>
            </a:pPr>
            <a:r>
              <a:rPr sz="2723" b="1" spc="136">
                <a:solidFill>
                  <a:srgbClr val="B1D82E"/>
                </a:solidFill>
                <a:latin typeface="Roboto Bold"/>
                <a:ea typeface="Roboto Bold"/>
                <a:cs typeface="Roboto Bold"/>
              </a:rPr>
              <a:t>CHECKPOINT 2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90B099B-0FAF-4C00-ABC1-25D71BD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1924030"/>
            <a:ext cx="1104718" cy="229572"/>
          </a:xfrm>
          <a:custGeom xmlns:a="http://schemas.openxmlformats.org/drawingml/2006/main"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dc4823220647f0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D6C145A-1E32-45CE-B94B-80E12DE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592598"/>
            <a:ext cx="6364224" cy="4557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962"/>
              </a:lnSpc>
              <a:buNone/>
            </a:pPr>
            <a:r>
              <a:rPr sz="12207" b="1" spc="-610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Adaptive LLM</a:t>
            </a:r>
          </a:p>
          <a:p xmlns:a="http://schemas.openxmlformats.org/drawingml/2006/main">
            <a:pPr algn="l">
              <a:lnSpc>
                <a:spcPts val="11962"/>
              </a:lnSpc>
              <a:buNone/>
            </a:pPr>
            <a:r>
              <a:rPr sz="12207" b="1" spc="-610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Router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D9445E4-5B3D-46F3-A7B3-670EFC2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688" y="7352627"/>
            <a:ext cx="4133088" cy="1873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18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Mian Abdullah</a:t>
            </a:r>
          </a:p>
          <a:p xmlns:a="http://schemas.openxmlformats.org/drawingml/2006/main">
            <a:pPr algn="l">
              <a:lnSpc>
                <a:spcPts val="4918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CSC498: Senior Seminar</a:t>
            </a:r>
          </a:p>
          <a:p xmlns:a="http://schemas.openxmlformats.org/drawingml/2006/main">
            <a:pPr algn="l">
              <a:lnSpc>
                <a:spcPts val="4918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Oct 15, 2026</a:t>
            </a:r>
          </a:p>
        </p:txBody>
      </p:sp>
    </p:spTree>
    <p:extLst>
      <p:ext uri="{BB962C8B-B14F-4D97-AF65-F5344CB8AC3E}">
        <p14:creationId xmlns:p14="http://schemas.microsoft.com/office/powerpoint/2010/main" val="10365022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A21FB6B-3EF8-40A2-B3E0-C7203B1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adca2e92454c52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CBF6DC3-868A-48FD-905E-FFB23375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924030"/>
            <a:ext cx="3926670" cy="8362970"/>
          </a:xfrm>
          <a:custGeom xmlns:a="http://schemas.openxmlformats.org/drawingml/2006/main">
            <a:rect l="l" t="t" r="r" b="b"/>
            <a:pathLst>
              <a:path w="3926670" h="8362970">
                <a:moveTo>
                  <a:pt x="0" y="0"/>
                </a:moveTo>
                <a:lnTo>
                  <a:pt x="3926670" y="0"/>
                </a:lnTo>
                <a:lnTo>
                  <a:pt x="3926670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09db36f3fb4dff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1379BBA-FCC3-4676-AC6A-A278C7E7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656" y="560082"/>
            <a:ext cx="4023360" cy="1942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896"/>
              </a:lnSpc>
              <a:buNone/>
            </a:pPr>
            <a:r>
              <a:rPr sz="11354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Today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F7C9CF-F648-4B37-BCF0-3BEAFE8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2569017"/>
            <a:ext cx="1323474" cy="437279"/>
          </a:xfrm>
          <a:custGeom xmlns:a="http://schemas.openxmlformats.org/drawingml/2006/main"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ef8013ef3a4cb5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9275D9-6E3A-4EA3-9089-BC3350DD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1497682"/>
            <a:ext cx="1093780" cy="6220301"/>
          </a:xfrm>
          <a:custGeom xmlns:a="http://schemas.openxmlformats.org/drawingml/2006/main">
            <a:rect l="l" t="t" r="r" b="b"/>
            <a:pathLst>
              <a:path w="1093780" h="6220301">
                <a:moveTo>
                  <a:pt x="0" y="0"/>
                </a:moveTo>
                <a:lnTo>
                  <a:pt x="1093780" y="0"/>
                </a:lnTo>
                <a:lnTo>
                  <a:pt x="1093780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8f9b3df8134368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C4650D2-637E-4188-BE49-DA1D846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8622" y="634055"/>
            <a:ext cx="10894048" cy="1945894"/>
          </a:xfrm>
          <a:custGeom xmlns:a="http://schemas.openxmlformats.org/drawingml/2006/main">
            <a:rect l="l" t="t" r="r" b="b"/>
            <a:pathLst>
              <a:path w="10894048" h="1945894">
                <a:moveTo>
                  <a:pt x="0" y="0"/>
                </a:moveTo>
                <a:lnTo>
                  <a:pt x="10894048" y="0"/>
                </a:lnTo>
                <a:lnTo>
                  <a:pt x="1089404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e4c958878d4aab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C30F095-0ACC-409E-BDFA-B8353A7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6640" y="838622"/>
            <a:ext cx="1335024" cy="1557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614"/>
              </a:lnSpc>
              <a:buNone/>
            </a:pPr>
            <a:r>
              <a:rPr sz="9010" b="1">
                <a:solidFill>
                  <a:srgbClr val="C1FF72"/>
                </a:solidFill>
                <a:latin typeface="Roboto Bold"/>
                <a:ea typeface="Roboto Bold"/>
                <a:cs typeface="Roboto Bold"/>
              </a:rPr>
              <a:t>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3104990-466C-40CB-AE4F-54F325EF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1273361"/>
            <a:ext cx="3401568" cy="654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151"/>
              </a:lnSpc>
              <a:buNone/>
            </a:pPr>
            <a:r>
              <a:rPr sz="3679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What changed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7CF2CB2-08FE-40FC-B7A7-4B54A50B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8622" y="2569017"/>
            <a:ext cx="10894048" cy="1934962"/>
          </a:xfrm>
          <a:custGeom xmlns:a="http://schemas.openxmlformats.org/drawingml/2006/main">
            <a:rect l="l" t="t" r="r" b="b"/>
            <a:pathLst>
              <a:path w="10894048" h="1934962">
                <a:moveTo>
                  <a:pt x="0" y="0"/>
                </a:moveTo>
                <a:lnTo>
                  <a:pt x="10894048" y="0"/>
                </a:lnTo>
                <a:lnTo>
                  <a:pt x="10894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a392fd12be41f9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9FCC0BA-1B67-4B92-9633-90C37F6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6640" y="2762291"/>
            <a:ext cx="1335024" cy="1557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614"/>
              </a:lnSpc>
              <a:buNone/>
            </a:pPr>
            <a:r>
              <a:rPr sz="9010" b="1">
                <a:solidFill>
                  <a:srgbClr val="C1FF72"/>
                </a:solidFill>
                <a:latin typeface="Roboto Bold"/>
                <a:ea typeface="Roboto Bold"/>
                <a:cs typeface="Roboto Bold"/>
              </a:rPr>
              <a:t>02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6440503-725D-4036-9437-FA2759DB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3258752"/>
            <a:ext cx="5285232" cy="654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151"/>
              </a:lnSpc>
              <a:buNone/>
            </a:pPr>
            <a:r>
              <a:rPr sz="3679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Rule-based routing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3A515DF-C859-434D-B43F-30ADC72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8622" y="4493047"/>
            <a:ext cx="10894048" cy="2153601"/>
          </a:xfrm>
          <a:custGeom xmlns:a="http://schemas.openxmlformats.org/drawingml/2006/main">
            <a:rect l="l" t="t" r="r" b="b"/>
            <a:pathLst>
              <a:path w="10894048" h="2153601">
                <a:moveTo>
                  <a:pt x="0" y="0"/>
                </a:moveTo>
                <a:lnTo>
                  <a:pt x="10894048" y="0"/>
                </a:lnTo>
                <a:lnTo>
                  <a:pt x="10894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9a8b85c3e04649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260791-1654-486A-88CA-E460968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6640" y="4747682"/>
            <a:ext cx="1335024" cy="1557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614"/>
              </a:lnSpc>
              <a:buNone/>
            </a:pPr>
            <a:r>
              <a:rPr sz="9010" b="1">
                <a:solidFill>
                  <a:srgbClr val="C1FF72"/>
                </a:solidFill>
                <a:latin typeface="Roboto Bold"/>
                <a:ea typeface="Roboto Bold"/>
                <a:cs typeface="Roboto Bold"/>
              </a:rPr>
              <a:t>03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2C18B5-212B-4B81-8830-A5938C4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244143"/>
            <a:ext cx="4297680" cy="1308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151"/>
              </a:lnSpc>
              <a:buNone/>
            </a:pPr>
            <a:r>
              <a:rPr sz="3679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Priority + requirement tests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08B2B1A-0321-4AB3-B881-0D5BA20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8622" y="6635716"/>
            <a:ext cx="10894048" cy="1945894"/>
          </a:xfrm>
          <a:custGeom xmlns:a="http://schemas.openxmlformats.org/drawingml/2006/main">
            <a:rect l="l" t="t" r="r" b="b"/>
            <a:pathLst>
              <a:path w="10894048" h="1945894">
                <a:moveTo>
                  <a:pt x="0" y="0"/>
                </a:moveTo>
                <a:lnTo>
                  <a:pt x="10894048" y="0"/>
                </a:lnTo>
                <a:lnTo>
                  <a:pt x="1089404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2b247fdea842e2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A55799-20B2-4F64-8782-6CDFFDD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6640" y="6733073"/>
            <a:ext cx="1335024" cy="1557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614"/>
              </a:lnSpc>
              <a:buNone/>
            </a:pPr>
            <a:r>
              <a:rPr sz="9010" b="1">
                <a:solidFill>
                  <a:srgbClr val="C1FF72"/>
                </a:solidFill>
                <a:latin typeface="Roboto Bold"/>
                <a:ea typeface="Roboto Bold"/>
                <a:cs typeface="Roboto Bold"/>
              </a:rPr>
              <a:t>04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CCEF59-3745-46CA-89B2-EAA9D22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7229534"/>
            <a:ext cx="4608576" cy="654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151"/>
              </a:lnSpc>
              <a:buNone/>
            </a:pPr>
            <a:r>
              <a:rPr sz="3679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Baseline evidence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B287D4F-718A-4E74-9C71-382F948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8220" y="8570678"/>
            <a:ext cx="14164450" cy="1082267"/>
          </a:xfrm>
          <a:custGeom xmlns:a="http://schemas.openxmlformats.org/drawingml/2006/main">
            <a:rect l="l" t="t" r="r" b="b"/>
            <a:pathLst>
              <a:path w="14164450" h="1082267">
                <a:moveTo>
                  <a:pt x="0" y="0"/>
                </a:moveTo>
                <a:lnTo>
                  <a:pt x="14164450" y="0"/>
                </a:lnTo>
                <a:lnTo>
                  <a:pt x="14164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69e879d6894e06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1C13E43-4F29-4FC5-BABF-8291E19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376" y="8832573"/>
            <a:ext cx="120700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C1FF72"/>
                </a:solidFill>
                <a:latin typeface="Roboto"/>
                <a:ea typeface="Roboto"/>
                <a:cs typeface="Roboto"/>
              </a:rPr>
              <a:t>Then: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B4EBFB0-FFD0-4675-B2CB-60CE3C0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4416" y="8832573"/>
            <a:ext cx="277977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081992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A56D095-0454-4C02-94A4-F36BB3EF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5ef7be2471476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5CDCD0B-4721-4C04-B66A-322C948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656" y="934908"/>
            <a:ext cx="8979408" cy="1035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52"/>
              </a:lnSpc>
              <a:buNone/>
            </a:pPr>
            <a:r>
              <a:rPr sz="8152" b="1" spc="-163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Evidence → decision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58CD7EA-329C-4F86-9057-4F7B155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2142670"/>
            <a:ext cx="1323474" cy="437279"/>
          </a:xfrm>
          <a:custGeom xmlns:a="http://schemas.openxmlformats.org/drawingml/2006/main"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6d9554da5d4726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AB2704A-730A-4B04-A854-9CD4458D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656" y="2974284"/>
            <a:ext cx="14849856" cy="1370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395"/>
              </a:lnSpc>
              <a:buNone/>
            </a:pPr>
            <a:r>
              <a:rPr sz="449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Checkpoint 2 adds transparent routing on top of the Checkpoint 1 evidence layer.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3900DEA-96AB-4AC5-AFAB-3D84506A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4285339"/>
            <a:ext cx="3281340" cy="2361309"/>
          </a:xfrm>
          <a:custGeom xmlns:a="http://schemas.openxmlformats.org/drawingml/2006/main">
            <a:rect l="l" t="t" r="r" b="b"/>
            <a:pathLst>
              <a:path w="3281340" h="2361309">
                <a:moveTo>
                  <a:pt x="0" y="0"/>
                </a:moveTo>
                <a:lnTo>
                  <a:pt x="3281340" y="0"/>
                </a:lnTo>
                <a:lnTo>
                  <a:pt x="3281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7f42a379054f2a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1BED28-7022-4D5D-96D0-8A7D6CA5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853944"/>
            <a:ext cx="749808" cy="716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323"/>
              </a:lnSpc>
              <a:buNone/>
            </a:pPr>
            <a:r>
              <a:rPr sz="5323" b="1" spc="-106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107121F-F8E8-4417-83C3-EA783C8B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344" y="5626223"/>
            <a:ext cx="1207008" cy="4354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29"/>
              </a:lnSpc>
              <a:buNone/>
            </a:pPr>
            <a:r>
              <a:rPr sz="2858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Prompt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7ECBF54-E312-4CD2-B5C0-57AE6A0D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0354" y="6209369"/>
            <a:ext cx="1312536" cy="229572"/>
          </a:xfrm>
          <a:custGeom xmlns:a="http://schemas.openxmlformats.org/drawingml/2006/main"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475f84c2644cae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43B4458-B752-4577-9BA7-7D57830D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6976" y="5138034"/>
            <a:ext cx="1531292" cy="655919"/>
          </a:xfrm>
          <a:custGeom xmlns:a="http://schemas.openxmlformats.org/drawingml/2006/main"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4276d601714ce3"/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8AAB78D-439D-49DB-B2C0-A6452E9B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7330" y="4285339"/>
            <a:ext cx="3281340" cy="2361309"/>
          </a:xfrm>
          <a:custGeom xmlns:a="http://schemas.openxmlformats.org/drawingml/2006/main">
            <a:rect l="l" t="t" r="r" b="b"/>
            <a:pathLst>
              <a:path w="3281340" h="2361309">
                <a:moveTo>
                  <a:pt x="0" y="0"/>
                </a:moveTo>
                <a:lnTo>
                  <a:pt x="3281340" y="0"/>
                </a:lnTo>
                <a:lnTo>
                  <a:pt x="3281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89bb52fc534346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15990F4-9A83-428E-974C-7613AEA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853944"/>
            <a:ext cx="749808" cy="716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323"/>
              </a:lnSpc>
              <a:buNone/>
            </a:pPr>
            <a:r>
              <a:rPr sz="5323" b="1" spc="-106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CEBBDD-851B-42B3-8E7A-E4482341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616" y="5630282"/>
            <a:ext cx="1463040" cy="4408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71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Filters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C6B3F93-F919-4A62-A5A1-E3FA1FEE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6209369"/>
            <a:ext cx="1312536" cy="229572"/>
          </a:xfrm>
          <a:custGeom xmlns:a="http://schemas.openxmlformats.org/drawingml/2006/main"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3ae7fb1ae74cf0"/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4B8D026-56E8-476A-BAD8-60642523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8976" y="5138034"/>
            <a:ext cx="1531292" cy="655919"/>
          </a:xfrm>
          <a:custGeom xmlns:a="http://schemas.openxmlformats.org/drawingml/2006/main"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c5d4bbe36d34733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A77F782-13E1-420D-8D41-C5B18AF9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4285339"/>
            <a:ext cx="3281340" cy="2361309"/>
          </a:xfrm>
          <a:custGeom xmlns:a="http://schemas.openxmlformats.org/drawingml/2006/main">
            <a:rect l="l" t="t" r="r" b="b"/>
            <a:pathLst>
              <a:path w="3281340" h="2361309">
                <a:moveTo>
                  <a:pt x="0" y="0"/>
                </a:moveTo>
                <a:lnTo>
                  <a:pt x="3281340" y="0"/>
                </a:lnTo>
                <a:lnTo>
                  <a:pt x="3281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d4b7d5b3474171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21269B-21AC-4475-BC3B-A04737B1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2800" y="4853944"/>
            <a:ext cx="749808" cy="716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323"/>
              </a:lnSpc>
              <a:buNone/>
            </a:pPr>
            <a:r>
              <a:rPr sz="5323" b="1" spc="-106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4E02BB2-DE4F-4E17-A273-81063108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568" y="5630282"/>
            <a:ext cx="2249424" cy="4408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71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Rule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A20262E-98AB-4947-8BEF-BC9157FD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6209369"/>
            <a:ext cx="1312536" cy="229572"/>
          </a:xfrm>
          <a:custGeom xmlns:a="http://schemas.openxmlformats.org/drawingml/2006/main"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f0a5438e2435d"/>
            <a:stretch>
              <a:fillRect l="0" t="0" r="0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3D2A6FB-2C83-47F0-A794-6E89BC78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40976" y="5138034"/>
            <a:ext cx="1312536" cy="655919"/>
          </a:xfrm>
          <a:custGeom xmlns:a="http://schemas.openxmlformats.org/drawingml/2006/main">
            <a:rect l="l" t="t" r="r" b="b"/>
            <a:pathLst>
              <a:path w="1312536" h="655919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f0c45249af4c21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48555CE-73FF-4B14-BFAB-CCF6F77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4285339"/>
            <a:ext cx="3281340" cy="2361309"/>
          </a:xfrm>
          <a:custGeom xmlns:a="http://schemas.openxmlformats.org/drawingml/2006/main">
            <a:rect l="l" t="t" r="r" b="b"/>
            <a:pathLst>
              <a:path w="3281340" h="2361309">
                <a:moveTo>
                  <a:pt x="0" y="0"/>
                </a:moveTo>
                <a:lnTo>
                  <a:pt x="3281340" y="0"/>
                </a:lnTo>
                <a:lnTo>
                  <a:pt x="3281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7e25b1f3e24863"/>
            <a:stretch>
              <a:fillRect l="0" t="0" r="0" b="0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F76AF12-0D5E-428B-9836-F6F57CD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70480" y="4850623"/>
            <a:ext cx="822960" cy="732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474"/>
              </a:lnSpc>
              <a:buNone/>
            </a:pPr>
            <a:r>
              <a:rPr sz="5474" b="1" spc="-109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04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C9F479-6D05-4C99-B083-CB7B8C59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8144" y="5630282"/>
            <a:ext cx="1664208" cy="4408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71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Model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43338BB-603C-4D93-868E-AF7A39C4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17598" y="6209369"/>
            <a:ext cx="1312536" cy="229572"/>
          </a:xfrm>
          <a:custGeom xmlns:a="http://schemas.openxmlformats.org/drawingml/2006/main"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ab3cdd83be40d8"/>
            <a:stretch>
              <a:fillRect l="0" t="0" r="0" b="0"/>
            </a:stretch>
          </a:blipFill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67C68CF-361D-46A1-9781-86C2A3C3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7499343"/>
            <a:ext cx="16997340" cy="1934962"/>
          </a:xfrm>
          <a:custGeom xmlns:a="http://schemas.openxmlformats.org/drawingml/2006/main">
            <a:rect l="l" t="t" r="r" b="b"/>
            <a:pathLst>
              <a:path w="16997340" h="1934962">
                <a:moveTo>
                  <a:pt x="0" y="0"/>
                </a:moveTo>
                <a:lnTo>
                  <a:pt x="16997340" y="0"/>
                </a:lnTo>
                <a:lnTo>
                  <a:pt x="1699734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67d6a56ecc4353"/>
            <a:stretch>
              <a:fillRect l="0" t="0" r="0" b="0"/>
            </a:stretch>
          </a:blipFill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1141636-07D8-4AEB-B8B6-83629088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7707051"/>
            <a:ext cx="229694" cy="1727254"/>
          </a:xfrm>
          <a:custGeom xmlns:a="http://schemas.openxmlformats.org/drawingml/2006/main">
            <a:rect l="l" t="t" r="r" b="b"/>
            <a:pathLst>
              <a:path w="229694" h="172725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2f5aa8701e4363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D0E8760-9ABC-4726-9FD1-44ECB1E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7924421"/>
            <a:ext cx="7022592" cy="11348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68"/>
              </a:lnSpc>
              <a:buNone/>
            </a:pPr>
            <a:r>
              <a:rPr sz="319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Deterministic first.</a:t>
            </a:r>
          </a:p>
          <a:p xmlns:a="http://schemas.openxmlformats.org/drawingml/2006/main">
            <a:pPr algn="l">
              <a:lnSpc>
                <a:spcPts val="4468"/>
              </a:lnSpc>
              <a:buNone/>
            </a:pPr>
            <a:r>
              <a:rPr sz="3191">
                <a:solidFill>
                  <a:srgbClr val="7ED957"/>
                </a:solidFill>
                <a:latin typeface="Roboto"/>
                <a:ea typeface="Roboto"/>
                <a:cs typeface="Roboto"/>
              </a:rPr>
              <a:t>Every choice includes a reason.</a:t>
            </a:r>
          </a:p>
        </p:txBody>
      </p:sp>
    </p:spTree>
    <p:extLst>
      <p:ext uri="{BB962C8B-B14F-4D97-AF65-F5344CB8AC3E}">
        <p14:creationId xmlns:p14="http://schemas.microsoft.com/office/powerpoint/2010/main" val="514924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FDD3880-8A84-4A84-8C93-C2769C8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105888f7d94117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6A803CD-0AC8-417B-8A2A-AB13785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28" y="793484"/>
            <a:ext cx="11521440" cy="760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86"/>
              </a:lnSpc>
              <a:buNone/>
            </a:pPr>
            <a:r>
              <a:rPr sz="5986" b="1" spc="-119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Rule routing · transparent decisions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4C7A20E-79BE-449E-8937-D09C46B6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28" y="1721746"/>
            <a:ext cx="7680960" cy="6916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3"/>
              </a:lnSpc>
              <a:buNone/>
            </a:pPr>
            <a:r>
              <a:rPr sz="272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</a:rPr>
              <a:t>Same prompt. Hard requirements first. User priority second.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021A4F2-F87A-4E24-93BF-AD32294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3640352"/>
            <a:ext cx="3707914" cy="2798589"/>
          </a:xfrm>
          <a:custGeom xmlns:a="http://schemas.openxmlformats.org/drawingml/2006/main">
            <a:rect l="l" t="t" r="r" b="b"/>
            <a:pathLst>
              <a:path w="3707914" h="2798589">
                <a:moveTo>
                  <a:pt x="0" y="0"/>
                </a:moveTo>
                <a:lnTo>
                  <a:pt x="3707914" y="0"/>
                </a:lnTo>
                <a:lnTo>
                  <a:pt x="370791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636e50533f4d36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1D16127-2B67-4BFF-89AC-771C4E02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448" y="4021002"/>
            <a:ext cx="1554480" cy="5440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Routing request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9F210D4-228F-4940-AAA1-775DA8A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4493047"/>
            <a:ext cx="2843828" cy="1508614"/>
          </a:xfrm>
          <a:custGeom xmlns:a="http://schemas.openxmlformats.org/drawingml/2006/main"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34842201547f6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FC4CB8B-DF3E-4028-B116-46F87D66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0" y="2995365"/>
            <a:ext cx="1531292" cy="3869923"/>
          </a:xfrm>
          <a:custGeom xmlns:a="http://schemas.openxmlformats.org/drawingml/2006/main">
            <a:rect l="l" t="t" r="r" b="b"/>
            <a:pathLst>
              <a:path w="1531292" h="3869923">
                <a:moveTo>
                  <a:pt x="0" y="0"/>
                </a:moveTo>
                <a:lnTo>
                  <a:pt x="1531292" y="0"/>
                </a:lnTo>
                <a:lnTo>
                  <a:pt x="153129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2ad2dbfbde4ffa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06BEDFA-8785-4B74-BB10-AB44422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2350377"/>
            <a:ext cx="5239206" cy="5793953"/>
          </a:xfrm>
          <a:custGeom xmlns:a="http://schemas.openxmlformats.org/drawingml/2006/main">
            <a:rect l="l" t="t" r="r" b="b"/>
            <a:pathLst>
              <a:path w="5239206" h="5793953">
                <a:moveTo>
                  <a:pt x="0" y="0"/>
                </a:moveTo>
                <a:lnTo>
                  <a:pt x="5239206" y="0"/>
                </a:lnTo>
                <a:lnTo>
                  <a:pt x="5239206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deded190448e4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B77E02C-927C-4B12-A600-098C6955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3640352"/>
            <a:ext cx="4801694" cy="1508614"/>
          </a:xfrm>
          <a:custGeom xmlns:a="http://schemas.openxmlformats.org/drawingml/2006/main">
            <a:rect l="l" t="t" r="r" b="b"/>
            <a:pathLst>
              <a:path w="4801694" h="1508614">
                <a:moveTo>
                  <a:pt x="0" y="0"/>
                </a:moveTo>
                <a:lnTo>
                  <a:pt x="4801694" y="0"/>
                </a:lnTo>
                <a:lnTo>
                  <a:pt x="4801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c41c7644904576"/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5702B1A-0DC7-44C4-89AE-7A7DD0DB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0622" y="2350377"/>
            <a:ext cx="5665780" cy="5793953"/>
          </a:xfrm>
          <a:custGeom xmlns:a="http://schemas.openxmlformats.org/drawingml/2006/main">
            <a:rect l="l" t="t" r="r" b="b"/>
            <a:pathLst>
              <a:path w="5665780" h="5793953">
                <a:moveTo>
                  <a:pt x="0" y="0"/>
                </a:moveTo>
                <a:lnTo>
                  <a:pt x="5665780" y="0"/>
                </a:lnTo>
                <a:lnTo>
                  <a:pt x="566578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b217b3c1924637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CFFE5C7-7B62-4F13-A8F4-FC39F422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3640352"/>
            <a:ext cx="5239206" cy="1508614"/>
          </a:xfrm>
          <a:custGeom xmlns:a="http://schemas.openxmlformats.org/drawingml/2006/main">
            <a:rect l="l" t="t" r="r" b="b"/>
            <a:pathLst>
              <a:path w="5239206" h="1508614">
                <a:moveTo>
                  <a:pt x="0" y="0"/>
                </a:moveTo>
                <a:lnTo>
                  <a:pt x="5239206" y="0"/>
                </a:lnTo>
                <a:lnTo>
                  <a:pt x="5239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b9e54382dd4276"/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D86D440-75DB-455D-982C-945CDD5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352038"/>
            <a:ext cx="16122316" cy="1300906"/>
          </a:xfrm>
          <a:custGeom xmlns:a="http://schemas.openxmlformats.org/drawingml/2006/main">
            <a:rect l="l" t="t" r="r" b="b"/>
            <a:pathLst>
              <a:path w="16122316" h="1300906">
                <a:moveTo>
                  <a:pt x="0" y="0"/>
                </a:moveTo>
                <a:lnTo>
                  <a:pt x="16122316" y="0"/>
                </a:lnTo>
                <a:lnTo>
                  <a:pt x="1612231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de86ae3d354820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2E5EB3D-4DFF-4A48-821C-D13E5BF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570678"/>
            <a:ext cx="2406316" cy="863627"/>
          </a:xfrm>
          <a:custGeom xmlns:a="http://schemas.openxmlformats.org/drawingml/2006/main">
            <a:rect l="l" t="t" r="r" b="b"/>
            <a:pathLst>
              <a:path w="2406316" h="863627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a6cefea2654605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CF5170-AAF3-4708-A33C-B4147BB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344" y="8858578"/>
            <a:ext cx="1792224" cy="3437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54"/>
              </a:lnSpc>
              <a:buNone/>
            </a:pPr>
            <a:r>
              <a:rPr sz="2554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LIVE DEMO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C6CC0B-5985-42A5-ACD2-9E3E844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496" y="8860924"/>
            <a:ext cx="9838944" cy="6916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3"/>
              </a:lnSpc>
              <a:buNone/>
            </a:pPr>
            <a:r>
              <a:rPr sz="272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One selected model. Explicit rule version. Human-readable reason.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9C1EC95-D9CB-4CB0-B47E-93594FAE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2717239"/>
            <a:ext cx="1280160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4"/>
              </a:lnSpc>
              <a:buNone/>
            </a:pPr>
            <a:r>
              <a:rPr sz="2554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A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020586D-4651-4001-987C-803A7E05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2717239"/>
            <a:ext cx="1243584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4"/>
              </a:lnSpc>
              <a:buNone/>
            </a:pPr>
            <a:r>
              <a:rPr sz="2554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B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2B7AAB-62C7-42D0-9DC9-17C72975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3159580"/>
            <a:ext cx="1243584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4"/>
              </a:lnSpc>
              <a:buNone/>
            </a:pPr>
            <a:r>
              <a:rPr sz="2554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GEMMA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C2691B-715D-4E60-B01C-FF2CFC42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3159580"/>
            <a:ext cx="3401568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4"/>
              </a:lnSpc>
              <a:buNone/>
            </a:pPr>
            <a:r>
              <a:rPr sz="2554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NEMOTRON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3120048-82AF-496B-9332-0A76101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5317164"/>
            <a:ext cx="1243584" cy="272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Context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3808FDC-6F44-4959-B5DF-E1E6C062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5317164"/>
            <a:ext cx="1243584" cy="272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Context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C3EEC8C-6411-4799-80FB-0423278B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5248" y="5330137"/>
            <a:ext cx="786384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54"/>
              </a:lnSpc>
              <a:buNone/>
            </a:pPr>
            <a:r>
              <a:rPr sz="2554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262K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FF4D08E-653E-4FB3-999F-F2C76D70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4256" y="5330137"/>
            <a:ext cx="786384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54"/>
              </a:lnSpc>
              <a:buNone/>
            </a:pPr>
            <a:r>
              <a:rPr sz="2554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1M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2F37D7-AB02-46D6-A581-ED10A1B9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5882949"/>
            <a:ext cx="1005840" cy="5440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Baseline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2B2EFFB-F488-4AA7-BF1F-04E656FA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5882949"/>
            <a:ext cx="1005840" cy="5440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Baseline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041541B-C86E-4C0B-BF11-36CFC116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5248" y="5893366"/>
            <a:ext cx="786384" cy="309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435"/>
              </a:lnSpc>
              <a:buNone/>
            </a:pPr>
            <a:r>
              <a:rPr sz="243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cost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579D3B-1632-4331-81C2-030573DE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4256" y="5893366"/>
            <a:ext cx="786384" cy="309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435"/>
              </a:lnSpc>
              <a:buNone/>
            </a:pPr>
            <a:r>
              <a:rPr sz="243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best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34C975-740B-4C88-A42C-316E2F8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6458874"/>
            <a:ext cx="877824" cy="5316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93"/>
              </a:lnSpc>
              <a:buNone/>
            </a:pPr>
            <a:r>
              <a:rPr sz="20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GSM8K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A29594C-E724-44E6-A0C3-C9D7039E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6458874"/>
            <a:ext cx="877824" cy="5316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93"/>
              </a:lnSpc>
              <a:buNone/>
            </a:pPr>
            <a:r>
              <a:rPr sz="20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GSM8K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1A702A6-E0F4-4B31-A823-D3A01980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9840" y="6461707"/>
            <a:ext cx="621792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algn="r">
              <a:lnSpc>
                <a:spcPts val="2554"/>
              </a:lnSpc>
              <a:buNone/>
              <a:defRPr sz="1875"/>
            </a:pPr>
            <a:r>
              <a:rPr sz="187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3/12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B287B0F-EA46-455D-A765-C64A4C41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47136" y="6461707"/>
            <a:ext cx="621792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algn="r">
              <a:lnSpc>
                <a:spcPts val="2554"/>
              </a:lnSpc>
              <a:buNone/>
              <a:defRPr sz="1875"/>
            </a:pPr>
            <a:r>
              <a:rPr sz="187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8/12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6192636-C8C6-4CD0-B2C0-65AC7E3A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7014519"/>
            <a:ext cx="621792" cy="5440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Avail.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27F3390-F280-474F-B9BA-BE99A86F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7014519"/>
            <a:ext cx="621792" cy="5440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Avail.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F66A4BD0-C8DE-42B2-BBFC-4FD7F4BF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792" y="7043235"/>
            <a:ext cx="1005840" cy="316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algn="r">
              <a:lnSpc>
                <a:spcPts val="2494"/>
              </a:lnSpc>
              <a:buNone/>
              <a:defRPr sz="1875"/>
            </a:pPr>
            <a:r>
              <a:rPr sz="187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3/12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A46AF449-0471-4945-9526-7F1191DD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6512" y="7043235"/>
            <a:ext cx="1005840" cy="316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algn="r">
              <a:lnSpc>
                <a:spcPts val="2494"/>
              </a:lnSpc>
              <a:buNone/>
              <a:defRPr sz="1875"/>
            </a:pPr>
            <a:r>
              <a:rPr sz="187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12/12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AC9D2F9-D92C-4A7A-A65C-E161AC8B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072" y="7580304"/>
            <a:ext cx="1554480" cy="272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Rule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9358E0A-1C21-4B99-8F6F-1F50C7B3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0896" y="7580304"/>
            <a:ext cx="1554480" cy="272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42"/>
              </a:lnSpc>
              <a:buNone/>
            </a:pPr>
            <a:r>
              <a:rPr sz="2142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Rule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F9B9EC7-B413-4B3F-9384-3F54C20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3536" y="7593277"/>
            <a:ext cx="786384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algn="r">
              <a:lnSpc>
                <a:spcPts val="2554"/>
              </a:lnSpc>
              <a:buNone/>
              <a:defRPr sz="1875"/>
            </a:pPr>
            <a:r>
              <a:rPr sz="187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speed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D1086EC-3C9A-4DCD-89BB-BDE6CA5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4256" y="7593277"/>
            <a:ext cx="786384" cy="32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algn="r">
              <a:lnSpc>
                <a:spcPts val="2554"/>
              </a:lnSpc>
              <a:buNone/>
              <a:defRPr sz="1875"/>
            </a:pPr>
            <a:r>
              <a:rPr sz="1875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500K</a:t>
            </a:r>
          </a:p>
        </p:txBody>
      </p:sp>
    </p:spTree>
    <p:extLst>
      <p:ext uri="{BB962C8B-B14F-4D97-AF65-F5344CB8AC3E}">
        <p14:creationId xmlns:p14="http://schemas.microsoft.com/office/powerpoint/2010/main" val="14863535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3036A0-35BD-49E6-A142-F2B98971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ca6218a7184a17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930336C-FB65-47EA-9657-BF4DE8F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7760" y="516627"/>
            <a:ext cx="9473184" cy="12467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817"/>
              </a:lnSpc>
              <a:buNone/>
            </a:pPr>
            <a:r>
              <a:rPr sz="7012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• Baseline evidence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B34A78C-72BB-46FE-9DB4-A3F01F9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944" y="1699797"/>
            <a:ext cx="10771632" cy="439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7"/>
              </a:lnSpc>
              <a:buNone/>
            </a:pPr>
            <a:r>
              <a:rPr sz="2469">
                <a:solidFill>
                  <a:srgbClr val="C1C1C1"/>
                </a:solidFill>
                <a:latin typeface="Roboto"/>
                <a:ea typeface="Roboto"/>
                <a:cs typeface="Roboto"/>
              </a:rPr>
              <a:t>Saved GSM8K matrix • 12 questions × 2 models = 24 canonical result cells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8CC2CD2-124B-45EC-8F9F-22DABE13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2569017"/>
            <a:ext cx="4145426" cy="7083928"/>
          </a:xfrm>
          <a:custGeom xmlns:a="http://schemas.openxmlformats.org/drawingml/2006/main">
            <a:rect l="l" t="t" r="r" b="b"/>
            <a:pathLst>
              <a:path w="4145426" h="7083928">
                <a:moveTo>
                  <a:pt x="0" y="0"/>
                </a:moveTo>
                <a:lnTo>
                  <a:pt x="4145426" y="0"/>
                </a:lnTo>
                <a:lnTo>
                  <a:pt x="4145426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77dd4645f4495f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565A289-CC62-4523-950D-406A4ED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0512" y="2954811"/>
            <a:ext cx="1810512" cy="439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57"/>
              </a:lnSpc>
              <a:buNone/>
            </a:pPr>
            <a:r>
              <a:rPr sz="2469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NEMOTRON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0512DF4-4DBF-42DC-8633-47C777A1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0240" y="3450599"/>
            <a:ext cx="1609344" cy="7574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82"/>
              </a:lnSpc>
              <a:buNone/>
            </a:pPr>
            <a:r>
              <a:rPr sz="2130">
                <a:solidFill>
                  <a:srgbClr val="C1C1C1"/>
                </a:solidFill>
                <a:latin typeface="Roboto"/>
                <a:ea typeface="Roboto"/>
                <a:cs typeface="Roboto"/>
              </a:rPr>
              <a:t>66.7% accuracy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0F3407E-B689-4DFB-B1C3-F6D1AEBF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2848" y="3825703"/>
            <a:ext cx="1060704" cy="1290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158"/>
              </a:lnSpc>
              <a:buNone/>
            </a:pPr>
            <a:r>
              <a:rPr sz="7256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12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427AEBA-42BF-4132-8110-0DE3F2CF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648" y="4915186"/>
            <a:ext cx="1901952" cy="36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86"/>
              </a:lnSpc>
              <a:buNone/>
            </a:pPr>
            <a:r>
              <a:rPr sz="2061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successful calls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DA2396B-DA56-4CAF-A0C4-3310368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42" y="5356674"/>
            <a:ext cx="3062584" cy="218640"/>
          </a:xfrm>
          <a:custGeom xmlns:a="http://schemas.openxmlformats.org/drawingml/2006/main"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9ef15c17014e7d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C23261-0D3F-4907-872F-C5572588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2304" y="5423512"/>
            <a:ext cx="566928" cy="13530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654"/>
              </a:lnSpc>
              <a:buNone/>
            </a:pPr>
            <a:r>
              <a:rPr sz="7610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8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C64467-2B77-4184-92C4-B7C8B823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2224" y="6516125"/>
            <a:ext cx="1792224" cy="378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82"/>
              </a:lnSpc>
              <a:buNone/>
            </a:pPr>
            <a:r>
              <a:rPr sz="2130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exact matches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54F568A-77FC-4672-A8C4-1A583F21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8352038"/>
            <a:ext cx="4145426" cy="229572"/>
          </a:xfrm>
          <a:custGeom xmlns:a="http://schemas.openxmlformats.org/drawingml/2006/main">
            <a:rect l="l" t="t" r="r" b="b"/>
            <a:pathLst>
              <a:path w="4145426" h="229572">
                <a:moveTo>
                  <a:pt x="0" y="0"/>
                </a:moveTo>
                <a:lnTo>
                  <a:pt x="4145426" y="0"/>
                </a:lnTo>
                <a:lnTo>
                  <a:pt x="4145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8151b4e8134091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BE6F3E-F27D-46F8-8974-5C1E9C41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016" y="8573525"/>
            <a:ext cx="530352" cy="7574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82"/>
              </a:lnSpc>
              <a:buNone/>
            </a:pPr>
            <a:r>
              <a:rPr sz="2130">
                <a:solidFill>
                  <a:srgbClr val="C1C1C1"/>
                </a:solidFill>
                <a:latin typeface="Roboto"/>
                <a:ea typeface="Roboto"/>
                <a:cs typeface="Roboto"/>
              </a:rPr>
              <a:t>mean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4A8582-F679-4827-9AC4-96E8F030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016" y="8789398"/>
            <a:ext cx="566928" cy="6916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ctr">
              <a:lnSpc>
                <a:spcPts val="5446"/>
              </a:lnSpc>
              <a:buNone/>
              <a:defRPr sz="2250"/>
            </a:pPr>
            <a:r>
              <a:rPr sz="2250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20s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F7396FD-D5FD-4837-A66C-1C950043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2569017"/>
            <a:ext cx="4364182" cy="7083928"/>
          </a:xfrm>
          <a:custGeom xmlns:a="http://schemas.openxmlformats.org/drawingml/2006/main">
            <a:rect l="l" t="t" r="r" b="b"/>
            <a:pathLst>
              <a:path w="4364182" h="7083928">
                <a:moveTo>
                  <a:pt x="0" y="0"/>
                </a:moveTo>
                <a:lnTo>
                  <a:pt x="4364182" y="0"/>
                </a:lnTo>
                <a:lnTo>
                  <a:pt x="4364182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892ccfb5824207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E54D5F6-32EF-4304-B2A3-6620F34F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4" y="2954811"/>
            <a:ext cx="1243584" cy="439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57"/>
              </a:lnSpc>
              <a:buNone/>
            </a:pPr>
            <a:r>
              <a:rPr sz="2469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GEMMA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D0EB0AB-7AC1-4EEE-B223-7CA4D55F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5936" y="3450599"/>
            <a:ext cx="1609344" cy="7574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82"/>
              </a:lnSpc>
              <a:buNone/>
            </a:pPr>
            <a:r>
              <a:rPr sz="2130">
                <a:solidFill>
                  <a:srgbClr val="C1C1C1"/>
                </a:solidFill>
                <a:latin typeface="Roboto"/>
                <a:ea typeface="Roboto"/>
                <a:cs typeface="Roboto"/>
              </a:rPr>
              <a:t>25.0% accuracy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555BDE3-5C43-4945-BF97-54785E4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6288" y="3787879"/>
            <a:ext cx="566928" cy="13530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654"/>
              </a:lnSpc>
              <a:buNone/>
            </a:pPr>
            <a:r>
              <a:rPr sz="7610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B06125-55F2-41D3-8A6D-9EEF495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9632" y="4832890"/>
            <a:ext cx="1901952" cy="36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86"/>
              </a:lnSpc>
              <a:buNone/>
            </a:pPr>
            <a:r>
              <a:rPr sz="2061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successful calls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2D3C6463-CFC3-43B3-A9BF-D77BA8D3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4842" y="5138034"/>
            <a:ext cx="3062584" cy="437279"/>
          </a:xfrm>
          <a:custGeom xmlns:a="http://schemas.openxmlformats.org/drawingml/2006/main">
            <a:rect l="l" t="t" r="r" b="b"/>
            <a:pathLst>
              <a:path w="3062584" h="437279">
                <a:moveTo>
                  <a:pt x="0" y="0"/>
                </a:moveTo>
                <a:lnTo>
                  <a:pt x="3062584" y="0"/>
                </a:lnTo>
                <a:lnTo>
                  <a:pt x="3062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739ebb2c4443bf"/>
            <a:stretch>
              <a:fillRect l="0" t="0" r="0" b="0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EB02D8-51E2-4AF6-BB07-A0ADDCB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6288" y="5238346"/>
            <a:ext cx="566928" cy="13530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654"/>
              </a:lnSpc>
              <a:buNone/>
            </a:pPr>
            <a:r>
              <a:rPr sz="7610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3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5EA0B7E-4185-4E7A-B53A-D487684D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4496" y="6279524"/>
            <a:ext cx="1792224" cy="378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82"/>
              </a:lnSpc>
              <a:buNone/>
            </a:pPr>
            <a:r>
              <a:rPr sz="2130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exact matches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E7EE45-02BE-43A7-8CBE-B6833F3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6288" y="6575656"/>
            <a:ext cx="566928" cy="13530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654"/>
              </a:lnSpc>
              <a:buNone/>
            </a:pPr>
            <a:r>
              <a:rPr sz="7610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9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0C55A06-54D8-43B9-9475-3E5AAFC1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7296" y="7637262"/>
            <a:ext cx="2706624" cy="595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43"/>
              </a:lnSpc>
              <a:buNone/>
            </a:pPr>
            <a:r>
              <a:rPr sz="2130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shared-pool</a:t>
            </a:r>
          </a:p>
          <a:p xmlns:a="http://schemas.openxmlformats.org/drawingml/2006/main">
            <a:pPr algn="ctr">
              <a:lnSpc>
                <a:spcPts val="2343"/>
              </a:lnSpc>
              <a:buNone/>
            </a:pPr>
            <a:r>
              <a:rPr sz="2130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rate limits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9D02300-C573-4184-97A8-85B6DA15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8352038"/>
            <a:ext cx="4364182" cy="229572"/>
          </a:xfrm>
          <a:custGeom xmlns:a="http://schemas.openxmlformats.org/drawingml/2006/main"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aa4807b3d64c61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E52E350-ED85-4E13-97CF-BD5C033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6288" y="8573525"/>
            <a:ext cx="530352" cy="7574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82"/>
              </a:lnSpc>
              <a:buNone/>
            </a:pPr>
            <a:r>
              <a:rPr sz="2130">
                <a:solidFill>
                  <a:srgbClr val="C1C1C1"/>
                </a:solidFill>
                <a:latin typeface="Roboto"/>
                <a:ea typeface="Roboto"/>
                <a:cs typeface="Roboto"/>
              </a:rPr>
              <a:t>mean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21429DE-E592-4C80-81A6-6BFD30A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6288" y="8789398"/>
            <a:ext cx="566928" cy="6916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ctr">
              <a:lnSpc>
                <a:spcPts val="5446"/>
              </a:lnSpc>
              <a:buNone/>
              <a:defRPr sz="1650"/>
            </a:pPr>
            <a:r>
              <a:rPr sz="1650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5.6s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F6E53D1-C106-4310-A8AF-28E804FB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2569017"/>
            <a:ext cx="7853340" cy="2798589"/>
          </a:xfrm>
          <a:custGeom xmlns:a="http://schemas.openxmlformats.org/drawingml/2006/main">
            <a:rect l="l" t="t" r="r" b="b"/>
            <a:pathLst>
              <a:path w="7853340" h="2798589">
                <a:moveTo>
                  <a:pt x="0" y="0"/>
                </a:moveTo>
                <a:lnTo>
                  <a:pt x="7853340" y="0"/>
                </a:lnTo>
                <a:lnTo>
                  <a:pt x="7853340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5b096a75b348e9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8FA5F78-9BFC-4C61-9E10-06F5A95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2995365"/>
            <a:ext cx="448450" cy="1934962"/>
          </a:xfrm>
          <a:custGeom xmlns:a="http://schemas.openxmlformats.org/drawingml/2006/main">
            <a:rect l="l" t="t" r="r" b="b"/>
            <a:pathLst>
              <a:path w="448450" h="1934962">
                <a:moveTo>
                  <a:pt x="0" y="0"/>
                </a:moveTo>
                <a:lnTo>
                  <a:pt x="448450" y="0"/>
                </a:lnTo>
                <a:lnTo>
                  <a:pt x="44845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6bfdb9b5374819"/>
            <a:stretch>
              <a:fillRect l="0" t="0" r="0" b="0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3A535DE-D6E8-4CA4-9044-600E6A5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7472" y="3085420"/>
            <a:ext cx="3877056" cy="2345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2025"/>
            </a:defPPr>
          </a:lstStyle>
          <a:p xmlns:a="http://schemas.openxmlformats.org/drawingml/2006/main">
            <a:pPr algn="l">
              <a:lnSpc>
                <a:spcPts val="3694"/>
              </a:lnSpc>
              <a:buNone/>
              <a:defRPr sz="2025"/>
            </a:pPr>
            <a:r>
              <a:rPr sz="2025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Failures stay visible.</a:t>
            </a:r>
          </a:p>
          <a:p xmlns:a="http://schemas.openxmlformats.org/drawingml/2006/main">
            <a:pPr algn="l">
              <a:lnSpc>
                <a:spcPts val="3694"/>
              </a:lnSpc>
              <a:buNone/>
            </a:pPr>
            <a:r>
              <a:rPr sz="2638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/>
            </a:r>
          </a:p>
          <a:p xmlns:a="http://schemas.openxmlformats.org/drawingml/2006/main">
            <a:pPr algn="l">
              <a:lnSpc>
                <a:spcPts val="3694"/>
              </a:lnSpc>
              <a:buNone/>
              <a:defRPr sz="2025"/>
            </a:pPr>
            <a:r>
              <a:rPr sz="2025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All 12 cells count.</a:t>
            </a:r>
          </a:p>
          <a:p xmlns:a="http://schemas.openxmlformats.org/drawingml/2006/main">
            <a:pPr algn="l">
              <a:lnSpc>
                <a:spcPts val="3694"/>
              </a:lnSpc>
              <a:buNone/>
            </a:pPr>
            <a:r>
              <a:rPr sz="2638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/>
            </a:r>
          </a:p>
          <a:p xmlns:a="http://schemas.openxmlformats.org/drawingml/2006/main">
            <a:pPr algn="l">
              <a:lnSpc>
                <a:spcPts val="3694"/>
              </a:lnSpc>
              <a:buNone/>
              <a:defRPr sz="2025"/>
            </a:pPr>
            <a:r>
              <a:rPr sz="2025" b="1">
                <a:solidFill>
                  <a:srgbClr val="C1C1C1"/>
                </a:solidFill>
                <a:latin typeface="Roboto Bold"/>
                <a:ea typeface="Roboto Bold"/>
                <a:cs typeface="Roboto Bold"/>
              </a:rPr>
              <a:t>No silent substitute.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1B1A4B0-2C8A-446C-BBB1-6743D928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5564382"/>
            <a:ext cx="7853340" cy="4088563"/>
          </a:xfrm>
          <a:custGeom xmlns:a="http://schemas.openxmlformats.org/drawingml/2006/main">
            <a:rect l="l" t="t" r="r" b="b"/>
            <a:pathLst>
              <a:path w="7853340" h="4088563">
                <a:moveTo>
                  <a:pt x="0" y="0"/>
                </a:moveTo>
                <a:lnTo>
                  <a:pt x="7853340" y="0"/>
                </a:lnTo>
                <a:lnTo>
                  <a:pt x="785334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d7b6ccbc4743a1"/>
            <a:stretch>
              <a:fillRect l="0" t="0" r="0" b="0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5EAAB10-60CB-4623-914E-7DE2884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752" y="6284163"/>
            <a:ext cx="1865376" cy="469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94"/>
              </a:lnSpc>
              <a:buNone/>
            </a:pPr>
            <a:r>
              <a:rPr sz="2638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LIVE DEMO: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79E9AF4-A1C7-44DD-8AE1-B9284557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752" y="6821220"/>
            <a:ext cx="2359152" cy="7301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49"/>
              </a:lnSpc>
              <a:buNone/>
            </a:pPr>
            <a:r>
              <a:rPr sz="4107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saved run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5CEFD3E-F73D-4850-B7CF-628608D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752" y="7536166"/>
            <a:ext cx="292608" cy="694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30"/>
              </a:lnSpc>
              <a:buNone/>
            </a:pPr>
            <a:r>
              <a:rPr sz="4021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+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1CA73DEC-33B9-430E-B34F-C5090EB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752" y="8209965"/>
            <a:ext cx="4992624" cy="7301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49"/>
              </a:lnSpc>
              <a:buNone/>
            </a:pPr>
            <a:r>
              <a:rPr sz="4107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strategy replay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29781446-508E-4B8B-8FE9-21495E55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368" y="516627"/>
            <a:ext cx="4151376" cy="12467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817"/>
              </a:lnSpc>
              <a:buNone/>
            </a:pPr>
            <a:r>
              <a:rPr sz="7012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CP1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C8954CA1-4EB9-4BD3-A5D3-2BD982FC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5328" y="2707199"/>
            <a:ext cx="512064" cy="2664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780"/>
              </a:lnSpc>
              <a:buNone/>
            </a:pPr>
            <a:r>
              <a:rPr sz="15557" b="1">
                <a:solidFill>
                  <a:srgbClr val="94DD26"/>
                </a:solidFill>
                <a:latin typeface="Roboto Bold"/>
                <a:ea typeface="Roboto Bold"/>
                <a:cs typeface="Roboto Bold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915395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6D4DF22-3DD2-4CC2-9A98-5B8FC88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cac09708904a2c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AC199B0-A98F-46E2-AFBA-6C6D6F4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702128"/>
            <a:ext cx="8485632" cy="193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600"/>
              </a:lnSpc>
              <a:buNone/>
            </a:pPr>
            <a:r>
              <a:rPr sz="7037" b="1" spc="-28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Policy tests • same prompt, different goals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753AB63-D015-4888-82AA-B5D3FEC1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248" y="2780783"/>
            <a:ext cx="6803136" cy="8816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71"/>
              </a:lnSpc>
              <a:buNone/>
            </a:pPr>
            <a:r>
              <a:rPr sz="2893" spc="-11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Priorities steer the choice only after hard filtering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2D330F3-0986-4C5E-B614-67AF210B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73866" y="426348"/>
            <a:ext cx="1968804" cy="863627"/>
          </a:xfrm>
          <a:custGeom xmlns:a="http://schemas.openxmlformats.org/drawingml/2006/main">
            <a:rect l="l" t="t" r="r" b="b"/>
            <a:pathLst>
              <a:path w="1968804" h="863627">
                <a:moveTo>
                  <a:pt x="0" y="0"/>
                </a:moveTo>
                <a:lnTo>
                  <a:pt x="1968804" y="0"/>
                </a:lnTo>
                <a:lnTo>
                  <a:pt x="196880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ccc8bbff7e4e61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27B95BF-C2BB-46A9-BED5-D17B9AF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28848" y="752648"/>
            <a:ext cx="1389888" cy="326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56"/>
              </a:lnSpc>
              <a:buNone/>
            </a:pPr>
            <a:r>
              <a:rPr sz="2130" b="1" spc="-85">
                <a:solidFill>
                  <a:srgbClr val="090909"/>
                </a:solidFill>
                <a:latin typeface="Roboto Bold"/>
                <a:ea typeface="Roboto Bold"/>
                <a:cs typeface="Roboto Bold"/>
              </a:rPr>
              <a:t>LIVE DEMO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1AE176C-99E7-42D9-9C26-ED2CF246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3640352"/>
            <a:ext cx="10248718" cy="1508614"/>
          </a:xfrm>
          <a:custGeom xmlns:a="http://schemas.openxmlformats.org/drawingml/2006/main">
            <a:rect l="l" t="t" r="r" b="b"/>
            <a:pathLst>
              <a:path w="10248718" h="1508614">
                <a:moveTo>
                  <a:pt x="0" y="0"/>
                </a:moveTo>
                <a:lnTo>
                  <a:pt x="10248718" y="0"/>
                </a:lnTo>
                <a:lnTo>
                  <a:pt x="1024871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1c3b90e86f43c1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815EEC0-E62A-46F3-B880-CD6CFE7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072" y="4076945"/>
            <a:ext cx="2816352" cy="4408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71"/>
              </a:lnSpc>
              <a:buNone/>
            </a:pPr>
            <a:r>
              <a:rPr sz="2893" spc="-11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Same prompt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A61C13-7FFD-4A3F-BFAB-34DA2284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3848060"/>
            <a:ext cx="229694" cy="874559"/>
          </a:xfrm>
          <a:custGeom xmlns:a="http://schemas.openxmlformats.org/drawingml/2006/main"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aa005a3bbe48a0"/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E913BF1-51FB-4185-BE2A-4A65BA6C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5040" y="4079831"/>
            <a:ext cx="3346704" cy="518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082"/>
              </a:lnSpc>
              <a:buNone/>
            </a:pPr>
            <a:r>
              <a:rPr sz="3401" spc="-136">
                <a:solidFill>
                  <a:srgbClr val="B1E142"/>
                </a:solidFill>
                <a:latin typeface="Roboto"/>
                <a:ea typeface="Roboto"/>
                <a:cs typeface="Roboto"/>
              </a:rPr>
              <a:t>One change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3539D37-D905-4CD0-9171-254FF871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4842" y="4919394"/>
            <a:ext cx="448450" cy="874559"/>
          </a:xfrm>
          <a:custGeom xmlns:a="http://schemas.openxmlformats.org/drawingml/2006/main">
            <a:rect l="l" t="t" r="r" b="b"/>
            <a:pathLst>
              <a:path w="448450" h="874559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3067f666beb4420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67F4923-8E03-4019-B4F5-7BCAECC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5783021"/>
            <a:ext cx="10248718" cy="1934962"/>
          </a:xfrm>
          <a:custGeom xmlns:a="http://schemas.openxmlformats.org/drawingml/2006/main">
            <a:rect l="l" t="t" r="r" b="b"/>
            <a:pathLst>
              <a:path w="10248718" h="1934962">
                <a:moveTo>
                  <a:pt x="0" y="0"/>
                </a:moveTo>
                <a:lnTo>
                  <a:pt x="10248718" y="0"/>
                </a:lnTo>
                <a:lnTo>
                  <a:pt x="1024871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6f438c40f84d4c"/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C81ABAB-EB23-4536-B2EB-D40588C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599072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1654aca9514316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FCB6944-6022-4A23-A8D7-33B4712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6428009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b4a8cfc7c540b7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4DB98FD-CC8E-4D80-8EFB-7BC24458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6270318"/>
            <a:ext cx="2962656" cy="804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337"/>
              </a:lnSpc>
              <a:buNone/>
            </a:pPr>
            <a:r>
              <a:rPr sz="452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GEMMA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69F192B-2F5A-42CA-8417-7E73528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7499343"/>
            <a:ext cx="10248718" cy="1934962"/>
          </a:xfrm>
          <a:custGeom xmlns:a="http://schemas.openxmlformats.org/drawingml/2006/main">
            <a:rect l="l" t="t" r="r" b="b"/>
            <a:pathLst>
              <a:path w="10248718" h="1934962">
                <a:moveTo>
                  <a:pt x="0" y="0"/>
                </a:moveTo>
                <a:lnTo>
                  <a:pt x="10248718" y="0"/>
                </a:lnTo>
                <a:lnTo>
                  <a:pt x="1024871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ac28c9339b46a6"/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C37D399-1067-4BBF-9CC6-F8745714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7925691"/>
            <a:ext cx="229694" cy="1289974"/>
          </a:xfrm>
          <a:custGeom xmlns:a="http://schemas.openxmlformats.org/drawingml/2006/main"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36baba8cf041f0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E29702F-BC54-489B-B7FD-5013215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8352038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a20291c246435e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9DB9204-8D1D-42E2-B1B7-3487DA02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8101404"/>
            <a:ext cx="2962656" cy="16095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337"/>
              </a:lnSpc>
              <a:buNone/>
            </a:pPr>
            <a:r>
              <a:rPr sz="452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NEMOTRON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E5AD0E-9109-4EDA-91E7-3DB19A8A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3312" y="5190226"/>
            <a:ext cx="4663440" cy="35198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algn="l">
              <a:lnSpc>
                <a:spcPts val="5543"/>
              </a:lnSpc>
              <a:buNone/>
              <a:defRPr sz="3000"/>
            </a:pPr>
            <a:r>
              <a:rPr sz="3000" b="1" spc="-184">
                <a:solidFill>
                  <a:srgbClr val="B1E142"/>
                </a:solidFill>
                <a:latin typeface="Roboto Bold"/>
                <a:ea typeface="Roboto Bold"/>
                <a:cs typeface="Roboto Bold"/>
              </a:rPr>
              <a:t>Selected model</a:t>
            </a:r>
          </a:p>
          <a:p xmlns:a="http://schemas.openxmlformats.org/drawingml/2006/main">
            <a:pPr algn="l">
              <a:lnSpc>
                <a:spcPts val="5543"/>
              </a:lnSpc>
              <a:buNone/>
              <a:defRPr sz="3000"/>
            </a:pPr>
            <a:r>
              <a:rPr sz="3000" b="1" spc="-184">
                <a:solidFill>
                  <a:srgbClr val="B1E142"/>
                </a:solidFill>
                <a:latin typeface="Roboto Bold"/>
                <a:ea typeface="Roboto Bold"/>
                <a:cs typeface="Roboto Bold"/>
              </a:rPr>
              <a:t>Eligible set</a:t>
            </a:r>
          </a:p>
          <a:p xmlns:a="http://schemas.openxmlformats.org/drawingml/2006/main">
            <a:pPr algn="l">
              <a:lnSpc>
                <a:spcPts val="5543"/>
              </a:lnSpc>
              <a:buNone/>
              <a:defRPr sz="3000"/>
            </a:pPr>
            <a:r>
              <a:rPr sz="3000" b="1" spc="-184">
                <a:solidFill>
                  <a:srgbClr val="B1E142"/>
                </a:solidFill>
                <a:latin typeface="Roboto Bold"/>
                <a:ea typeface="Roboto Bold"/>
                <a:cs typeface="Roboto Bold"/>
              </a:rPr>
              <a:t>Reason</a:t>
            </a:r>
          </a:p>
          <a:p xmlns:a="http://schemas.openxmlformats.org/drawingml/2006/main">
            <a:pPr algn="l">
              <a:lnSpc>
                <a:spcPts val="5543"/>
              </a:lnSpc>
              <a:buNone/>
            </a:pPr>
            <a:r>
              <a:rPr sz="4619" b="1" spc="-184">
                <a:solidFill>
                  <a:srgbClr val="B1E142"/>
                </a:solidFill>
                <a:latin typeface="Roboto Bold"/>
                <a:ea typeface="Roboto Bold"/>
                <a:cs typeface="Roboto Bold"/>
              </a:rPr>
              <a:t/>
            </a:r>
          </a:p>
          <a:p xmlns:a="http://schemas.openxmlformats.org/drawingml/2006/main">
            <a:pPr algn="l">
              <a:lnSpc>
                <a:spcPts val="5543"/>
              </a:lnSpc>
              <a:buNone/>
              <a:defRPr sz="3000"/>
            </a:pPr>
            <a:r>
              <a:rPr sz="3000" b="1" spc="-184">
                <a:solidFill>
                  <a:srgbClr val="B1E142"/>
                </a:solidFill>
                <a:latin typeface="Roboto Bold"/>
                <a:ea typeface="Roboto Bold"/>
                <a:cs typeface="Roboto Bold"/>
              </a:rPr>
              <a:t>No provider call.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0A50C42-B3AC-44BA-A1BE-08EA83F6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872" y="6168514"/>
            <a:ext cx="1517904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B1E142"/>
                </a:solidFill>
                <a:latin typeface="Roboto"/>
                <a:ea typeface="Roboto"/>
                <a:cs typeface="Roboto"/>
              </a:rPr>
              <a:t>Cost /</a:t>
            </a:r>
          </a:p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B1E142"/>
                </a:solidFill>
                <a:latin typeface="Roboto"/>
                <a:ea typeface="Roboto"/>
                <a:cs typeface="Roboto"/>
              </a:rPr>
              <a:t>speed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5B5A2E0-4C76-432B-AC42-1AB38486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872" y="7999600"/>
            <a:ext cx="1993392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B1E142"/>
                </a:solidFill>
                <a:latin typeface="Roboto"/>
                <a:ea typeface="Roboto"/>
                <a:cs typeface="Roboto"/>
              </a:rPr>
              <a:t>Quality /</a:t>
            </a:r>
          </a:p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B1E142"/>
                </a:solidFill>
                <a:latin typeface="Roboto"/>
                <a:ea typeface="Roboto"/>
                <a:cs typeface="Roboto"/>
              </a:rPr>
              <a:t>500K</a:t>
            </a:r>
          </a:p>
        </p:txBody>
      </p:sp>
    </p:spTree>
    <p:extLst>
      <p:ext uri="{BB962C8B-B14F-4D97-AF65-F5344CB8AC3E}">
        <p14:creationId xmlns:p14="http://schemas.microsoft.com/office/powerpoint/2010/main" val="1194638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3F4B73F-254E-42B9-AF81-2B42B34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e99f5a8ded407f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1ED4C1-9676-4B10-95F2-F10CBF3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776725"/>
            <a:ext cx="9581512" cy="7510275"/>
          </a:xfrm>
          <a:custGeom xmlns:a="http://schemas.openxmlformats.org/drawingml/2006/main">
            <a:rect l="l" t="t" r="r" b="b"/>
            <a:pathLst>
              <a:path w="9581512" h="7510275">
                <a:moveTo>
                  <a:pt x="0" y="0"/>
                </a:moveTo>
                <a:lnTo>
                  <a:pt x="9581512" y="0"/>
                </a:lnTo>
                <a:lnTo>
                  <a:pt x="9581512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352fea484d4c02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2CD2DD7-4007-4724-A730-0D971E13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64" y="575945"/>
            <a:ext cx="7589520" cy="14187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171"/>
              </a:lnSpc>
              <a:buNone/>
            </a:pPr>
            <a:r>
              <a:rPr sz="7979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What shipped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4BB07C9-B102-4057-98A7-D3F4B4C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1924030"/>
            <a:ext cx="1760986" cy="437279"/>
          </a:xfrm>
          <a:custGeom xmlns:a="http://schemas.openxmlformats.org/drawingml/2006/main">
            <a:rect l="l" t="t" r="r" b="b"/>
            <a:pathLst>
              <a:path w="1760986" h="437279">
                <a:moveTo>
                  <a:pt x="0" y="0"/>
                </a:moveTo>
                <a:lnTo>
                  <a:pt x="1760986" y="0"/>
                </a:lnTo>
                <a:lnTo>
                  <a:pt x="176098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4abb887c6e4434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4ACBEC4-B10F-4DF1-847A-60891011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0574" y="852695"/>
            <a:ext cx="8290852" cy="2798589"/>
          </a:xfrm>
          <a:custGeom xmlns:a="http://schemas.openxmlformats.org/drawingml/2006/main">
            <a:rect l="l" t="t" r="r" b="b"/>
            <a:pathLst>
              <a:path w="8290852" h="2798589">
                <a:moveTo>
                  <a:pt x="0" y="0"/>
                </a:moveTo>
                <a:lnTo>
                  <a:pt x="8290852" y="0"/>
                </a:lnTo>
                <a:lnTo>
                  <a:pt x="829085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321fef96454bf5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054CCC8-7CA1-4005-AEB7-953ED56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8128" y="1490523"/>
            <a:ext cx="7205472" cy="182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783"/>
              </a:lnSpc>
              <a:buNone/>
            </a:pPr>
            <a:r>
              <a:rPr sz="3679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By Oct 15, Checkpoint 2 can be demonstrated without spending provider calls.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C5D6C2E-AD8D-4DC5-AA9E-2D8ADCF7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3421712"/>
            <a:ext cx="448450" cy="5367606"/>
          </a:xfrm>
          <a:custGeom xmlns:a="http://schemas.openxmlformats.org/drawingml/2006/main">
            <a:rect l="l" t="t" r="r" b="b"/>
            <a:pathLst>
              <a:path w="448450" h="5367606">
                <a:moveTo>
                  <a:pt x="0" y="0"/>
                </a:moveTo>
                <a:lnTo>
                  <a:pt x="448450" y="0"/>
                </a:lnTo>
                <a:lnTo>
                  <a:pt x="44845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f56c450b464e4f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63C0BE5-CB78-4A23-A437-B3AED6C2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4285339"/>
            <a:ext cx="667206" cy="218640"/>
          </a:xfrm>
          <a:custGeom xmlns:a="http://schemas.openxmlformats.org/drawingml/2006/main">
            <a:rect l="l" t="t" r="r" b="b"/>
            <a:pathLst>
              <a:path w="667206" h="218640">
                <a:moveTo>
                  <a:pt x="0" y="0"/>
                </a:moveTo>
                <a:lnTo>
                  <a:pt x="667206" y="0"/>
                </a:lnTo>
                <a:lnTo>
                  <a:pt x="667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18a15f3427430d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3F37503-CA21-451B-9CAE-11EFE4F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3640352"/>
            <a:ext cx="7634584" cy="1508614"/>
          </a:xfrm>
          <a:custGeom xmlns:a="http://schemas.openxmlformats.org/drawingml/2006/main">
            <a:rect l="l" t="t" r="r" b="b"/>
            <a:pathLst>
              <a:path w="7634584" h="1508614">
                <a:moveTo>
                  <a:pt x="0" y="0"/>
                </a:moveTo>
                <a:lnTo>
                  <a:pt x="7634584" y="0"/>
                </a:lnTo>
                <a:lnTo>
                  <a:pt x="7634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61ca418ae44a4c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2386C0-2DFE-4F4F-B051-1565549B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1632" y="3950232"/>
            <a:ext cx="658368" cy="779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297"/>
              </a:lnSpc>
              <a:buNone/>
            </a:pPr>
            <a:r>
              <a:rPr sz="4497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71279AC-4D99-45C7-B231-E5C1813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2064" y="4121127"/>
            <a:ext cx="462686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fixed + rule baselines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9FC0486-E4F5-477D-A5CF-5942C7A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5564382"/>
            <a:ext cx="667206" cy="229572"/>
          </a:xfrm>
          <a:custGeom xmlns:a="http://schemas.openxmlformats.org/drawingml/2006/main">
            <a:rect l="l" t="t" r="r" b="b"/>
            <a:pathLst>
              <a:path w="667206" h="229572">
                <a:moveTo>
                  <a:pt x="0" y="0"/>
                </a:moveTo>
                <a:lnTo>
                  <a:pt x="667206" y="0"/>
                </a:lnTo>
                <a:lnTo>
                  <a:pt x="667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c03ee8bf65434e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5CDA59-43EC-467F-A743-AF6775F2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5138034"/>
            <a:ext cx="7634584" cy="1300906"/>
          </a:xfrm>
          <a:custGeom xmlns:a="http://schemas.openxmlformats.org/drawingml/2006/main">
            <a:rect l="l" t="t" r="r" b="b"/>
            <a:pathLst>
              <a:path w="7634584" h="1300906">
                <a:moveTo>
                  <a:pt x="0" y="0"/>
                </a:moveTo>
                <a:lnTo>
                  <a:pt x="7634584" y="0"/>
                </a:lnTo>
                <a:lnTo>
                  <a:pt x="7634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7d46e2e329e47dc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92A4DD3-F4FF-427B-B1A6-3ADC850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1632" y="5359551"/>
            <a:ext cx="658368" cy="779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297"/>
              </a:lnSpc>
              <a:buNone/>
            </a:pPr>
            <a:r>
              <a:rPr sz="4497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AF62EE-73B1-4561-B29F-A117FC91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2064" y="5530446"/>
            <a:ext cx="429768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priority + context controls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8712AE0-D47B-4E2E-86F5-DF98147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7062064"/>
            <a:ext cx="667206" cy="229572"/>
          </a:xfrm>
          <a:custGeom xmlns:a="http://schemas.openxmlformats.org/drawingml/2006/main">
            <a:rect l="l" t="t" r="r" b="b"/>
            <a:pathLst>
              <a:path w="667206" h="229572">
                <a:moveTo>
                  <a:pt x="0" y="0"/>
                </a:moveTo>
                <a:lnTo>
                  <a:pt x="667206" y="0"/>
                </a:lnTo>
                <a:lnTo>
                  <a:pt x="667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cd4c39b10f420c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422B45B-D045-43F8-8912-C0E723C7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6428009"/>
            <a:ext cx="7634584" cy="1508614"/>
          </a:xfrm>
          <a:custGeom xmlns:a="http://schemas.openxmlformats.org/drawingml/2006/main">
            <a:rect l="l" t="t" r="r" b="b"/>
            <a:pathLst>
              <a:path w="7634584" h="1508614">
                <a:moveTo>
                  <a:pt x="0" y="0"/>
                </a:moveTo>
                <a:lnTo>
                  <a:pt x="7634584" y="0"/>
                </a:lnTo>
                <a:lnTo>
                  <a:pt x="7634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7bdbe658f8483e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158A562-0D10-4EB7-AFCD-348E33D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1632" y="6779157"/>
            <a:ext cx="658368" cy="779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297"/>
              </a:lnSpc>
              <a:buNone/>
            </a:pPr>
            <a:r>
              <a:rPr sz="4497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D1DE2C-872A-494F-B0D9-C3A0FAC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2064" y="6950052"/>
            <a:ext cx="3584448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decision explanation view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479D28D-92BA-40EF-BBFD-297276F8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8570678"/>
            <a:ext cx="667206" cy="218640"/>
          </a:xfrm>
          <a:custGeom xmlns:a="http://schemas.openxmlformats.org/drawingml/2006/main">
            <a:rect l="l" t="t" r="r" b="b"/>
            <a:pathLst>
              <a:path w="667206" h="218640">
                <a:moveTo>
                  <a:pt x="0" y="0"/>
                </a:moveTo>
                <a:lnTo>
                  <a:pt x="667206" y="0"/>
                </a:lnTo>
                <a:lnTo>
                  <a:pt x="667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704ebd6ede41ff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E800F70-325D-4A60-8051-04EA3B6D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7925691"/>
            <a:ext cx="7634584" cy="1289974"/>
          </a:xfrm>
          <a:custGeom xmlns:a="http://schemas.openxmlformats.org/drawingml/2006/main">
            <a:rect l="l" t="t" r="r" b="b"/>
            <a:pathLst>
              <a:path w="7634584" h="1289974">
                <a:moveTo>
                  <a:pt x="0" y="0"/>
                </a:moveTo>
                <a:lnTo>
                  <a:pt x="7634584" y="0"/>
                </a:lnTo>
                <a:lnTo>
                  <a:pt x="7634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cdea0b15f44921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9B58784-67B8-4817-A685-27B7DB3B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1632" y="8198763"/>
            <a:ext cx="658368" cy="779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297"/>
              </a:lnSpc>
              <a:buNone/>
            </a:pPr>
            <a:r>
              <a:rPr sz="4497" b="1">
                <a:solidFill>
                  <a:srgbClr val="7ED957"/>
                </a:solidFill>
                <a:latin typeface="Roboto Bold"/>
                <a:ea typeface="Roboto Bold"/>
                <a:cs typeface="Roboto Bold"/>
              </a:rPr>
              <a:t>04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3AF581-5707-4BC6-98F4-096BC686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2064" y="8359371"/>
            <a:ext cx="499262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893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saved-matrix dashboard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07ECB-46DB-4EA4-B11D-573FD1258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f5424f45948fc"/>
          <a:srcRect xmlns:a="http://schemas.openxmlformats.org/drawingml/2006/main" l="2925" t="0" r="2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781300"/>
            <a:ext cx="8953500" cy="6934200"/>
          </a:xfrm>
          <a:prstGeom xmlns:a="http://schemas.openxmlformats.org/drawingml/2006/main" prst="roundRect">
            <a:avLst>
              <a:gd name="adj" fmla="val 1648"/>
            </a:avLst>
          </a:prstGeom>
        </p:spPr>
      </p:pic>
    </p:spTree>
    <p:extLst>
      <p:ext uri="{BB962C8B-B14F-4D97-AF65-F5344CB8AC3E}">
        <p14:creationId xmlns:p14="http://schemas.microsoft.com/office/powerpoint/2010/main" val="677133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A8DEAFF-D752-461F-869C-0CE304F9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792b350a924cd7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AEDA673-B372-4DB0-BA96-BC90D33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0"/>
            <a:ext cx="5447024" cy="7717983"/>
          </a:xfrm>
          <a:custGeom xmlns:a="http://schemas.openxmlformats.org/drawingml/2006/main">
            <a:rect l="l" t="t" r="r" b="b"/>
            <a:pathLst>
              <a:path w="5447024" h="7717983">
                <a:moveTo>
                  <a:pt x="0" y="0"/>
                </a:moveTo>
                <a:lnTo>
                  <a:pt x="5447024" y="0"/>
                </a:lnTo>
                <a:lnTo>
                  <a:pt x="5447024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0291870cc9434f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I learned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046A7C2-F8BA-45FA-8BD6-A4AC0AC6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" y="1069721"/>
            <a:ext cx="6272784" cy="13600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171"/>
              </a:lnSpc>
              <a:buNone/>
            </a:pPr>
            <a:r>
              <a:rPr sz="7979" b="1" spc="-159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What I learned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03BA658-8612-4279-A892-40BBA87B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2350377"/>
            <a:ext cx="1323474" cy="437279"/>
          </a:xfrm>
          <a:custGeom xmlns:a="http://schemas.openxmlformats.org/drawingml/2006/main"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2b2be30394082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86EE11A-4DE0-4FAE-991E-67D9D16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2995365"/>
            <a:ext cx="7853340" cy="2798589"/>
          </a:xfrm>
          <a:custGeom xmlns:a="http://schemas.openxmlformats.org/drawingml/2006/main">
            <a:rect l="l" t="t" r="r" b="b"/>
            <a:pathLst>
              <a:path w="7853340" h="2798589">
                <a:moveTo>
                  <a:pt x="0" y="0"/>
                </a:moveTo>
                <a:lnTo>
                  <a:pt x="7853340" y="0"/>
                </a:lnTo>
                <a:lnTo>
                  <a:pt x="785334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05a7f01f3f4968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C76DB8-35E1-4138-BC77-9003EE5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2995365"/>
            <a:ext cx="448450" cy="2798589"/>
          </a:xfrm>
          <a:custGeom xmlns:a="http://schemas.openxmlformats.org/drawingml/2006/main">
            <a:rect l="l" t="t" r="r" b="b"/>
            <a:pathLst>
              <a:path w="448450" h="2798589">
                <a:moveTo>
                  <a:pt x="0" y="0"/>
                </a:moveTo>
                <a:lnTo>
                  <a:pt x="448450" y="0"/>
                </a:lnTo>
                <a:lnTo>
                  <a:pt x="44845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b35318588740af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D4230AD-9837-4F86-B93D-2F9EEAF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495632"/>
            <a:ext cx="2011680" cy="440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75"/>
              </a:lnSpc>
              <a:buNone/>
            </a:pPr>
            <a:r>
              <a:rPr sz="2554" b="1" spc="51">
                <a:solidFill>
                  <a:srgbClr val="97E25C"/>
                </a:solidFill>
                <a:latin typeface="Roboto Bold"/>
                <a:ea typeface="Roboto Bold"/>
                <a:cs typeface="Roboto Bold"/>
              </a:rPr>
              <a:t>CHALLENGE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11163FB-7112-4208-AAB1-AFF104E2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121935"/>
            <a:ext cx="6565392" cy="11615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73"/>
              </a:lnSpc>
              <a:buNone/>
            </a:pPr>
            <a:r>
              <a:rPr sz="2858" spc="57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Free shared endpoints are noisy. A live provider call is not a reliable demo.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B2F3A3E-96A9-407D-9783-D41C0EA0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5990729"/>
            <a:ext cx="7853340" cy="3224936"/>
          </a:xfrm>
          <a:custGeom xmlns:a="http://schemas.openxmlformats.org/drawingml/2006/main">
            <a:rect l="l" t="t" r="r" b="b"/>
            <a:pathLst>
              <a:path w="7853340" h="3224936">
                <a:moveTo>
                  <a:pt x="0" y="0"/>
                </a:moveTo>
                <a:lnTo>
                  <a:pt x="7853340" y="0"/>
                </a:lnTo>
                <a:lnTo>
                  <a:pt x="7853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09360b45b24c97"/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90BC200-B99B-4B7F-85E2-1B4B8148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5990729"/>
            <a:ext cx="448450" cy="3224936"/>
          </a:xfrm>
          <a:custGeom xmlns:a="http://schemas.openxmlformats.org/drawingml/2006/main">
            <a:rect l="l" t="t" r="r" b="b"/>
            <a:pathLst>
              <a:path w="448450" h="3224936">
                <a:moveTo>
                  <a:pt x="0" y="0"/>
                </a:moveTo>
                <a:lnTo>
                  <a:pt x="448450" y="0"/>
                </a:lnTo>
                <a:lnTo>
                  <a:pt x="44845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c62b487a218446c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8DDD51-975F-4BF2-92AC-A63F81A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6293696"/>
            <a:ext cx="1737360" cy="440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75"/>
              </a:lnSpc>
              <a:buNone/>
            </a:pPr>
            <a:r>
              <a:rPr sz="2554" b="1" spc="51">
                <a:solidFill>
                  <a:srgbClr val="97E25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DFD29B-D7D3-4331-8F21-E8762AFB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6919225"/>
            <a:ext cx="4754880" cy="2351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29"/>
              </a:lnSpc>
              <a:buNone/>
            </a:pPr>
            <a:r>
              <a:rPr sz="2893" spc="57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Preview locally. Replay saved evidence. Keep real failures visible. Next: learned routing.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621DB21-2E98-4072-9898-B69E8CA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2096" y="7062942"/>
            <a:ext cx="7534656" cy="213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6849"/>
              </a:lnSpc>
              <a:buNone/>
            </a:pPr>
            <a:r>
              <a:rPr sz="12035" b="1" spc="-240">
                <a:solidFill>
                  <a:srgbClr val="97E25C"/>
                </a:solidFill>
                <a:latin typeface="Roboto Bold"/>
                <a:ea typeface="Roboto Bold"/>
                <a:cs typeface="Roboto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32720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2026-10-19T13:43:08.9230000Z</dcterms:created>
  <dcterms:modified xsi:type="dcterms:W3CDTF">2026-10-19T13:43:08.9230000Z</dcterms:modified>
</coreProperties>
</file>