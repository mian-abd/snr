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Checkpoint 2 of the Adaptive LLM Router. Checkpoint 1 built the evidence layer: pinned models, a model registry, a hard context filter, and a saved GSM8K benchmark. Checkpoint 2 adds the routing layer on top of that evidence, and I will show it working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then the live demo: what changed since Checkpoint 1, how the rule-based router decides, the benchmark evidence and results dashboard, and the priority and requirement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follows the same four steps. The hard filter runs first, so a preference can never pick a model that fails a requirement. Then the priority and visible prompt signals choose one pinned model, and the system returns its reason. There is no hidden fallback.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Checkpoint 2 I added a dated three-model paid pool, so each priority has a distinct role. Lower cost goes to Gemma 4 26B, faster response to Mercury 3, higher quality to Gemini 4 Argon. Balanced counts visible prompt signals like math, code, long prompts, and many numbers: no signals uses Gemma, one or two uses Mercury, three or more uses Gemini. The GSM8K row is from the saved benchmark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strategies are compared on saved benchmark results. For Checkpoint 2 I ran the exact same twelve GSM8K questions, prompt, and settings through the paid pool. Gemini got all twelve, Gemma eleven, Mercury ten. Mercury's two misses were empty provider responses, and I kept them as failures. The runner showed a worst-case estimate first and has a one-dollar cap; the whole run cost about two cents. The Checkpoint 1 free-pool evidence is unchanged.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results dashboard. Every strategy picks one saved result per question, so the comparison is controlled and costs nothing to rerun. Cost and quality priorities match the two fixed baselines, as the rules say they should. Balanced got all twelve right, the same as always using Gemini, for about 45 percent less cost and a six-times faster median. Mercury's two failures happened on prompts the rule had already sent to Gemini, which helped, so I present this as evidence for this setup,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prompt, one change. With Lower cost the router previews Gemma; with Higher quality it previews Gemini Argon. With a 500,000-token minimum, Gemma is filtered out first, so even the cost preference cannot choose it and the next-cheapest eligible model, Mercury, is selected. Preview runs the real policy locally and makes no provider call. Twelve fixed acceptance cases check these behaviors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Route screen. Everything my proposal listed for Checkpoint 2 is in the app: the fixed and rule baselines, the priority and context controls, the new paid pool with its 36-cell benchmark matrix, and the results dashboard with the per-prompt view. I will show it live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main lesson was that shared free endpoints make availability, not answer quality, the dominant result. I responded by adding a dated paid pool on the same protocol, keeping every failure visible, and comparing strategies offline. Checkpoint 3 is the learned router on held-out prompts.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C0E"/>
        </a:solidFill>
      </p:bgPr>
    </p:bg>
    <p:spTree>
      <p:nvGrpSpPr>
        <p:cNvPr id="1" name=""/>
        <p:cNvGrpSpPr/>
        <p:nvPr/>
      </p:nvGrpSpPr>
      <p:grpSpPr>
        <a:xfrm>
          <a:off x="0" y="0"/>
          <a:ext cx="0" cy="0"/>
          <a:chOff x="0" y="0"/>
          <a:chExt cx="0" cy="0"/>
        </a:xfrm>
      </p:grpSpPr>
      <p:pic>
        <p:nvPicPr>
          <p:cNvPr id="2" name="Image 0" descr="Circuit board with a chip labeled Adaptive LLM Router">    </p:cNvPr>
          <p:cNvPicPr>
            <a:picLocks noChangeAspect="1"/>
          </p:cNvPicPr>
          <p:nvPr/>
        </p:nvPicPr>
        <p:blipFill>
          <a:blip r:embed="rId1"/>
          <a:stretch>
            <a:fillRect/>
          </a:stretch>
        </p:blipFill>
        <p:spPr>
          <a:xfrm>
            <a:off x="7178040" y="0"/>
            <a:ext cx="11109960" cy="10287000"/>
          </a:xfrm>
          <a:prstGeom prst="rect">
            <a:avLst/>
          </a:prstGeom>
        </p:spPr>
      </p:pic>
      <p:sp>
        <p:nvSpPr>
          <p:cNvPr id="3" name="Text 0"/>
          <p:cNvSpPr txBox="1"/>
          <p:nvPr/>
        </p:nvSpPr>
        <p:spPr>
          <a:xfrm>
            <a:off x="859536" y="1188720"/>
            <a:ext cx="5943600" cy="548640"/>
          </a:xfrm>
          <a:prstGeom prst="rect">
            <a:avLst/>
          </a:prstGeom>
          <a:noFill/>
          <a:ln/>
        </p:spPr>
        <p:txBody>
          <a:bodyPr wrap="square" lIns="0" tIns="0" rIns="0" bIns="0" rtlCol="0" anchor="t"/>
          <a:lstStyle/>
          <a:p>
            <a:pPr indent="0" marL="0">
              <a:buNone/>
            </a:pPr>
            <a:r>
              <a:rPr lang="en-US" sz="2800" b="1" spc="400" kern="0" dirty="0">
                <a:solidFill>
                  <a:srgbClr val="C1FF72"/>
                </a:solidFill>
                <a:latin typeface="Roboto" pitchFamily="34" charset="0"/>
                <a:ea typeface="Roboto" pitchFamily="34" charset="-122"/>
                <a:cs typeface="Roboto" pitchFamily="34" charset="-120"/>
              </a:rPr>
              <a:t>CHECKPOINT 2</a:t>
            </a:r>
            <a:endParaRPr lang="en-US" sz="2800" dirty="0"/>
          </a:p>
        </p:txBody>
      </p:sp>
      <p:sp>
        <p:nvSpPr>
          <p:cNvPr id="4" name="Shape 1"/>
          <p:cNvSpPr/>
          <p:nvPr/>
        </p:nvSpPr>
        <p:spPr>
          <a:xfrm>
            <a:off x="877824" y="1874520"/>
            <a:ext cx="1143000" cy="91440"/>
          </a:xfrm>
          <a:prstGeom prst="rect">
            <a:avLst/>
          </a:prstGeom>
          <a:solidFill>
            <a:srgbClr val="C1FF72"/>
          </a:solidFill>
          <a:ln w="12700">
            <a:solidFill>
              <a:srgbClr val="C1FF72"/>
            </a:solidFill>
            <a:prstDash val="solid"/>
          </a:ln>
        </p:spPr>
      </p:sp>
      <p:sp>
        <p:nvSpPr>
          <p:cNvPr id="5" name="Text 2"/>
          <p:cNvSpPr txBox="1"/>
          <p:nvPr/>
        </p:nvSpPr>
        <p:spPr>
          <a:xfrm>
            <a:off x="859536" y="2240280"/>
            <a:ext cx="6217920" cy="4846320"/>
          </a:xfrm>
          <a:prstGeom prst="rect">
            <a:avLst/>
          </a:prstGeom>
          <a:noFill/>
          <a:ln/>
        </p:spPr>
        <p:txBody>
          <a:bodyPr wrap="square" lIns="0" tIns="0" rIns="0" bIns="0" rtlCol="0" anchor="t"/>
          <a:lstStyle/>
          <a:p>
            <a:pPr indent="0" marL="0">
              <a:lnSpc>
                <a:spcPct val="90000"/>
              </a:lnSpc>
              <a:buNone/>
            </a:pPr>
            <a:r>
              <a:rPr lang="en-US" sz="10000" b="1" dirty="0">
                <a:solidFill>
                  <a:srgbClr val="FFFFFF"/>
                </a:solidFill>
                <a:latin typeface="Roboto" pitchFamily="34" charset="0"/>
                <a:ea typeface="Roboto" pitchFamily="34" charset="-122"/>
                <a:cs typeface="Roboto" pitchFamily="34" charset="-120"/>
              </a:rPr>
              <a:t>Adaptive</a:t>
            </a:r>
            <a:endParaRPr lang="en-US" sz="10000" dirty="0"/>
          </a:p>
          <a:p>
            <a:pPr indent="0" marL="0">
              <a:lnSpc>
                <a:spcPct val="90000"/>
              </a:lnSpc>
              <a:buNone/>
            </a:pPr>
            <a:r>
              <a:rPr lang="en-US" sz="10000" b="1" dirty="0">
                <a:solidFill>
                  <a:srgbClr val="FFFFFF"/>
                </a:solidFill>
                <a:latin typeface="Roboto" pitchFamily="34" charset="0"/>
                <a:ea typeface="Roboto" pitchFamily="34" charset="-122"/>
                <a:cs typeface="Roboto" pitchFamily="34" charset="-120"/>
              </a:rPr>
              <a:t>LLM</a:t>
            </a:r>
            <a:endParaRPr lang="en-US" sz="10000" dirty="0"/>
          </a:p>
          <a:p>
            <a:pPr indent="0" marL="0">
              <a:lnSpc>
                <a:spcPct val="90000"/>
              </a:lnSpc>
              <a:buNone/>
            </a:pPr>
            <a:r>
              <a:rPr lang="en-US" sz="10000" b="1" dirty="0">
                <a:solidFill>
                  <a:srgbClr val="FFFFFF"/>
                </a:solidFill>
                <a:latin typeface="Roboto" pitchFamily="34" charset="0"/>
                <a:ea typeface="Roboto" pitchFamily="34" charset="-122"/>
                <a:cs typeface="Roboto" pitchFamily="34" charset="-120"/>
              </a:rPr>
              <a:t>Router</a:t>
            </a:r>
            <a:endParaRPr lang="en-US" sz="10000" dirty="0"/>
          </a:p>
        </p:txBody>
      </p:sp>
      <p:sp>
        <p:nvSpPr>
          <p:cNvPr id="6" name="Text 3"/>
          <p:cNvSpPr txBox="1"/>
          <p:nvPr/>
        </p:nvSpPr>
        <p:spPr>
          <a:xfrm>
            <a:off x="859536" y="7315200"/>
            <a:ext cx="6035040" cy="2011680"/>
          </a:xfrm>
          <a:prstGeom prst="rect">
            <a:avLst/>
          </a:prstGeom>
          <a:noFill/>
          <a:ln/>
        </p:spPr>
        <p:txBody>
          <a:bodyPr wrap="square" lIns="0" tIns="0" rIns="0" bIns="0" rtlCol="0" anchor="t"/>
          <a:lstStyle/>
          <a:p>
            <a:pPr indent="0" marL="0">
              <a:spcAft>
                <a:spcPts val="800"/>
              </a:spcAft>
              <a:buNone/>
            </a:pPr>
            <a:r>
              <a:rPr lang="en-US" sz="2800" dirty="0">
                <a:solidFill>
                  <a:srgbClr val="FFFFFF"/>
                </a:solidFill>
                <a:latin typeface="Roboto" pitchFamily="34" charset="0"/>
                <a:ea typeface="Roboto" pitchFamily="34" charset="-122"/>
                <a:cs typeface="Roboto" pitchFamily="34" charset="-120"/>
              </a:rPr>
              <a:t>Mian Abdullah</a:t>
            </a:r>
            <a:endParaRPr lang="en-US" sz="2800" dirty="0"/>
          </a:p>
          <a:p>
            <a:pPr indent="0" marL="0">
              <a:spcAft>
                <a:spcPts val="800"/>
              </a:spcAft>
              <a:buNone/>
            </a:pPr>
            <a:r>
              <a:rPr lang="en-US" sz="2800" dirty="0">
                <a:solidFill>
                  <a:srgbClr val="FFFFFF"/>
                </a:solidFill>
                <a:latin typeface="Roboto" pitchFamily="34" charset="0"/>
                <a:ea typeface="Roboto" pitchFamily="34" charset="-122"/>
                <a:cs typeface="Roboto" pitchFamily="34" charset="-120"/>
              </a:rPr>
              <a:t>CSC498: Senior Seminar</a:t>
            </a:r>
            <a:endParaRPr lang="en-US" sz="2800" dirty="0"/>
          </a:p>
          <a:p>
            <a:pPr indent="0" marL="0">
              <a:spcAft>
                <a:spcPts val="800"/>
              </a:spcAft>
              <a:buNone/>
            </a:pPr>
            <a:r>
              <a:rPr lang="en-US" sz="2800" dirty="0">
                <a:solidFill>
                  <a:srgbClr val="FFFFFF"/>
                </a:solidFill>
                <a:latin typeface="Roboto" pitchFamily="34" charset="0"/>
                <a:ea typeface="Roboto" pitchFamily="34" charset="-122"/>
                <a:cs typeface="Roboto" pitchFamily="34" charset="-120"/>
              </a:rPr>
              <a:t>Oct 22, 2026</a:t>
            </a:r>
            <a:endParaRPr lang="en-US" sz="2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C0E"/>
        </a:solidFill>
      </p:bgPr>
    </p:bg>
    <p:spTree>
      <p:nvGrpSpPr>
        <p:cNvPr id="1" name=""/>
        <p:cNvGrpSpPr/>
        <p:nvPr/>
      </p:nvGrpSpPr>
      <p:grpSpPr>
        <a:xfrm>
          <a:off x="0" y="0"/>
          <a:ext cx="0" cy="0"/>
          <a:chOff x="0" y="0"/>
          <a:chExt cx="0" cy="0"/>
        </a:xfrm>
      </p:grpSpPr>
      <p:sp>
        <p:nvSpPr>
          <p:cNvPr id="2" name="Shape 0"/>
          <p:cNvSpPr/>
          <p:nvPr/>
        </p:nvSpPr>
        <p:spPr>
          <a:xfrm>
            <a:off x="0" y="1920240"/>
            <a:ext cx="3931920" cy="8366760"/>
          </a:xfrm>
          <a:prstGeom prst="rtTriangle">
            <a:avLst/>
          </a:prstGeom>
          <a:solidFill>
            <a:srgbClr val="15171A"/>
          </a:solidFill>
          <a:ln w="12700">
            <a:solidFill>
              <a:srgbClr val="15171A"/>
            </a:solidFill>
            <a:prstDash val="solid"/>
          </a:ln>
        </p:spPr>
      </p:sp>
      <p:sp>
        <p:nvSpPr>
          <p:cNvPr id="3" name="Text 1"/>
          <p:cNvSpPr txBox="1"/>
          <p:nvPr/>
        </p:nvSpPr>
        <p:spPr>
          <a:xfrm>
            <a:off x="676656" y="457200"/>
            <a:ext cx="5120640" cy="1234440"/>
          </a:xfrm>
          <a:prstGeom prst="rect">
            <a:avLst/>
          </a:prstGeom>
          <a:noFill/>
          <a:ln/>
        </p:spPr>
        <p:txBody>
          <a:bodyPr wrap="square" lIns="0" tIns="0" rIns="0" bIns="0" rtlCol="0" anchor="ctr"/>
          <a:lstStyle/>
          <a:p>
            <a:pPr indent="0" marL="0">
              <a:buNone/>
            </a:pPr>
            <a:r>
              <a:rPr lang="en-US" sz="8000" b="1" dirty="0">
                <a:solidFill>
                  <a:srgbClr val="FFFFFF"/>
                </a:solidFill>
                <a:latin typeface="Roboto" pitchFamily="34" charset="0"/>
                <a:ea typeface="Roboto" pitchFamily="34" charset="-122"/>
                <a:cs typeface="Roboto" pitchFamily="34" charset="-120"/>
              </a:rPr>
              <a:t>Today</a:t>
            </a:r>
            <a:endParaRPr lang="en-US" sz="8000" dirty="0"/>
          </a:p>
        </p:txBody>
      </p:sp>
      <p:sp>
        <p:nvSpPr>
          <p:cNvPr id="4" name="Shape 2"/>
          <p:cNvSpPr/>
          <p:nvPr/>
        </p:nvSpPr>
        <p:spPr>
          <a:xfrm>
            <a:off x="694944" y="1810512"/>
            <a:ext cx="1143000" cy="91440"/>
          </a:xfrm>
          <a:prstGeom prst="rect">
            <a:avLst/>
          </a:prstGeom>
          <a:solidFill>
            <a:srgbClr val="C1FF72"/>
          </a:solidFill>
          <a:ln w="12700">
            <a:solidFill>
              <a:srgbClr val="C1FF72"/>
            </a:solidFill>
            <a:prstDash val="solid"/>
          </a:ln>
        </p:spPr>
      </p:sp>
      <p:sp>
        <p:nvSpPr>
          <p:cNvPr id="5" name="Shape 3"/>
          <p:cNvSpPr/>
          <p:nvPr/>
        </p:nvSpPr>
        <p:spPr>
          <a:xfrm>
            <a:off x="6035040" y="1600200"/>
            <a:ext cx="0" cy="5760720"/>
          </a:xfrm>
          <a:prstGeom prst="line">
            <a:avLst/>
          </a:prstGeom>
          <a:noFill/>
          <a:ln w="31750">
            <a:solidFill>
              <a:srgbClr val="C1FF72"/>
            </a:solidFill>
            <a:prstDash val="solid"/>
          </a:ln>
        </p:spPr>
      </p:sp>
      <p:sp>
        <p:nvSpPr>
          <p:cNvPr id="6" name="Shape 4"/>
          <p:cNvSpPr/>
          <p:nvPr/>
        </p:nvSpPr>
        <p:spPr>
          <a:xfrm>
            <a:off x="6035040" y="1600200"/>
            <a:ext cx="713232" cy="0"/>
          </a:xfrm>
          <a:prstGeom prst="line">
            <a:avLst/>
          </a:prstGeom>
          <a:noFill/>
          <a:ln w="31750">
            <a:solidFill>
              <a:srgbClr val="C1FF72"/>
            </a:solidFill>
            <a:prstDash val="solid"/>
          </a:ln>
        </p:spPr>
      </p:sp>
      <p:sp>
        <p:nvSpPr>
          <p:cNvPr id="7" name="Shape 5"/>
          <p:cNvSpPr/>
          <p:nvPr/>
        </p:nvSpPr>
        <p:spPr>
          <a:xfrm>
            <a:off x="6748272" y="731520"/>
            <a:ext cx="10881360" cy="1737360"/>
          </a:xfrm>
          <a:prstGeom prst="roundRect">
            <a:avLst>
              <a:gd name="adj" fmla="val 6316"/>
            </a:avLst>
          </a:prstGeom>
          <a:solidFill>
            <a:srgbClr val="111316"/>
          </a:solidFill>
          <a:ln w="15875">
            <a:solidFill>
              <a:srgbClr val="2B2F33"/>
            </a:solidFill>
            <a:prstDash val="solid"/>
          </a:ln>
        </p:spPr>
      </p:sp>
      <p:sp>
        <p:nvSpPr>
          <p:cNvPr id="8" name="Text 6"/>
          <p:cNvSpPr txBox="1"/>
          <p:nvPr/>
        </p:nvSpPr>
        <p:spPr>
          <a:xfrm>
            <a:off x="7406640" y="73152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01</a:t>
            </a:r>
            <a:endParaRPr lang="en-US" sz="7200" dirty="0"/>
          </a:p>
        </p:txBody>
      </p:sp>
      <p:sp>
        <p:nvSpPr>
          <p:cNvPr id="9" name="Text 7"/>
          <p:cNvSpPr txBox="1"/>
          <p:nvPr/>
        </p:nvSpPr>
        <p:spPr>
          <a:xfrm>
            <a:off x="9418320" y="73152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What changed</a:t>
            </a:r>
            <a:endParaRPr lang="en-US" sz="3200" dirty="0"/>
          </a:p>
        </p:txBody>
      </p:sp>
      <p:sp>
        <p:nvSpPr>
          <p:cNvPr id="10" name="Shape 8"/>
          <p:cNvSpPr/>
          <p:nvPr/>
        </p:nvSpPr>
        <p:spPr>
          <a:xfrm>
            <a:off x="6035040" y="3520440"/>
            <a:ext cx="713232" cy="0"/>
          </a:xfrm>
          <a:prstGeom prst="line">
            <a:avLst/>
          </a:prstGeom>
          <a:noFill/>
          <a:ln w="31750">
            <a:solidFill>
              <a:srgbClr val="C1FF72"/>
            </a:solidFill>
            <a:prstDash val="solid"/>
          </a:ln>
        </p:spPr>
      </p:sp>
      <p:sp>
        <p:nvSpPr>
          <p:cNvPr id="11" name="Shape 9"/>
          <p:cNvSpPr/>
          <p:nvPr/>
        </p:nvSpPr>
        <p:spPr>
          <a:xfrm>
            <a:off x="6748272" y="2651760"/>
            <a:ext cx="10881360" cy="1737360"/>
          </a:xfrm>
          <a:prstGeom prst="roundRect">
            <a:avLst>
              <a:gd name="adj" fmla="val 6316"/>
            </a:avLst>
          </a:prstGeom>
          <a:solidFill>
            <a:srgbClr val="111316"/>
          </a:solidFill>
          <a:ln w="15875">
            <a:solidFill>
              <a:srgbClr val="2B2F33"/>
            </a:solidFill>
            <a:prstDash val="solid"/>
          </a:ln>
        </p:spPr>
      </p:sp>
      <p:sp>
        <p:nvSpPr>
          <p:cNvPr id="12" name="Text 10"/>
          <p:cNvSpPr txBox="1"/>
          <p:nvPr/>
        </p:nvSpPr>
        <p:spPr>
          <a:xfrm>
            <a:off x="7406640" y="265176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02</a:t>
            </a:r>
            <a:endParaRPr lang="en-US" sz="7200" dirty="0"/>
          </a:p>
        </p:txBody>
      </p:sp>
      <p:sp>
        <p:nvSpPr>
          <p:cNvPr id="13" name="Text 11"/>
          <p:cNvSpPr txBox="1"/>
          <p:nvPr/>
        </p:nvSpPr>
        <p:spPr>
          <a:xfrm>
            <a:off x="9418320" y="265176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Rule-based routing</a:t>
            </a:r>
            <a:endParaRPr lang="en-US" sz="3200" dirty="0"/>
          </a:p>
        </p:txBody>
      </p:sp>
      <p:sp>
        <p:nvSpPr>
          <p:cNvPr id="14" name="Shape 12"/>
          <p:cNvSpPr/>
          <p:nvPr/>
        </p:nvSpPr>
        <p:spPr>
          <a:xfrm>
            <a:off x="6035040" y="5440680"/>
            <a:ext cx="713232" cy="0"/>
          </a:xfrm>
          <a:prstGeom prst="line">
            <a:avLst/>
          </a:prstGeom>
          <a:noFill/>
          <a:ln w="31750">
            <a:solidFill>
              <a:srgbClr val="C1FF72"/>
            </a:solidFill>
            <a:prstDash val="solid"/>
          </a:ln>
        </p:spPr>
      </p:sp>
      <p:sp>
        <p:nvSpPr>
          <p:cNvPr id="15" name="Shape 13"/>
          <p:cNvSpPr/>
          <p:nvPr/>
        </p:nvSpPr>
        <p:spPr>
          <a:xfrm>
            <a:off x="6748272" y="4572000"/>
            <a:ext cx="10881360" cy="1737360"/>
          </a:xfrm>
          <a:prstGeom prst="roundRect">
            <a:avLst>
              <a:gd name="adj" fmla="val 6316"/>
            </a:avLst>
          </a:prstGeom>
          <a:solidFill>
            <a:srgbClr val="111316"/>
          </a:solidFill>
          <a:ln w="15875">
            <a:solidFill>
              <a:srgbClr val="2B2F33"/>
            </a:solidFill>
            <a:prstDash val="solid"/>
          </a:ln>
        </p:spPr>
      </p:sp>
      <p:sp>
        <p:nvSpPr>
          <p:cNvPr id="16" name="Text 14"/>
          <p:cNvSpPr txBox="1"/>
          <p:nvPr/>
        </p:nvSpPr>
        <p:spPr>
          <a:xfrm>
            <a:off x="7406640" y="457200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03</a:t>
            </a:r>
            <a:endParaRPr lang="en-US" sz="7200" dirty="0"/>
          </a:p>
        </p:txBody>
      </p:sp>
      <p:sp>
        <p:nvSpPr>
          <p:cNvPr id="17" name="Text 15"/>
          <p:cNvSpPr txBox="1"/>
          <p:nvPr/>
        </p:nvSpPr>
        <p:spPr>
          <a:xfrm>
            <a:off x="9418320" y="457200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Benchmark evidence + dashboard</a:t>
            </a:r>
            <a:endParaRPr lang="en-US" sz="3200" dirty="0"/>
          </a:p>
        </p:txBody>
      </p:sp>
      <p:sp>
        <p:nvSpPr>
          <p:cNvPr id="18" name="Shape 16"/>
          <p:cNvSpPr/>
          <p:nvPr/>
        </p:nvSpPr>
        <p:spPr>
          <a:xfrm>
            <a:off x="6035040" y="7360920"/>
            <a:ext cx="713232" cy="0"/>
          </a:xfrm>
          <a:prstGeom prst="line">
            <a:avLst/>
          </a:prstGeom>
          <a:noFill/>
          <a:ln w="31750">
            <a:solidFill>
              <a:srgbClr val="C1FF72"/>
            </a:solidFill>
            <a:prstDash val="solid"/>
          </a:ln>
        </p:spPr>
      </p:sp>
      <p:sp>
        <p:nvSpPr>
          <p:cNvPr id="19" name="Shape 17"/>
          <p:cNvSpPr/>
          <p:nvPr/>
        </p:nvSpPr>
        <p:spPr>
          <a:xfrm>
            <a:off x="6748272" y="6492240"/>
            <a:ext cx="10881360" cy="1737360"/>
          </a:xfrm>
          <a:prstGeom prst="roundRect">
            <a:avLst>
              <a:gd name="adj" fmla="val 6316"/>
            </a:avLst>
          </a:prstGeom>
          <a:solidFill>
            <a:srgbClr val="111316"/>
          </a:solidFill>
          <a:ln w="15875">
            <a:solidFill>
              <a:srgbClr val="2B2F33"/>
            </a:solidFill>
            <a:prstDash val="solid"/>
          </a:ln>
        </p:spPr>
      </p:sp>
      <p:sp>
        <p:nvSpPr>
          <p:cNvPr id="20" name="Text 18"/>
          <p:cNvSpPr txBox="1"/>
          <p:nvPr/>
        </p:nvSpPr>
        <p:spPr>
          <a:xfrm>
            <a:off x="7406640" y="6492240"/>
            <a:ext cx="1737360" cy="1737360"/>
          </a:xfrm>
          <a:prstGeom prst="rect">
            <a:avLst/>
          </a:prstGeom>
          <a:noFill/>
          <a:ln/>
        </p:spPr>
        <p:txBody>
          <a:bodyPr wrap="square" lIns="0" tIns="0" rIns="0" bIns="0" rtlCol="0" anchor="ctr"/>
          <a:lstStyle/>
          <a:p>
            <a:pPr indent="0" marL="0">
              <a:buNone/>
            </a:pPr>
            <a:r>
              <a:rPr lang="en-US" sz="7200" b="1" dirty="0">
                <a:solidFill>
                  <a:srgbClr val="C1FF72"/>
                </a:solidFill>
                <a:latin typeface="Roboto" pitchFamily="34" charset="0"/>
                <a:ea typeface="Roboto" pitchFamily="34" charset="-122"/>
                <a:cs typeface="Roboto" pitchFamily="34" charset="-120"/>
              </a:rPr>
              <a:t>04</a:t>
            </a:r>
            <a:endParaRPr lang="en-US" sz="7200" dirty="0"/>
          </a:p>
        </p:txBody>
      </p:sp>
      <p:sp>
        <p:nvSpPr>
          <p:cNvPr id="21" name="Text 19"/>
          <p:cNvSpPr txBox="1"/>
          <p:nvPr/>
        </p:nvSpPr>
        <p:spPr>
          <a:xfrm>
            <a:off x="9418320" y="6492240"/>
            <a:ext cx="7863840" cy="1737360"/>
          </a:xfrm>
          <a:prstGeom prst="rect">
            <a:avLst/>
          </a:prstGeom>
          <a:noFill/>
          <a:ln/>
        </p:spPr>
        <p:txBody>
          <a:bodyPr wrap="square" lIns="0" tIns="0" rIns="0" bIns="0" rtlCol="0" anchor="ctr"/>
          <a:lstStyle/>
          <a:p>
            <a:pPr indent="0" marL="0">
              <a:buNone/>
            </a:pPr>
            <a:r>
              <a:rPr lang="en-US" sz="3200" dirty="0">
                <a:solidFill>
                  <a:srgbClr val="FFFFFF"/>
                </a:solidFill>
                <a:latin typeface="Roboto" pitchFamily="34" charset="0"/>
                <a:ea typeface="Roboto" pitchFamily="34" charset="-122"/>
                <a:cs typeface="Roboto" pitchFamily="34" charset="-120"/>
              </a:rPr>
              <a:t>Priority + requirement tests</a:t>
            </a:r>
            <a:endParaRPr lang="en-US" sz="3200" dirty="0"/>
          </a:p>
        </p:txBody>
      </p:sp>
      <p:sp>
        <p:nvSpPr>
          <p:cNvPr id="22" name="Shape 20"/>
          <p:cNvSpPr/>
          <p:nvPr/>
        </p:nvSpPr>
        <p:spPr>
          <a:xfrm>
            <a:off x="3474720" y="8549640"/>
            <a:ext cx="14154912" cy="1051560"/>
          </a:xfrm>
          <a:prstGeom prst="roundRect">
            <a:avLst>
              <a:gd name="adj" fmla="val 10435"/>
            </a:avLst>
          </a:prstGeom>
          <a:solidFill>
            <a:srgbClr val="111316"/>
          </a:solidFill>
          <a:ln w="15875">
            <a:solidFill>
              <a:srgbClr val="2B2F33"/>
            </a:solidFill>
            <a:prstDash val="solid"/>
          </a:ln>
        </p:spPr>
      </p:sp>
      <p:sp>
        <p:nvSpPr>
          <p:cNvPr id="23" name="Text 21"/>
          <p:cNvSpPr txBox="1"/>
          <p:nvPr/>
        </p:nvSpPr>
        <p:spPr>
          <a:xfrm>
            <a:off x="4114800" y="8549640"/>
            <a:ext cx="1371600" cy="1051560"/>
          </a:xfrm>
          <a:prstGeom prst="rect">
            <a:avLst/>
          </a:prstGeom>
          <a:noFill/>
          <a:ln/>
        </p:spPr>
        <p:txBody>
          <a:bodyPr wrap="square" lIns="0" tIns="0" rIns="0" bIns="0" rtlCol="0" anchor="ctr"/>
          <a:lstStyle/>
          <a:p>
            <a:pPr indent="0" marL="0">
              <a:buNone/>
            </a:pPr>
            <a:r>
              <a:rPr lang="en-US" sz="2800" dirty="0">
                <a:solidFill>
                  <a:srgbClr val="C1FF72"/>
                </a:solidFill>
                <a:latin typeface="Roboto" pitchFamily="34" charset="0"/>
                <a:ea typeface="Roboto" pitchFamily="34" charset="-122"/>
                <a:cs typeface="Roboto" pitchFamily="34" charset="-120"/>
              </a:rPr>
              <a:t>Then:</a:t>
            </a:r>
            <a:endParaRPr lang="en-US" sz="2800" dirty="0"/>
          </a:p>
        </p:txBody>
      </p:sp>
      <p:sp>
        <p:nvSpPr>
          <p:cNvPr id="24" name="Text 22"/>
          <p:cNvSpPr txBox="1"/>
          <p:nvPr/>
        </p:nvSpPr>
        <p:spPr>
          <a:xfrm>
            <a:off x="5577840" y="8549640"/>
            <a:ext cx="5486400" cy="1051560"/>
          </a:xfrm>
          <a:prstGeom prst="rect">
            <a:avLst/>
          </a:prstGeom>
          <a:noFill/>
          <a:ln/>
        </p:spPr>
        <p:txBody>
          <a:bodyPr wrap="square" lIns="0" tIns="0" rIns="0" bIns="0" rtlCol="0" anchor="ctr"/>
          <a:lstStyle/>
          <a:p>
            <a:pPr indent="0" marL="0">
              <a:buNone/>
            </a:pPr>
            <a:r>
              <a:rPr lang="en-US" sz="2800" dirty="0">
                <a:solidFill>
                  <a:srgbClr val="FFFFFF"/>
                </a:solidFill>
                <a:latin typeface="Roboto" pitchFamily="34" charset="0"/>
                <a:ea typeface="Roboto" pitchFamily="34" charset="-122"/>
                <a:cs typeface="Roboto" pitchFamily="34" charset="-120"/>
              </a:rPr>
              <a:t>live demo</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Evidence → decision</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240280"/>
            <a:ext cx="16916400" cy="731520"/>
          </a:xfrm>
          <a:prstGeom prst="rect">
            <a:avLst/>
          </a:prstGeom>
          <a:noFill/>
          <a:ln/>
        </p:spPr>
        <p:txBody>
          <a:bodyPr wrap="square" lIns="0" tIns="0" rIns="0" bIns="0" rtlCol="0" anchor="t"/>
          <a:lstStyle/>
          <a:p>
            <a:pPr indent="0" marL="0">
              <a:buNone/>
            </a:pPr>
            <a:r>
              <a:rPr lang="en-US" sz="3000" dirty="0">
                <a:solidFill>
                  <a:srgbClr val="FFFFFF"/>
                </a:solidFill>
                <a:latin typeface="Roboto" pitchFamily="34" charset="0"/>
                <a:ea typeface="Roboto" pitchFamily="34" charset="-122"/>
                <a:cs typeface="Roboto" pitchFamily="34" charset="-120"/>
              </a:rPr>
              <a:t>Checkpoint 2 adds transparent routing on top of the Checkpoint 1 evidence layer.</a:t>
            </a:r>
            <a:endParaRPr lang="en-US" sz="3000" dirty="0"/>
          </a:p>
        </p:txBody>
      </p:sp>
      <p:sp>
        <p:nvSpPr>
          <p:cNvPr id="5" name="Shape 3"/>
          <p:cNvSpPr/>
          <p:nvPr/>
        </p:nvSpPr>
        <p:spPr>
          <a:xfrm>
            <a:off x="649224" y="3931920"/>
            <a:ext cx="3291840" cy="2377440"/>
          </a:xfrm>
          <a:prstGeom prst="roundRect">
            <a:avLst>
              <a:gd name="adj" fmla="val 4615"/>
            </a:avLst>
          </a:prstGeom>
          <a:solidFill>
            <a:srgbClr val="111316"/>
          </a:solidFill>
          <a:ln w="15875">
            <a:solidFill>
              <a:srgbClr val="2B2F33"/>
            </a:solidFill>
            <a:prstDash val="solid"/>
          </a:ln>
        </p:spPr>
      </p:sp>
      <p:sp>
        <p:nvSpPr>
          <p:cNvPr id="6" name="Text 4"/>
          <p:cNvSpPr txBox="1"/>
          <p:nvPr/>
        </p:nvSpPr>
        <p:spPr>
          <a:xfrm>
            <a:off x="649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01</a:t>
            </a:r>
            <a:endParaRPr lang="en-US" sz="4400" dirty="0"/>
          </a:p>
        </p:txBody>
      </p:sp>
      <p:sp>
        <p:nvSpPr>
          <p:cNvPr id="7" name="Text 5"/>
          <p:cNvSpPr txBox="1"/>
          <p:nvPr/>
        </p:nvSpPr>
        <p:spPr>
          <a:xfrm>
            <a:off x="649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Prompt</a:t>
            </a:r>
            <a:endParaRPr lang="en-US" sz="2600" dirty="0"/>
          </a:p>
        </p:txBody>
      </p:sp>
      <p:sp>
        <p:nvSpPr>
          <p:cNvPr id="8" name="Shape 6"/>
          <p:cNvSpPr/>
          <p:nvPr/>
        </p:nvSpPr>
        <p:spPr>
          <a:xfrm>
            <a:off x="1636776" y="5760720"/>
            <a:ext cx="1316736" cy="64008"/>
          </a:xfrm>
          <a:prstGeom prst="rect">
            <a:avLst/>
          </a:prstGeom>
          <a:solidFill>
            <a:srgbClr val="7ED957"/>
          </a:solidFill>
          <a:ln w="12700">
            <a:solidFill>
              <a:srgbClr val="7ED957"/>
            </a:solidFill>
            <a:prstDash val="solid"/>
          </a:ln>
        </p:spPr>
      </p:sp>
      <p:sp>
        <p:nvSpPr>
          <p:cNvPr id="9" name="Text 7"/>
          <p:cNvSpPr txBox="1"/>
          <p:nvPr/>
        </p:nvSpPr>
        <p:spPr>
          <a:xfrm>
            <a:off x="374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text + priority</a:t>
            </a:r>
            <a:endParaRPr lang="en-US" sz="2000" dirty="0"/>
          </a:p>
        </p:txBody>
      </p:sp>
      <p:sp>
        <p:nvSpPr>
          <p:cNvPr id="10" name="Shape 8"/>
          <p:cNvSpPr/>
          <p:nvPr/>
        </p:nvSpPr>
        <p:spPr>
          <a:xfrm>
            <a:off x="4078224" y="5120640"/>
            <a:ext cx="1005840" cy="0"/>
          </a:xfrm>
          <a:prstGeom prst="line">
            <a:avLst/>
          </a:prstGeom>
          <a:noFill/>
          <a:ln w="31750">
            <a:solidFill>
              <a:srgbClr val="7ED957"/>
            </a:solidFill>
            <a:prstDash val="solid"/>
            <a:tailEnd type="triangle"/>
          </a:ln>
        </p:spPr>
      </p:sp>
      <p:sp>
        <p:nvSpPr>
          <p:cNvPr id="11" name="Shape 9"/>
          <p:cNvSpPr/>
          <p:nvPr/>
        </p:nvSpPr>
        <p:spPr>
          <a:xfrm>
            <a:off x="5221224" y="3931920"/>
            <a:ext cx="3291840" cy="2377440"/>
          </a:xfrm>
          <a:prstGeom prst="roundRect">
            <a:avLst>
              <a:gd name="adj" fmla="val 4615"/>
            </a:avLst>
          </a:prstGeom>
          <a:solidFill>
            <a:srgbClr val="111316"/>
          </a:solidFill>
          <a:ln w="15875">
            <a:solidFill>
              <a:srgbClr val="2B2F33"/>
            </a:solidFill>
            <a:prstDash val="solid"/>
          </a:ln>
        </p:spPr>
      </p:sp>
      <p:sp>
        <p:nvSpPr>
          <p:cNvPr id="12" name="Text 10"/>
          <p:cNvSpPr txBox="1"/>
          <p:nvPr/>
        </p:nvSpPr>
        <p:spPr>
          <a:xfrm>
            <a:off x="5221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02</a:t>
            </a:r>
            <a:endParaRPr lang="en-US" sz="4400" dirty="0"/>
          </a:p>
        </p:txBody>
      </p:sp>
      <p:sp>
        <p:nvSpPr>
          <p:cNvPr id="13" name="Text 11"/>
          <p:cNvSpPr txBox="1"/>
          <p:nvPr/>
        </p:nvSpPr>
        <p:spPr>
          <a:xfrm>
            <a:off x="5221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Filters</a:t>
            </a:r>
            <a:endParaRPr lang="en-US" sz="2600" dirty="0"/>
          </a:p>
        </p:txBody>
      </p:sp>
      <p:sp>
        <p:nvSpPr>
          <p:cNvPr id="14" name="Shape 12"/>
          <p:cNvSpPr/>
          <p:nvPr/>
        </p:nvSpPr>
        <p:spPr>
          <a:xfrm>
            <a:off x="6208776" y="5760720"/>
            <a:ext cx="1316736" cy="64008"/>
          </a:xfrm>
          <a:prstGeom prst="rect">
            <a:avLst/>
          </a:prstGeom>
          <a:solidFill>
            <a:srgbClr val="7ED957"/>
          </a:solidFill>
          <a:ln w="12700">
            <a:solidFill>
              <a:srgbClr val="7ED957"/>
            </a:solidFill>
            <a:prstDash val="solid"/>
          </a:ln>
        </p:spPr>
      </p:sp>
      <p:sp>
        <p:nvSpPr>
          <p:cNvPr id="15" name="Text 13"/>
          <p:cNvSpPr txBox="1"/>
          <p:nvPr/>
        </p:nvSpPr>
        <p:spPr>
          <a:xfrm>
            <a:off x="4946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hard requirements</a:t>
            </a:r>
            <a:endParaRPr lang="en-US" sz="2000" dirty="0"/>
          </a:p>
        </p:txBody>
      </p:sp>
      <p:sp>
        <p:nvSpPr>
          <p:cNvPr id="16" name="Shape 14"/>
          <p:cNvSpPr/>
          <p:nvPr/>
        </p:nvSpPr>
        <p:spPr>
          <a:xfrm>
            <a:off x="8650224" y="5120640"/>
            <a:ext cx="1005840" cy="0"/>
          </a:xfrm>
          <a:prstGeom prst="line">
            <a:avLst/>
          </a:prstGeom>
          <a:noFill/>
          <a:ln w="31750">
            <a:solidFill>
              <a:srgbClr val="7ED957"/>
            </a:solidFill>
            <a:prstDash val="solid"/>
            <a:tailEnd type="triangle"/>
          </a:ln>
        </p:spPr>
      </p:sp>
      <p:sp>
        <p:nvSpPr>
          <p:cNvPr id="17" name="Shape 15"/>
          <p:cNvSpPr/>
          <p:nvPr/>
        </p:nvSpPr>
        <p:spPr>
          <a:xfrm>
            <a:off x="9793224" y="3931920"/>
            <a:ext cx="3291840" cy="2377440"/>
          </a:xfrm>
          <a:prstGeom prst="roundRect">
            <a:avLst>
              <a:gd name="adj" fmla="val 4615"/>
            </a:avLst>
          </a:prstGeom>
          <a:solidFill>
            <a:srgbClr val="111316"/>
          </a:solidFill>
          <a:ln w="15875">
            <a:solidFill>
              <a:srgbClr val="2B2F33"/>
            </a:solidFill>
            <a:prstDash val="solid"/>
          </a:ln>
        </p:spPr>
      </p:sp>
      <p:sp>
        <p:nvSpPr>
          <p:cNvPr id="18" name="Text 16"/>
          <p:cNvSpPr txBox="1"/>
          <p:nvPr/>
        </p:nvSpPr>
        <p:spPr>
          <a:xfrm>
            <a:off x="9793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03</a:t>
            </a:r>
            <a:endParaRPr lang="en-US" sz="4400" dirty="0"/>
          </a:p>
        </p:txBody>
      </p:sp>
      <p:sp>
        <p:nvSpPr>
          <p:cNvPr id="19" name="Text 17"/>
          <p:cNvSpPr txBox="1"/>
          <p:nvPr/>
        </p:nvSpPr>
        <p:spPr>
          <a:xfrm>
            <a:off x="9793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Rule</a:t>
            </a:r>
            <a:endParaRPr lang="en-US" sz="2600" dirty="0"/>
          </a:p>
        </p:txBody>
      </p:sp>
      <p:sp>
        <p:nvSpPr>
          <p:cNvPr id="20" name="Shape 18"/>
          <p:cNvSpPr/>
          <p:nvPr/>
        </p:nvSpPr>
        <p:spPr>
          <a:xfrm>
            <a:off x="10780776" y="5760720"/>
            <a:ext cx="1316736" cy="64008"/>
          </a:xfrm>
          <a:prstGeom prst="rect">
            <a:avLst/>
          </a:prstGeom>
          <a:solidFill>
            <a:srgbClr val="7ED957"/>
          </a:solidFill>
          <a:ln w="12700">
            <a:solidFill>
              <a:srgbClr val="7ED957"/>
            </a:solidFill>
            <a:prstDash val="solid"/>
          </a:ln>
        </p:spPr>
      </p:sp>
      <p:sp>
        <p:nvSpPr>
          <p:cNvPr id="21" name="Text 19"/>
          <p:cNvSpPr txBox="1"/>
          <p:nvPr/>
        </p:nvSpPr>
        <p:spPr>
          <a:xfrm>
            <a:off x="9518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priority + signals</a:t>
            </a:r>
            <a:endParaRPr lang="en-US" sz="2000" dirty="0"/>
          </a:p>
        </p:txBody>
      </p:sp>
      <p:sp>
        <p:nvSpPr>
          <p:cNvPr id="22" name="Shape 20"/>
          <p:cNvSpPr/>
          <p:nvPr/>
        </p:nvSpPr>
        <p:spPr>
          <a:xfrm>
            <a:off x="13222224" y="5120640"/>
            <a:ext cx="1005840" cy="0"/>
          </a:xfrm>
          <a:prstGeom prst="line">
            <a:avLst/>
          </a:prstGeom>
          <a:noFill/>
          <a:ln w="31750">
            <a:solidFill>
              <a:srgbClr val="7ED957"/>
            </a:solidFill>
            <a:prstDash val="solid"/>
            <a:tailEnd type="triangle"/>
          </a:ln>
        </p:spPr>
      </p:sp>
      <p:sp>
        <p:nvSpPr>
          <p:cNvPr id="23" name="Shape 21"/>
          <p:cNvSpPr/>
          <p:nvPr/>
        </p:nvSpPr>
        <p:spPr>
          <a:xfrm>
            <a:off x="14365224" y="3931920"/>
            <a:ext cx="3291840" cy="2377440"/>
          </a:xfrm>
          <a:prstGeom prst="roundRect">
            <a:avLst>
              <a:gd name="adj" fmla="val 4615"/>
            </a:avLst>
          </a:prstGeom>
          <a:solidFill>
            <a:srgbClr val="111316"/>
          </a:solidFill>
          <a:ln w="15875">
            <a:solidFill>
              <a:srgbClr val="2B2F33"/>
            </a:solidFill>
            <a:prstDash val="solid"/>
          </a:ln>
        </p:spPr>
      </p:sp>
      <p:sp>
        <p:nvSpPr>
          <p:cNvPr id="24" name="Text 22"/>
          <p:cNvSpPr txBox="1"/>
          <p:nvPr/>
        </p:nvSpPr>
        <p:spPr>
          <a:xfrm>
            <a:off x="14365224" y="4224528"/>
            <a:ext cx="3291840" cy="777240"/>
          </a:xfrm>
          <a:prstGeom prst="rect">
            <a:avLst/>
          </a:prstGeom>
          <a:noFill/>
          <a:ln/>
        </p:spPr>
        <p:txBody>
          <a:bodyPr wrap="square" lIns="0" tIns="0" rIns="0" bIns="0" rtlCol="0" anchor="ctr"/>
          <a:lstStyle/>
          <a:p>
            <a:pPr algn="ctr" indent="0" marL="0">
              <a:buNone/>
            </a:pPr>
            <a:r>
              <a:rPr lang="en-US" sz="4400" b="1" dirty="0">
                <a:solidFill>
                  <a:srgbClr val="7ED957"/>
                </a:solidFill>
                <a:latin typeface="Roboto" pitchFamily="34" charset="0"/>
                <a:ea typeface="Roboto" pitchFamily="34" charset="-122"/>
                <a:cs typeface="Roboto" pitchFamily="34" charset="-120"/>
              </a:rPr>
              <a:t>04</a:t>
            </a:r>
            <a:endParaRPr lang="en-US" sz="4400" dirty="0"/>
          </a:p>
        </p:txBody>
      </p:sp>
      <p:sp>
        <p:nvSpPr>
          <p:cNvPr id="25" name="Text 23"/>
          <p:cNvSpPr txBox="1"/>
          <p:nvPr/>
        </p:nvSpPr>
        <p:spPr>
          <a:xfrm>
            <a:off x="14365224" y="5029200"/>
            <a:ext cx="3291840" cy="548640"/>
          </a:xfrm>
          <a:prstGeom prst="rect">
            <a:avLst/>
          </a:prstGeom>
          <a:noFill/>
          <a:ln/>
        </p:spPr>
        <p:txBody>
          <a:bodyPr wrap="square" lIns="0" tIns="0" rIns="0" bIns="0" rtlCol="0" anchor="ctr"/>
          <a:lstStyle/>
          <a:p>
            <a:pPr algn="ctr" indent="0" marL="0">
              <a:buNone/>
            </a:pPr>
            <a:r>
              <a:rPr lang="en-US" sz="2600" dirty="0">
                <a:solidFill>
                  <a:srgbClr val="FFFFFF"/>
                </a:solidFill>
                <a:latin typeface="Roboto" pitchFamily="34" charset="0"/>
                <a:ea typeface="Roboto" pitchFamily="34" charset="-122"/>
                <a:cs typeface="Roboto" pitchFamily="34" charset="-120"/>
              </a:rPr>
              <a:t>Model</a:t>
            </a:r>
            <a:endParaRPr lang="en-US" sz="2600" dirty="0"/>
          </a:p>
        </p:txBody>
      </p:sp>
      <p:sp>
        <p:nvSpPr>
          <p:cNvPr id="26" name="Shape 24"/>
          <p:cNvSpPr/>
          <p:nvPr/>
        </p:nvSpPr>
        <p:spPr>
          <a:xfrm>
            <a:off x="15352776" y="5760720"/>
            <a:ext cx="1316736" cy="64008"/>
          </a:xfrm>
          <a:prstGeom prst="rect">
            <a:avLst/>
          </a:prstGeom>
          <a:solidFill>
            <a:srgbClr val="7ED957"/>
          </a:solidFill>
          <a:ln w="12700">
            <a:solidFill>
              <a:srgbClr val="7ED957"/>
            </a:solidFill>
            <a:prstDash val="solid"/>
          </a:ln>
        </p:spPr>
      </p:sp>
      <p:sp>
        <p:nvSpPr>
          <p:cNvPr id="27" name="Text 25"/>
          <p:cNvSpPr txBox="1"/>
          <p:nvPr/>
        </p:nvSpPr>
        <p:spPr>
          <a:xfrm>
            <a:off x="14090904" y="6492240"/>
            <a:ext cx="3840480" cy="45720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one model + reason</a:t>
            </a:r>
            <a:endParaRPr lang="en-US" sz="2000" dirty="0"/>
          </a:p>
        </p:txBody>
      </p:sp>
      <p:sp>
        <p:nvSpPr>
          <p:cNvPr id="28" name="Shape 26"/>
          <p:cNvSpPr/>
          <p:nvPr/>
        </p:nvSpPr>
        <p:spPr>
          <a:xfrm>
            <a:off x="649224" y="7406640"/>
            <a:ext cx="17007840" cy="2011680"/>
          </a:xfrm>
          <a:prstGeom prst="roundRect">
            <a:avLst>
              <a:gd name="adj" fmla="val 5455"/>
            </a:avLst>
          </a:prstGeom>
          <a:solidFill>
            <a:srgbClr val="111316"/>
          </a:solidFill>
          <a:ln w="15875">
            <a:solidFill>
              <a:srgbClr val="2B2F33"/>
            </a:solidFill>
            <a:prstDash val="solid"/>
          </a:ln>
        </p:spPr>
      </p:sp>
      <p:sp>
        <p:nvSpPr>
          <p:cNvPr id="29" name="Shape 27"/>
          <p:cNvSpPr/>
          <p:nvPr/>
        </p:nvSpPr>
        <p:spPr>
          <a:xfrm>
            <a:off x="713232" y="7635240"/>
            <a:ext cx="91440" cy="1554480"/>
          </a:xfrm>
          <a:prstGeom prst="rect">
            <a:avLst/>
          </a:prstGeom>
          <a:solidFill>
            <a:srgbClr val="7ED957"/>
          </a:solidFill>
          <a:ln w="12700">
            <a:solidFill>
              <a:srgbClr val="7ED957"/>
            </a:solidFill>
            <a:prstDash val="solid"/>
          </a:ln>
        </p:spPr>
      </p:sp>
      <p:sp>
        <p:nvSpPr>
          <p:cNvPr id="30" name="Text 28"/>
          <p:cNvSpPr txBox="1"/>
          <p:nvPr/>
        </p:nvSpPr>
        <p:spPr>
          <a:xfrm>
            <a:off x="1371600" y="7406640"/>
            <a:ext cx="15910560" cy="2011680"/>
          </a:xfrm>
          <a:prstGeom prst="rect">
            <a:avLst/>
          </a:prstGeom>
          <a:noFill/>
          <a:ln/>
        </p:spPr>
        <p:txBody>
          <a:bodyPr wrap="square" lIns="0" tIns="0" rIns="0" bIns="0" rtlCol="0" anchor="ctr"/>
          <a:lstStyle/>
          <a:p>
            <a:pPr indent="0" marL="0">
              <a:spcAft>
                <a:spcPts val="1000"/>
              </a:spcAft>
              <a:buNone/>
            </a:pPr>
            <a:r>
              <a:rPr lang="en-US" sz="2800" dirty="0">
                <a:solidFill>
                  <a:srgbClr val="FFFFFF"/>
                </a:solidFill>
                <a:latin typeface="Roboto" pitchFamily="34" charset="0"/>
                <a:ea typeface="Roboto" pitchFamily="34" charset="-122"/>
                <a:cs typeface="Roboto" pitchFamily="34" charset="-120"/>
              </a:rPr>
              <a:t>Hard requirements first. Then the user’s priority.</a:t>
            </a:r>
            <a:endParaRPr lang="en-US" sz="2800" dirty="0"/>
          </a:p>
          <a:p>
            <a:pPr indent="0" marL="0">
              <a:spcAft>
                <a:spcPts val="1000"/>
              </a:spcAft>
              <a:buNone/>
            </a:pPr>
            <a:r>
              <a:rPr lang="en-US" sz="2800" dirty="0">
                <a:solidFill>
                  <a:srgbClr val="7ED957"/>
                </a:solidFill>
                <a:latin typeface="Roboto" pitchFamily="34" charset="0"/>
                <a:ea typeface="Roboto" pitchFamily="34" charset="-122"/>
                <a:cs typeface="Roboto" pitchFamily="34" charset="-120"/>
              </a:rPr>
              <a:t>Every choice returns one pinned model and a reason. No hidden fallback.</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Rule routing · three roles</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1031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Same prompt. Hard requirements first. User priority second.</a:t>
            </a:r>
            <a:endParaRPr lang="en-US" sz="2600" dirty="0"/>
          </a:p>
        </p:txBody>
      </p:sp>
      <p:sp>
        <p:nvSpPr>
          <p:cNvPr id="5" name="Shape 3"/>
          <p:cNvSpPr/>
          <p:nvPr/>
        </p:nvSpPr>
        <p:spPr>
          <a:xfrm>
            <a:off x="649224" y="4206240"/>
            <a:ext cx="3566160" cy="2377440"/>
          </a:xfrm>
          <a:prstGeom prst="roundRect">
            <a:avLst>
              <a:gd name="adj" fmla="val 4615"/>
            </a:avLst>
          </a:prstGeom>
          <a:solidFill>
            <a:srgbClr val="111316"/>
          </a:solidFill>
          <a:ln w="15875">
            <a:solidFill>
              <a:srgbClr val="2B2F33"/>
            </a:solidFill>
            <a:prstDash val="solid"/>
          </a:ln>
        </p:spPr>
      </p:sp>
      <p:sp>
        <p:nvSpPr>
          <p:cNvPr id="6" name="Text 4"/>
          <p:cNvSpPr txBox="1"/>
          <p:nvPr/>
        </p:nvSpPr>
        <p:spPr>
          <a:xfrm>
            <a:off x="914400" y="4434840"/>
            <a:ext cx="3108960" cy="457200"/>
          </a:xfrm>
          <a:prstGeom prst="rect">
            <a:avLst/>
          </a:prstGeom>
          <a:noFill/>
          <a:ln/>
        </p:spPr>
        <p:txBody>
          <a:bodyPr wrap="square" lIns="0" tIns="0" rIns="0" bIns="0" rtlCol="0" anchor="t"/>
          <a:lstStyle/>
          <a:p>
            <a:pPr indent="0" marL="0">
              <a:buNone/>
            </a:pPr>
            <a:r>
              <a:rPr lang="en-US" sz="2400" b="1" dirty="0">
                <a:solidFill>
                  <a:srgbClr val="FFFFFF"/>
                </a:solidFill>
                <a:latin typeface="Roboto" pitchFamily="34" charset="0"/>
                <a:ea typeface="Roboto" pitchFamily="34" charset="-122"/>
                <a:cs typeface="Roboto" pitchFamily="34" charset="-120"/>
              </a:rPr>
              <a:t>Routing request</a:t>
            </a:r>
            <a:endParaRPr lang="en-US" sz="2400" dirty="0"/>
          </a:p>
        </p:txBody>
      </p:sp>
      <p:sp>
        <p:nvSpPr>
          <p:cNvPr id="7" name="Shape 5"/>
          <p:cNvSpPr/>
          <p:nvPr/>
        </p:nvSpPr>
        <p:spPr>
          <a:xfrm>
            <a:off x="914400" y="5120640"/>
            <a:ext cx="2743200" cy="201168"/>
          </a:xfrm>
          <a:prstGeom prst="roundRect">
            <a:avLst>
              <a:gd name="adj" fmla="val 45455"/>
            </a:avLst>
          </a:prstGeom>
          <a:solidFill>
            <a:srgbClr val="2A2D31"/>
          </a:solidFill>
          <a:ln w="12700">
            <a:solidFill>
              <a:srgbClr val="2A2D31"/>
            </a:solidFill>
            <a:prstDash val="solid"/>
          </a:ln>
        </p:spPr>
      </p:sp>
      <p:sp>
        <p:nvSpPr>
          <p:cNvPr id="8" name="Shape 6"/>
          <p:cNvSpPr/>
          <p:nvPr/>
        </p:nvSpPr>
        <p:spPr>
          <a:xfrm>
            <a:off x="914400" y="5577840"/>
            <a:ext cx="2743200" cy="201168"/>
          </a:xfrm>
          <a:prstGeom prst="roundRect">
            <a:avLst>
              <a:gd name="adj" fmla="val 45455"/>
            </a:avLst>
          </a:prstGeom>
          <a:solidFill>
            <a:srgbClr val="2A2D31"/>
          </a:solidFill>
          <a:ln w="12700">
            <a:solidFill>
              <a:srgbClr val="2A2D31"/>
            </a:solidFill>
            <a:prstDash val="solid"/>
          </a:ln>
        </p:spPr>
      </p:sp>
      <p:sp>
        <p:nvSpPr>
          <p:cNvPr id="9" name="Shape 7"/>
          <p:cNvSpPr/>
          <p:nvPr/>
        </p:nvSpPr>
        <p:spPr>
          <a:xfrm>
            <a:off x="914400" y="5989320"/>
            <a:ext cx="2011680" cy="201168"/>
          </a:xfrm>
          <a:prstGeom prst="roundRect">
            <a:avLst>
              <a:gd name="adj" fmla="val 45455"/>
            </a:avLst>
          </a:prstGeom>
          <a:solidFill>
            <a:srgbClr val="2A2D31"/>
          </a:solidFill>
          <a:ln w="12700">
            <a:solidFill>
              <a:srgbClr val="2A2D31"/>
            </a:solidFill>
            <a:prstDash val="solid"/>
          </a:ln>
        </p:spPr>
      </p:sp>
      <p:sp>
        <p:nvSpPr>
          <p:cNvPr id="10" name="Shape 8"/>
          <p:cNvSpPr/>
          <p:nvPr/>
        </p:nvSpPr>
        <p:spPr>
          <a:xfrm>
            <a:off x="4215384" y="5394960"/>
            <a:ext cx="539496" cy="0"/>
          </a:xfrm>
          <a:prstGeom prst="line">
            <a:avLst/>
          </a:prstGeom>
          <a:noFill/>
          <a:ln w="31750">
            <a:solidFill>
              <a:srgbClr val="C1FF72"/>
            </a:solidFill>
            <a:prstDash val="solid"/>
          </a:ln>
        </p:spPr>
      </p:sp>
      <p:sp>
        <p:nvSpPr>
          <p:cNvPr id="11" name="Shape 9"/>
          <p:cNvSpPr/>
          <p:nvPr/>
        </p:nvSpPr>
        <p:spPr>
          <a:xfrm>
            <a:off x="4754880" y="2971800"/>
            <a:ext cx="0" cy="2423160"/>
          </a:xfrm>
          <a:prstGeom prst="line">
            <a:avLst/>
          </a:prstGeom>
          <a:noFill/>
          <a:ln w="31750">
            <a:solidFill>
              <a:srgbClr val="C1FF72"/>
            </a:solidFill>
            <a:prstDash val="solid"/>
          </a:ln>
        </p:spPr>
      </p:sp>
      <p:sp>
        <p:nvSpPr>
          <p:cNvPr id="12" name="Shape 10"/>
          <p:cNvSpPr/>
          <p:nvPr/>
        </p:nvSpPr>
        <p:spPr>
          <a:xfrm>
            <a:off x="4754880" y="2971800"/>
            <a:ext cx="10881360" cy="0"/>
          </a:xfrm>
          <a:prstGeom prst="line">
            <a:avLst/>
          </a:prstGeom>
          <a:noFill/>
          <a:ln w="31750">
            <a:solidFill>
              <a:srgbClr val="C1FF72"/>
            </a:solidFill>
            <a:prstDash val="solid"/>
          </a:ln>
        </p:spPr>
      </p:sp>
      <p:sp>
        <p:nvSpPr>
          <p:cNvPr id="13" name="Shape 11"/>
          <p:cNvSpPr/>
          <p:nvPr/>
        </p:nvSpPr>
        <p:spPr>
          <a:xfrm>
            <a:off x="7132320" y="2971800"/>
            <a:ext cx="0" cy="201168"/>
          </a:xfrm>
          <a:prstGeom prst="line">
            <a:avLst/>
          </a:prstGeom>
          <a:noFill/>
          <a:ln w="31750">
            <a:solidFill>
              <a:srgbClr val="C1FF72"/>
            </a:solidFill>
            <a:prstDash val="solid"/>
            <a:tailEnd type="triangle"/>
          </a:ln>
        </p:spPr>
      </p:sp>
      <p:sp>
        <p:nvSpPr>
          <p:cNvPr id="14" name="Shape 12"/>
          <p:cNvSpPr/>
          <p:nvPr/>
        </p:nvSpPr>
        <p:spPr>
          <a:xfrm>
            <a:off x="5120640" y="3200400"/>
            <a:ext cx="4023360" cy="5166360"/>
          </a:xfrm>
          <a:prstGeom prst="roundRect">
            <a:avLst>
              <a:gd name="adj" fmla="val 2727"/>
            </a:avLst>
          </a:prstGeom>
          <a:solidFill>
            <a:srgbClr val="111316"/>
          </a:solidFill>
          <a:ln w="15875">
            <a:solidFill>
              <a:srgbClr val="2B2F33"/>
            </a:solidFill>
            <a:prstDash val="solid"/>
          </a:ln>
        </p:spPr>
      </p:sp>
      <p:sp>
        <p:nvSpPr>
          <p:cNvPr id="15" name="Text 13"/>
          <p:cNvSpPr txBox="1"/>
          <p:nvPr/>
        </p:nvSpPr>
        <p:spPr>
          <a:xfrm>
            <a:off x="5440680" y="3429000"/>
            <a:ext cx="914400" cy="457200"/>
          </a:xfrm>
          <a:prstGeom prst="rect">
            <a:avLst/>
          </a:prstGeom>
          <a:noFill/>
          <a:ln/>
        </p:spPr>
        <p:txBody>
          <a:bodyPr wrap="square" lIns="0" tIns="0" rIns="0" bIns="0" rtlCol="0" anchor="t"/>
          <a:lstStyle/>
          <a:p>
            <a:pPr indent="0" marL="0">
              <a:buNone/>
            </a:pPr>
            <a:r>
              <a:rPr lang="en-US" sz="2600" b="1" dirty="0">
                <a:solidFill>
                  <a:srgbClr val="FFFFFF"/>
                </a:solidFill>
                <a:latin typeface="Roboto" pitchFamily="34" charset="0"/>
                <a:ea typeface="Roboto" pitchFamily="34" charset="-122"/>
                <a:cs typeface="Roboto" pitchFamily="34" charset="-120"/>
              </a:rPr>
              <a:t>A</a:t>
            </a:r>
            <a:endParaRPr lang="en-US" sz="2600" dirty="0"/>
          </a:p>
        </p:txBody>
      </p:sp>
      <p:sp>
        <p:nvSpPr>
          <p:cNvPr id="16" name="Text 14"/>
          <p:cNvSpPr txBox="1"/>
          <p:nvPr/>
        </p:nvSpPr>
        <p:spPr>
          <a:xfrm>
            <a:off x="5440680" y="3931920"/>
            <a:ext cx="3566160" cy="548640"/>
          </a:xfrm>
          <a:prstGeom prst="rect">
            <a:avLst/>
          </a:prstGeom>
          <a:noFill/>
          <a:ln/>
        </p:spPr>
        <p:txBody>
          <a:bodyPr wrap="square" lIns="0" tIns="0" rIns="0" bIns="0" rtlCol="0" anchor="t"/>
          <a:lstStyle/>
          <a:p>
            <a:pPr indent="0" marL="0">
              <a:buNone/>
            </a:pPr>
            <a:r>
              <a:rPr lang="en-US" sz="2800" b="1" dirty="0">
                <a:solidFill>
                  <a:srgbClr val="94DD26"/>
                </a:solidFill>
                <a:latin typeface="Roboto" pitchFamily="34" charset="0"/>
                <a:ea typeface="Roboto" pitchFamily="34" charset="-122"/>
                <a:cs typeface="Roboto" pitchFamily="34" charset="-120"/>
              </a:rPr>
              <a:t>GEMMA 4 26B</a:t>
            </a:r>
            <a:endParaRPr lang="en-US" sz="2800" dirty="0"/>
          </a:p>
        </p:txBody>
      </p:sp>
      <p:sp>
        <p:nvSpPr>
          <p:cNvPr id="17" name="Text 15"/>
          <p:cNvSpPr txBox="1"/>
          <p:nvPr/>
        </p:nvSpPr>
        <p:spPr>
          <a:xfrm>
            <a:off x="5440680" y="4709160"/>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Context</a:t>
            </a:r>
            <a:endParaRPr lang="en-US" sz="2000" dirty="0"/>
          </a:p>
        </p:txBody>
      </p:sp>
      <p:sp>
        <p:nvSpPr>
          <p:cNvPr id="18" name="Text 16"/>
          <p:cNvSpPr txBox="1"/>
          <p:nvPr/>
        </p:nvSpPr>
        <p:spPr>
          <a:xfrm>
            <a:off x="7040880" y="4709160"/>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262K</a:t>
            </a:r>
            <a:endParaRPr lang="en-US" sz="2400" dirty="0"/>
          </a:p>
        </p:txBody>
      </p:sp>
      <p:sp>
        <p:nvSpPr>
          <p:cNvPr id="19" name="Shape 17"/>
          <p:cNvSpPr/>
          <p:nvPr/>
        </p:nvSpPr>
        <p:spPr>
          <a:xfrm>
            <a:off x="5440680" y="5349240"/>
            <a:ext cx="3429000" cy="0"/>
          </a:xfrm>
          <a:prstGeom prst="line">
            <a:avLst/>
          </a:prstGeom>
          <a:noFill/>
          <a:ln w="12700">
            <a:solidFill>
              <a:srgbClr val="2B2F33"/>
            </a:solidFill>
            <a:prstDash val="solid"/>
          </a:ln>
        </p:spPr>
      </p:sp>
      <p:sp>
        <p:nvSpPr>
          <p:cNvPr id="20" name="Text 18"/>
          <p:cNvSpPr txBox="1"/>
          <p:nvPr/>
        </p:nvSpPr>
        <p:spPr>
          <a:xfrm>
            <a:off x="5440680" y="5422392"/>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Role</a:t>
            </a:r>
            <a:endParaRPr lang="en-US" sz="2000" dirty="0"/>
          </a:p>
        </p:txBody>
      </p:sp>
      <p:sp>
        <p:nvSpPr>
          <p:cNvPr id="21" name="Text 19"/>
          <p:cNvSpPr txBox="1"/>
          <p:nvPr/>
        </p:nvSpPr>
        <p:spPr>
          <a:xfrm>
            <a:off x="7040880" y="5422392"/>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cost</a:t>
            </a:r>
            <a:endParaRPr lang="en-US" sz="2400" dirty="0"/>
          </a:p>
        </p:txBody>
      </p:sp>
      <p:sp>
        <p:nvSpPr>
          <p:cNvPr id="22" name="Shape 20"/>
          <p:cNvSpPr/>
          <p:nvPr/>
        </p:nvSpPr>
        <p:spPr>
          <a:xfrm>
            <a:off x="5440680" y="6062472"/>
            <a:ext cx="3429000" cy="0"/>
          </a:xfrm>
          <a:prstGeom prst="line">
            <a:avLst/>
          </a:prstGeom>
          <a:noFill/>
          <a:ln w="12700">
            <a:solidFill>
              <a:srgbClr val="2B2F33"/>
            </a:solidFill>
            <a:prstDash val="solid"/>
          </a:ln>
        </p:spPr>
      </p:sp>
      <p:sp>
        <p:nvSpPr>
          <p:cNvPr id="23" name="Text 21"/>
          <p:cNvSpPr txBox="1"/>
          <p:nvPr/>
        </p:nvSpPr>
        <p:spPr>
          <a:xfrm>
            <a:off x="5440680" y="6135624"/>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GSM8K</a:t>
            </a:r>
            <a:endParaRPr lang="en-US" sz="2000" dirty="0"/>
          </a:p>
        </p:txBody>
      </p:sp>
      <p:sp>
        <p:nvSpPr>
          <p:cNvPr id="24" name="Text 22"/>
          <p:cNvSpPr txBox="1"/>
          <p:nvPr/>
        </p:nvSpPr>
        <p:spPr>
          <a:xfrm>
            <a:off x="7040880" y="6135624"/>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11/12</a:t>
            </a:r>
            <a:endParaRPr lang="en-US" sz="2400" dirty="0"/>
          </a:p>
        </p:txBody>
      </p:sp>
      <p:sp>
        <p:nvSpPr>
          <p:cNvPr id="25" name="Shape 23"/>
          <p:cNvSpPr/>
          <p:nvPr/>
        </p:nvSpPr>
        <p:spPr>
          <a:xfrm>
            <a:off x="5440680" y="6775704"/>
            <a:ext cx="3429000" cy="0"/>
          </a:xfrm>
          <a:prstGeom prst="line">
            <a:avLst/>
          </a:prstGeom>
          <a:noFill/>
          <a:ln w="12700">
            <a:solidFill>
              <a:srgbClr val="2B2F33"/>
            </a:solidFill>
            <a:prstDash val="solid"/>
          </a:ln>
        </p:spPr>
      </p:sp>
      <p:sp>
        <p:nvSpPr>
          <p:cNvPr id="26" name="Text 24"/>
          <p:cNvSpPr txBox="1"/>
          <p:nvPr/>
        </p:nvSpPr>
        <p:spPr>
          <a:xfrm>
            <a:off x="5440680" y="6848856"/>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Median</a:t>
            </a:r>
            <a:endParaRPr lang="en-US" sz="2000" dirty="0"/>
          </a:p>
        </p:txBody>
      </p:sp>
      <p:sp>
        <p:nvSpPr>
          <p:cNvPr id="27" name="Text 25"/>
          <p:cNvSpPr txBox="1"/>
          <p:nvPr/>
        </p:nvSpPr>
        <p:spPr>
          <a:xfrm>
            <a:off x="7040880" y="6848856"/>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2.9 s</a:t>
            </a:r>
            <a:endParaRPr lang="en-US" sz="2400" dirty="0"/>
          </a:p>
        </p:txBody>
      </p:sp>
      <p:sp>
        <p:nvSpPr>
          <p:cNvPr id="28" name="Shape 26"/>
          <p:cNvSpPr/>
          <p:nvPr/>
        </p:nvSpPr>
        <p:spPr>
          <a:xfrm>
            <a:off x="5440680" y="7488936"/>
            <a:ext cx="3429000" cy="0"/>
          </a:xfrm>
          <a:prstGeom prst="line">
            <a:avLst/>
          </a:prstGeom>
          <a:noFill/>
          <a:ln w="12700">
            <a:solidFill>
              <a:srgbClr val="2B2F33"/>
            </a:solidFill>
            <a:prstDash val="solid"/>
          </a:ln>
        </p:spPr>
      </p:sp>
      <p:sp>
        <p:nvSpPr>
          <p:cNvPr id="29" name="Text 27"/>
          <p:cNvSpPr txBox="1"/>
          <p:nvPr/>
        </p:nvSpPr>
        <p:spPr>
          <a:xfrm>
            <a:off x="5440680" y="7562088"/>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Out $ / 1M</a:t>
            </a:r>
            <a:endParaRPr lang="en-US" sz="2000" dirty="0"/>
          </a:p>
        </p:txBody>
      </p:sp>
      <p:sp>
        <p:nvSpPr>
          <p:cNvPr id="30" name="Text 28"/>
          <p:cNvSpPr txBox="1"/>
          <p:nvPr/>
        </p:nvSpPr>
        <p:spPr>
          <a:xfrm>
            <a:off x="7040880" y="7562088"/>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$0.26</a:t>
            </a:r>
            <a:endParaRPr lang="en-US" sz="2400" dirty="0"/>
          </a:p>
        </p:txBody>
      </p:sp>
      <p:sp>
        <p:nvSpPr>
          <p:cNvPr id="31" name="Shape 29"/>
          <p:cNvSpPr/>
          <p:nvPr/>
        </p:nvSpPr>
        <p:spPr>
          <a:xfrm>
            <a:off x="11384280" y="2971800"/>
            <a:ext cx="0" cy="201168"/>
          </a:xfrm>
          <a:prstGeom prst="line">
            <a:avLst/>
          </a:prstGeom>
          <a:noFill/>
          <a:ln w="31750">
            <a:solidFill>
              <a:srgbClr val="C1FF72"/>
            </a:solidFill>
            <a:prstDash val="solid"/>
            <a:tailEnd type="triangle"/>
          </a:ln>
        </p:spPr>
      </p:sp>
      <p:sp>
        <p:nvSpPr>
          <p:cNvPr id="32" name="Shape 30"/>
          <p:cNvSpPr/>
          <p:nvPr/>
        </p:nvSpPr>
        <p:spPr>
          <a:xfrm>
            <a:off x="9372600" y="3200400"/>
            <a:ext cx="4023360" cy="5166360"/>
          </a:xfrm>
          <a:prstGeom prst="roundRect">
            <a:avLst>
              <a:gd name="adj" fmla="val 2727"/>
            </a:avLst>
          </a:prstGeom>
          <a:solidFill>
            <a:srgbClr val="111316"/>
          </a:solidFill>
          <a:ln w="15875">
            <a:solidFill>
              <a:srgbClr val="2B2F33"/>
            </a:solidFill>
            <a:prstDash val="solid"/>
          </a:ln>
        </p:spPr>
      </p:sp>
      <p:sp>
        <p:nvSpPr>
          <p:cNvPr id="33" name="Text 31"/>
          <p:cNvSpPr txBox="1"/>
          <p:nvPr/>
        </p:nvSpPr>
        <p:spPr>
          <a:xfrm>
            <a:off x="9692640" y="3429000"/>
            <a:ext cx="914400" cy="457200"/>
          </a:xfrm>
          <a:prstGeom prst="rect">
            <a:avLst/>
          </a:prstGeom>
          <a:noFill/>
          <a:ln/>
        </p:spPr>
        <p:txBody>
          <a:bodyPr wrap="square" lIns="0" tIns="0" rIns="0" bIns="0" rtlCol="0" anchor="t"/>
          <a:lstStyle/>
          <a:p>
            <a:pPr indent="0" marL="0">
              <a:buNone/>
            </a:pPr>
            <a:r>
              <a:rPr lang="en-US" sz="2600" b="1" dirty="0">
                <a:solidFill>
                  <a:srgbClr val="FFFFFF"/>
                </a:solidFill>
                <a:latin typeface="Roboto" pitchFamily="34" charset="0"/>
                <a:ea typeface="Roboto" pitchFamily="34" charset="-122"/>
                <a:cs typeface="Roboto" pitchFamily="34" charset="-120"/>
              </a:rPr>
              <a:t>B</a:t>
            </a:r>
            <a:endParaRPr lang="en-US" sz="2600" dirty="0"/>
          </a:p>
        </p:txBody>
      </p:sp>
      <p:sp>
        <p:nvSpPr>
          <p:cNvPr id="34" name="Text 32"/>
          <p:cNvSpPr txBox="1"/>
          <p:nvPr/>
        </p:nvSpPr>
        <p:spPr>
          <a:xfrm>
            <a:off x="9692640" y="3931920"/>
            <a:ext cx="3566160" cy="548640"/>
          </a:xfrm>
          <a:prstGeom prst="rect">
            <a:avLst/>
          </a:prstGeom>
          <a:noFill/>
          <a:ln/>
        </p:spPr>
        <p:txBody>
          <a:bodyPr wrap="square" lIns="0" tIns="0" rIns="0" bIns="0" rtlCol="0" anchor="t"/>
          <a:lstStyle/>
          <a:p>
            <a:pPr indent="0" marL="0">
              <a:buNone/>
            </a:pPr>
            <a:r>
              <a:rPr lang="en-US" sz="2800" b="1" dirty="0">
                <a:solidFill>
                  <a:srgbClr val="94DD26"/>
                </a:solidFill>
                <a:latin typeface="Roboto" pitchFamily="34" charset="0"/>
                <a:ea typeface="Roboto" pitchFamily="34" charset="-122"/>
                <a:cs typeface="Roboto" pitchFamily="34" charset="-120"/>
              </a:rPr>
              <a:t>MERCURY 3</a:t>
            </a:r>
            <a:endParaRPr lang="en-US" sz="2800" dirty="0"/>
          </a:p>
        </p:txBody>
      </p:sp>
      <p:sp>
        <p:nvSpPr>
          <p:cNvPr id="35" name="Text 33"/>
          <p:cNvSpPr txBox="1"/>
          <p:nvPr/>
        </p:nvSpPr>
        <p:spPr>
          <a:xfrm>
            <a:off x="9692640" y="4709160"/>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Context</a:t>
            </a:r>
            <a:endParaRPr lang="en-US" sz="2000" dirty="0"/>
          </a:p>
        </p:txBody>
      </p:sp>
      <p:sp>
        <p:nvSpPr>
          <p:cNvPr id="36" name="Text 34"/>
          <p:cNvSpPr txBox="1"/>
          <p:nvPr/>
        </p:nvSpPr>
        <p:spPr>
          <a:xfrm>
            <a:off x="11292840" y="4709160"/>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1M</a:t>
            </a:r>
            <a:endParaRPr lang="en-US" sz="2400" dirty="0"/>
          </a:p>
        </p:txBody>
      </p:sp>
      <p:sp>
        <p:nvSpPr>
          <p:cNvPr id="37" name="Shape 35"/>
          <p:cNvSpPr/>
          <p:nvPr/>
        </p:nvSpPr>
        <p:spPr>
          <a:xfrm>
            <a:off x="9692640" y="5349240"/>
            <a:ext cx="3429000" cy="0"/>
          </a:xfrm>
          <a:prstGeom prst="line">
            <a:avLst/>
          </a:prstGeom>
          <a:noFill/>
          <a:ln w="12700">
            <a:solidFill>
              <a:srgbClr val="2B2F33"/>
            </a:solidFill>
            <a:prstDash val="solid"/>
          </a:ln>
        </p:spPr>
      </p:sp>
      <p:sp>
        <p:nvSpPr>
          <p:cNvPr id="38" name="Text 36"/>
          <p:cNvSpPr txBox="1"/>
          <p:nvPr/>
        </p:nvSpPr>
        <p:spPr>
          <a:xfrm>
            <a:off x="9692640" y="5422392"/>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Role</a:t>
            </a:r>
            <a:endParaRPr lang="en-US" sz="2000" dirty="0"/>
          </a:p>
        </p:txBody>
      </p:sp>
      <p:sp>
        <p:nvSpPr>
          <p:cNvPr id="39" name="Text 37"/>
          <p:cNvSpPr txBox="1"/>
          <p:nvPr/>
        </p:nvSpPr>
        <p:spPr>
          <a:xfrm>
            <a:off x="11292840" y="5422392"/>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speed</a:t>
            </a:r>
            <a:endParaRPr lang="en-US" sz="2400" dirty="0"/>
          </a:p>
        </p:txBody>
      </p:sp>
      <p:sp>
        <p:nvSpPr>
          <p:cNvPr id="40" name="Shape 38"/>
          <p:cNvSpPr/>
          <p:nvPr/>
        </p:nvSpPr>
        <p:spPr>
          <a:xfrm>
            <a:off x="9692640" y="6062472"/>
            <a:ext cx="3429000" cy="0"/>
          </a:xfrm>
          <a:prstGeom prst="line">
            <a:avLst/>
          </a:prstGeom>
          <a:noFill/>
          <a:ln w="12700">
            <a:solidFill>
              <a:srgbClr val="2B2F33"/>
            </a:solidFill>
            <a:prstDash val="solid"/>
          </a:ln>
        </p:spPr>
      </p:sp>
      <p:sp>
        <p:nvSpPr>
          <p:cNvPr id="41" name="Text 39"/>
          <p:cNvSpPr txBox="1"/>
          <p:nvPr/>
        </p:nvSpPr>
        <p:spPr>
          <a:xfrm>
            <a:off x="9692640" y="6135624"/>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GSM8K</a:t>
            </a:r>
            <a:endParaRPr lang="en-US" sz="2000" dirty="0"/>
          </a:p>
        </p:txBody>
      </p:sp>
      <p:sp>
        <p:nvSpPr>
          <p:cNvPr id="42" name="Text 40"/>
          <p:cNvSpPr txBox="1"/>
          <p:nvPr/>
        </p:nvSpPr>
        <p:spPr>
          <a:xfrm>
            <a:off x="11292840" y="6135624"/>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10/12</a:t>
            </a:r>
            <a:endParaRPr lang="en-US" sz="2400" dirty="0"/>
          </a:p>
        </p:txBody>
      </p:sp>
      <p:sp>
        <p:nvSpPr>
          <p:cNvPr id="43" name="Shape 41"/>
          <p:cNvSpPr/>
          <p:nvPr/>
        </p:nvSpPr>
        <p:spPr>
          <a:xfrm>
            <a:off x="9692640" y="6775704"/>
            <a:ext cx="3429000" cy="0"/>
          </a:xfrm>
          <a:prstGeom prst="line">
            <a:avLst/>
          </a:prstGeom>
          <a:noFill/>
          <a:ln w="12700">
            <a:solidFill>
              <a:srgbClr val="2B2F33"/>
            </a:solidFill>
            <a:prstDash val="solid"/>
          </a:ln>
        </p:spPr>
      </p:sp>
      <p:sp>
        <p:nvSpPr>
          <p:cNvPr id="44" name="Text 42"/>
          <p:cNvSpPr txBox="1"/>
          <p:nvPr/>
        </p:nvSpPr>
        <p:spPr>
          <a:xfrm>
            <a:off x="9692640" y="6848856"/>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Median</a:t>
            </a:r>
            <a:endParaRPr lang="en-US" sz="2000" dirty="0"/>
          </a:p>
        </p:txBody>
      </p:sp>
      <p:sp>
        <p:nvSpPr>
          <p:cNvPr id="45" name="Text 43"/>
          <p:cNvSpPr txBox="1"/>
          <p:nvPr/>
        </p:nvSpPr>
        <p:spPr>
          <a:xfrm>
            <a:off x="11292840" y="6848856"/>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0.6 s</a:t>
            </a:r>
            <a:endParaRPr lang="en-US" sz="2400" dirty="0"/>
          </a:p>
        </p:txBody>
      </p:sp>
      <p:sp>
        <p:nvSpPr>
          <p:cNvPr id="46" name="Shape 44"/>
          <p:cNvSpPr/>
          <p:nvPr/>
        </p:nvSpPr>
        <p:spPr>
          <a:xfrm>
            <a:off x="9692640" y="7488936"/>
            <a:ext cx="3429000" cy="0"/>
          </a:xfrm>
          <a:prstGeom prst="line">
            <a:avLst/>
          </a:prstGeom>
          <a:noFill/>
          <a:ln w="12700">
            <a:solidFill>
              <a:srgbClr val="2B2F33"/>
            </a:solidFill>
            <a:prstDash val="solid"/>
          </a:ln>
        </p:spPr>
      </p:sp>
      <p:sp>
        <p:nvSpPr>
          <p:cNvPr id="47" name="Text 45"/>
          <p:cNvSpPr txBox="1"/>
          <p:nvPr/>
        </p:nvSpPr>
        <p:spPr>
          <a:xfrm>
            <a:off x="9692640" y="7562088"/>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Out $ / 1M</a:t>
            </a:r>
            <a:endParaRPr lang="en-US" sz="2000" dirty="0"/>
          </a:p>
        </p:txBody>
      </p:sp>
      <p:sp>
        <p:nvSpPr>
          <p:cNvPr id="48" name="Text 46"/>
          <p:cNvSpPr txBox="1"/>
          <p:nvPr/>
        </p:nvSpPr>
        <p:spPr>
          <a:xfrm>
            <a:off x="11292840" y="7562088"/>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$0.35</a:t>
            </a:r>
            <a:endParaRPr lang="en-US" sz="2400" dirty="0"/>
          </a:p>
        </p:txBody>
      </p:sp>
      <p:sp>
        <p:nvSpPr>
          <p:cNvPr id="49" name="Shape 47"/>
          <p:cNvSpPr/>
          <p:nvPr/>
        </p:nvSpPr>
        <p:spPr>
          <a:xfrm>
            <a:off x="15636240" y="2971800"/>
            <a:ext cx="0" cy="201168"/>
          </a:xfrm>
          <a:prstGeom prst="line">
            <a:avLst/>
          </a:prstGeom>
          <a:noFill/>
          <a:ln w="31750">
            <a:solidFill>
              <a:srgbClr val="C1FF72"/>
            </a:solidFill>
            <a:prstDash val="solid"/>
            <a:tailEnd type="triangle"/>
          </a:ln>
        </p:spPr>
      </p:sp>
      <p:sp>
        <p:nvSpPr>
          <p:cNvPr id="50" name="Shape 48"/>
          <p:cNvSpPr/>
          <p:nvPr/>
        </p:nvSpPr>
        <p:spPr>
          <a:xfrm>
            <a:off x="13624560" y="3200400"/>
            <a:ext cx="4023360" cy="5166360"/>
          </a:xfrm>
          <a:prstGeom prst="roundRect">
            <a:avLst>
              <a:gd name="adj" fmla="val 2727"/>
            </a:avLst>
          </a:prstGeom>
          <a:solidFill>
            <a:srgbClr val="111316"/>
          </a:solidFill>
          <a:ln w="15875">
            <a:solidFill>
              <a:srgbClr val="2B2F33"/>
            </a:solidFill>
            <a:prstDash val="solid"/>
          </a:ln>
        </p:spPr>
      </p:sp>
      <p:sp>
        <p:nvSpPr>
          <p:cNvPr id="51" name="Text 49"/>
          <p:cNvSpPr txBox="1"/>
          <p:nvPr/>
        </p:nvSpPr>
        <p:spPr>
          <a:xfrm>
            <a:off x="13944600" y="3429000"/>
            <a:ext cx="914400" cy="457200"/>
          </a:xfrm>
          <a:prstGeom prst="rect">
            <a:avLst/>
          </a:prstGeom>
          <a:noFill/>
          <a:ln/>
        </p:spPr>
        <p:txBody>
          <a:bodyPr wrap="square" lIns="0" tIns="0" rIns="0" bIns="0" rtlCol="0" anchor="t"/>
          <a:lstStyle/>
          <a:p>
            <a:pPr indent="0" marL="0">
              <a:buNone/>
            </a:pPr>
            <a:r>
              <a:rPr lang="en-US" sz="2600" b="1" dirty="0">
                <a:solidFill>
                  <a:srgbClr val="FFFFFF"/>
                </a:solidFill>
                <a:latin typeface="Roboto" pitchFamily="34" charset="0"/>
                <a:ea typeface="Roboto" pitchFamily="34" charset="-122"/>
                <a:cs typeface="Roboto" pitchFamily="34" charset="-120"/>
              </a:rPr>
              <a:t>C</a:t>
            </a:r>
            <a:endParaRPr lang="en-US" sz="2600" dirty="0"/>
          </a:p>
        </p:txBody>
      </p:sp>
      <p:sp>
        <p:nvSpPr>
          <p:cNvPr id="52" name="Text 50"/>
          <p:cNvSpPr txBox="1"/>
          <p:nvPr/>
        </p:nvSpPr>
        <p:spPr>
          <a:xfrm>
            <a:off x="13944600" y="3931920"/>
            <a:ext cx="3566160" cy="548640"/>
          </a:xfrm>
          <a:prstGeom prst="rect">
            <a:avLst/>
          </a:prstGeom>
          <a:noFill/>
          <a:ln/>
        </p:spPr>
        <p:txBody>
          <a:bodyPr wrap="square" lIns="0" tIns="0" rIns="0" bIns="0" rtlCol="0" anchor="t"/>
          <a:lstStyle/>
          <a:p>
            <a:pPr indent="0" marL="0">
              <a:buNone/>
            </a:pPr>
            <a:r>
              <a:rPr lang="en-US" sz="2800" b="1" dirty="0">
                <a:solidFill>
                  <a:srgbClr val="94DD26"/>
                </a:solidFill>
                <a:latin typeface="Roboto" pitchFamily="34" charset="0"/>
                <a:ea typeface="Roboto" pitchFamily="34" charset="-122"/>
                <a:cs typeface="Roboto" pitchFamily="34" charset="-120"/>
              </a:rPr>
              <a:t>GEMINI 4 ARGON</a:t>
            </a:r>
            <a:endParaRPr lang="en-US" sz="2800" dirty="0"/>
          </a:p>
        </p:txBody>
      </p:sp>
      <p:sp>
        <p:nvSpPr>
          <p:cNvPr id="53" name="Text 51"/>
          <p:cNvSpPr txBox="1"/>
          <p:nvPr/>
        </p:nvSpPr>
        <p:spPr>
          <a:xfrm>
            <a:off x="13944600" y="4709160"/>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Context</a:t>
            </a:r>
            <a:endParaRPr lang="en-US" sz="2000" dirty="0"/>
          </a:p>
        </p:txBody>
      </p:sp>
      <p:sp>
        <p:nvSpPr>
          <p:cNvPr id="54" name="Text 52"/>
          <p:cNvSpPr txBox="1"/>
          <p:nvPr/>
        </p:nvSpPr>
        <p:spPr>
          <a:xfrm>
            <a:off x="15544800" y="4709160"/>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1.05M</a:t>
            </a:r>
            <a:endParaRPr lang="en-US" sz="2400" dirty="0"/>
          </a:p>
        </p:txBody>
      </p:sp>
      <p:sp>
        <p:nvSpPr>
          <p:cNvPr id="55" name="Shape 53"/>
          <p:cNvSpPr/>
          <p:nvPr/>
        </p:nvSpPr>
        <p:spPr>
          <a:xfrm>
            <a:off x="13944600" y="5349240"/>
            <a:ext cx="3429000" cy="0"/>
          </a:xfrm>
          <a:prstGeom prst="line">
            <a:avLst/>
          </a:prstGeom>
          <a:noFill/>
          <a:ln w="12700">
            <a:solidFill>
              <a:srgbClr val="2B2F33"/>
            </a:solidFill>
            <a:prstDash val="solid"/>
          </a:ln>
        </p:spPr>
      </p:sp>
      <p:sp>
        <p:nvSpPr>
          <p:cNvPr id="56" name="Text 54"/>
          <p:cNvSpPr txBox="1"/>
          <p:nvPr/>
        </p:nvSpPr>
        <p:spPr>
          <a:xfrm>
            <a:off x="13944600" y="5422392"/>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Role</a:t>
            </a:r>
            <a:endParaRPr lang="en-US" sz="2000" dirty="0"/>
          </a:p>
        </p:txBody>
      </p:sp>
      <p:sp>
        <p:nvSpPr>
          <p:cNvPr id="57" name="Text 55"/>
          <p:cNvSpPr txBox="1"/>
          <p:nvPr/>
        </p:nvSpPr>
        <p:spPr>
          <a:xfrm>
            <a:off x="15544800" y="5422392"/>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quality</a:t>
            </a:r>
            <a:endParaRPr lang="en-US" sz="2400" dirty="0"/>
          </a:p>
        </p:txBody>
      </p:sp>
      <p:sp>
        <p:nvSpPr>
          <p:cNvPr id="58" name="Shape 56"/>
          <p:cNvSpPr/>
          <p:nvPr/>
        </p:nvSpPr>
        <p:spPr>
          <a:xfrm>
            <a:off x="13944600" y="6062472"/>
            <a:ext cx="3429000" cy="0"/>
          </a:xfrm>
          <a:prstGeom prst="line">
            <a:avLst/>
          </a:prstGeom>
          <a:noFill/>
          <a:ln w="12700">
            <a:solidFill>
              <a:srgbClr val="2B2F33"/>
            </a:solidFill>
            <a:prstDash val="solid"/>
          </a:ln>
        </p:spPr>
      </p:sp>
      <p:sp>
        <p:nvSpPr>
          <p:cNvPr id="59" name="Text 57"/>
          <p:cNvSpPr txBox="1"/>
          <p:nvPr/>
        </p:nvSpPr>
        <p:spPr>
          <a:xfrm>
            <a:off x="13944600" y="6135624"/>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GSM8K</a:t>
            </a:r>
            <a:endParaRPr lang="en-US" sz="2000" dirty="0"/>
          </a:p>
        </p:txBody>
      </p:sp>
      <p:sp>
        <p:nvSpPr>
          <p:cNvPr id="60" name="Text 58"/>
          <p:cNvSpPr txBox="1"/>
          <p:nvPr/>
        </p:nvSpPr>
        <p:spPr>
          <a:xfrm>
            <a:off x="15544800" y="6135624"/>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12/12</a:t>
            </a:r>
            <a:endParaRPr lang="en-US" sz="2400" dirty="0"/>
          </a:p>
        </p:txBody>
      </p:sp>
      <p:sp>
        <p:nvSpPr>
          <p:cNvPr id="61" name="Shape 59"/>
          <p:cNvSpPr/>
          <p:nvPr/>
        </p:nvSpPr>
        <p:spPr>
          <a:xfrm>
            <a:off x="13944600" y="6775704"/>
            <a:ext cx="3429000" cy="0"/>
          </a:xfrm>
          <a:prstGeom prst="line">
            <a:avLst/>
          </a:prstGeom>
          <a:noFill/>
          <a:ln w="12700">
            <a:solidFill>
              <a:srgbClr val="2B2F33"/>
            </a:solidFill>
            <a:prstDash val="solid"/>
          </a:ln>
        </p:spPr>
      </p:sp>
      <p:sp>
        <p:nvSpPr>
          <p:cNvPr id="62" name="Text 60"/>
          <p:cNvSpPr txBox="1"/>
          <p:nvPr/>
        </p:nvSpPr>
        <p:spPr>
          <a:xfrm>
            <a:off x="13944600" y="6848856"/>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Median</a:t>
            </a:r>
            <a:endParaRPr lang="en-US" sz="2000" dirty="0"/>
          </a:p>
        </p:txBody>
      </p:sp>
      <p:sp>
        <p:nvSpPr>
          <p:cNvPr id="63" name="Text 61"/>
          <p:cNvSpPr txBox="1"/>
          <p:nvPr/>
        </p:nvSpPr>
        <p:spPr>
          <a:xfrm>
            <a:off x="15544800" y="6848856"/>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5.0 s</a:t>
            </a:r>
            <a:endParaRPr lang="en-US" sz="2400" dirty="0"/>
          </a:p>
        </p:txBody>
      </p:sp>
      <p:sp>
        <p:nvSpPr>
          <p:cNvPr id="64" name="Shape 62"/>
          <p:cNvSpPr/>
          <p:nvPr/>
        </p:nvSpPr>
        <p:spPr>
          <a:xfrm>
            <a:off x="13944600" y="7488936"/>
            <a:ext cx="3429000" cy="0"/>
          </a:xfrm>
          <a:prstGeom prst="line">
            <a:avLst/>
          </a:prstGeom>
          <a:noFill/>
          <a:ln w="12700">
            <a:solidFill>
              <a:srgbClr val="2B2F33"/>
            </a:solidFill>
            <a:prstDash val="solid"/>
          </a:ln>
        </p:spPr>
      </p:sp>
      <p:sp>
        <p:nvSpPr>
          <p:cNvPr id="65" name="Text 63"/>
          <p:cNvSpPr txBox="1"/>
          <p:nvPr/>
        </p:nvSpPr>
        <p:spPr>
          <a:xfrm>
            <a:off x="13944600" y="7562088"/>
            <a:ext cx="1828800" cy="566928"/>
          </a:xfrm>
          <a:prstGeom prst="rect">
            <a:avLst/>
          </a:prstGeom>
          <a:noFill/>
          <a:ln/>
        </p:spPr>
        <p:txBody>
          <a:bodyPr wrap="square" lIns="0" tIns="0" rIns="0" bIns="0" rtlCol="0" anchor="ctr"/>
          <a:lstStyle/>
          <a:p>
            <a:pPr indent="0" marL="0">
              <a:buNone/>
            </a:pPr>
            <a:r>
              <a:rPr lang="en-US" sz="2000" dirty="0">
                <a:solidFill>
                  <a:srgbClr val="FFFFFF"/>
                </a:solidFill>
                <a:latin typeface="Roboto" pitchFamily="34" charset="0"/>
                <a:ea typeface="Roboto" pitchFamily="34" charset="-122"/>
                <a:cs typeface="Roboto" pitchFamily="34" charset="-120"/>
              </a:rPr>
              <a:t>Out $ / 1M</a:t>
            </a:r>
            <a:endParaRPr lang="en-US" sz="2000" dirty="0"/>
          </a:p>
        </p:txBody>
      </p:sp>
      <p:sp>
        <p:nvSpPr>
          <p:cNvPr id="66" name="Text 64"/>
          <p:cNvSpPr txBox="1"/>
          <p:nvPr/>
        </p:nvSpPr>
        <p:spPr>
          <a:xfrm>
            <a:off x="15544800" y="7562088"/>
            <a:ext cx="1828800" cy="566928"/>
          </a:xfrm>
          <a:prstGeom prst="rect">
            <a:avLst/>
          </a:prstGeom>
          <a:noFill/>
          <a:ln/>
        </p:spPr>
        <p:txBody>
          <a:bodyPr wrap="square" lIns="0" tIns="0" rIns="0" bIns="0" rtlCol="0" anchor="ctr"/>
          <a:lstStyle/>
          <a:p>
            <a:pPr algn="r" indent="0" marL="0">
              <a:buNone/>
            </a:pPr>
            <a:r>
              <a:rPr lang="en-US" sz="2400" b="1" dirty="0">
                <a:solidFill>
                  <a:srgbClr val="94DD26"/>
                </a:solidFill>
                <a:latin typeface="Roboto" pitchFamily="34" charset="0"/>
                <a:ea typeface="Roboto" pitchFamily="34" charset="-122"/>
                <a:cs typeface="Roboto" pitchFamily="34" charset="-120"/>
              </a:rPr>
              <a:t>$10.00</a:t>
            </a:r>
            <a:endParaRPr lang="en-US" sz="2400" dirty="0"/>
          </a:p>
        </p:txBody>
      </p:sp>
      <p:sp>
        <p:nvSpPr>
          <p:cNvPr id="67" name="Shape 65"/>
          <p:cNvSpPr/>
          <p:nvPr/>
        </p:nvSpPr>
        <p:spPr>
          <a:xfrm>
            <a:off x="649224" y="8686800"/>
            <a:ext cx="17007840" cy="1097280"/>
          </a:xfrm>
          <a:prstGeom prst="roundRect">
            <a:avLst>
              <a:gd name="adj" fmla="val 10000"/>
            </a:avLst>
          </a:prstGeom>
          <a:solidFill>
            <a:srgbClr val="111316"/>
          </a:solidFill>
          <a:ln w="15875">
            <a:solidFill>
              <a:srgbClr val="2B2F33"/>
            </a:solidFill>
            <a:prstDash val="solid"/>
          </a:ln>
        </p:spPr>
      </p:sp>
      <p:sp>
        <p:nvSpPr>
          <p:cNvPr id="68" name="Shape 66"/>
          <p:cNvSpPr/>
          <p:nvPr/>
        </p:nvSpPr>
        <p:spPr>
          <a:xfrm>
            <a:off x="1005840" y="8887968"/>
            <a:ext cx="2194560" cy="694944"/>
          </a:xfrm>
          <a:prstGeom prst="roundRect">
            <a:avLst>
              <a:gd name="adj" fmla="val 10526"/>
            </a:avLst>
          </a:prstGeom>
          <a:solidFill>
            <a:srgbClr val="111316"/>
          </a:solidFill>
          <a:ln w="19050">
            <a:solidFill>
              <a:srgbClr val="94DD26"/>
            </a:solidFill>
            <a:prstDash val="solid"/>
          </a:ln>
        </p:spPr>
      </p:sp>
      <p:sp>
        <p:nvSpPr>
          <p:cNvPr id="69" name="Text 67"/>
          <p:cNvSpPr txBox="1"/>
          <p:nvPr/>
        </p:nvSpPr>
        <p:spPr>
          <a:xfrm>
            <a:off x="1005840" y="8887968"/>
            <a:ext cx="2194560" cy="694944"/>
          </a:xfrm>
          <a:prstGeom prst="rect">
            <a:avLst/>
          </a:prstGeom>
          <a:noFill/>
          <a:ln/>
        </p:spPr>
        <p:txBody>
          <a:bodyPr wrap="square" lIns="0" tIns="0" rIns="0" bIns="0" rtlCol="0" anchor="ctr"/>
          <a:lstStyle/>
          <a:p>
            <a:pPr algn="ctr" indent="0" marL="0">
              <a:buNone/>
            </a:pPr>
            <a:r>
              <a:rPr lang="en-US" sz="2200" b="1" dirty="0">
                <a:solidFill>
                  <a:srgbClr val="94DD26"/>
                </a:solidFill>
                <a:latin typeface="Roboto" pitchFamily="34" charset="0"/>
                <a:ea typeface="Roboto" pitchFamily="34" charset="-122"/>
                <a:cs typeface="Roboto" pitchFamily="34" charset="-120"/>
              </a:rPr>
              <a:t>LIVE DEMO</a:t>
            </a:r>
            <a:endParaRPr lang="en-US" sz="2200" dirty="0"/>
          </a:p>
        </p:txBody>
      </p:sp>
      <p:sp>
        <p:nvSpPr>
          <p:cNvPr id="70" name="Text 68"/>
          <p:cNvSpPr txBox="1"/>
          <p:nvPr/>
        </p:nvSpPr>
        <p:spPr>
          <a:xfrm>
            <a:off x="3566160" y="8686800"/>
            <a:ext cx="13716000" cy="1097280"/>
          </a:xfrm>
          <a:prstGeom prst="rect">
            <a:avLst/>
          </a:prstGeom>
          <a:noFill/>
          <a:ln/>
        </p:spPr>
        <p:txBody>
          <a:bodyPr wrap="square" lIns="0" tIns="0" rIns="0" bIns="0" rtlCol="0" anchor="ctr"/>
          <a:lstStyle/>
          <a:p>
            <a:pPr indent="0" marL="0">
              <a:buNone/>
            </a:pPr>
            <a:r>
              <a:rPr lang="en-US" sz="2600" dirty="0">
                <a:solidFill>
                  <a:srgbClr val="FFFFFF"/>
                </a:solidFill>
                <a:latin typeface="Roboto" pitchFamily="34" charset="0"/>
                <a:ea typeface="Roboto" pitchFamily="34" charset="-122"/>
                <a:cs typeface="Roboto" pitchFamily="34" charset="-120"/>
              </a:rPr>
              <a:t>One selected model. Explicit rule version. Human-readable reason.</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58368" y="457200"/>
            <a:ext cx="16916400" cy="1234440"/>
          </a:xfrm>
          <a:prstGeom prst="rect">
            <a:avLst/>
          </a:prstGeom>
          <a:noFill/>
          <a:ln/>
        </p:spPr>
        <p:txBody>
          <a:bodyPr wrap="square" lIns="0" tIns="0" rIns="0" bIns="0" rtlCol="0" anchor="ctr"/>
          <a:lstStyle/>
          <a:p>
            <a:pPr indent="0" marL="0">
              <a:buNone/>
            </a:pPr>
            <a:r>
              <a:rPr lang="en-US" sz="7200" b="1" dirty="0">
                <a:solidFill>
                  <a:srgbClr val="94DD26"/>
                </a:solidFill>
                <a:latin typeface="Roboto" pitchFamily="34" charset="0"/>
                <a:ea typeface="Roboto" pitchFamily="34" charset="-122"/>
                <a:cs typeface="Roboto" pitchFamily="34" charset="-120"/>
              </a:rPr>
              <a:t>CP2 </a:t>
            </a:r>
            <a:pPr indent="0" marL="0">
              <a:buNone/>
            </a:pPr>
            <a:r>
              <a:rPr lang="en-US" sz="7200" b="1" dirty="0">
                <a:solidFill>
                  <a:srgbClr val="FFFFFF"/>
                </a:solidFill>
                <a:latin typeface="Roboto" pitchFamily="34" charset="0"/>
                <a:ea typeface="Roboto" pitchFamily="34" charset="-122"/>
                <a:cs typeface="Roboto" pitchFamily="34" charset="-120"/>
              </a:rPr>
              <a:t>• Benchmark evidence</a:t>
            </a:r>
            <a:endParaRPr lang="en-US" sz="7200" dirty="0"/>
          </a:p>
        </p:txBody>
      </p:sp>
      <p:sp>
        <p:nvSpPr>
          <p:cNvPr id="3" name="Text 1"/>
          <p:cNvSpPr txBox="1"/>
          <p:nvPr/>
        </p:nvSpPr>
        <p:spPr>
          <a:xfrm>
            <a:off x="694944" y="18745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Same 12 GSM8K questions × 3 paid models = 36 result cells · total cost $0.023</a:t>
            </a:r>
            <a:endParaRPr lang="en-US" sz="2600" dirty="0"/>
          </a:p>
        </p:txBody>
      </p:sp>
      <p:sp>
        <p:nvSpPr>
          <p:cNvPr id="4" name="Shape 2"/>
          <p:cNvSpPr/>
          <p:nvPr/>
        </p:nvSpPr>
        <p:spPr>
          <a:xfrm>
            <a:off x="649224" y="2743200"/>
            <a:ext cx="3063240" cy="6949440"/>
          </a:xfrm>
          <a:prstGeom prst="roundRect">
            <a:avLst>
              <a:gd name="adj" fmla="val 3582"/>
            </a:avLst>
          </a:prstGeom>
          <a:solidFill>
            <a:srgbClr val="111316"/>
          </a:solidFill>
          <a:ln w="15875">
            <a:solidFill>
              <a:srgbClr val="2B2F33"/>
            </a:solidFill>
            <a:prstDash val="solid"/>
          </a:ln>
        </p:spPr>
      </p:sp>
      <p:sp>
        <p:nvSpPr>
          <p:cNvPr id="5" name="Text 3"/>
          <p:cNvSpPr txBox="1"/>
          <p:nvPr/>
        </p:nvSpPr>
        <p:spPr>
          <a:xfrm>
            <a:off x="649224" y="3017520"/>
            <a:ext cx="3063240" cy="502920"/>
          </a:xfrm>
          <a:prstGeom prst="rect">
            <a:avLst/>
          </a:prstGeom>
          <a:noFill/>
          <a:ln/>
        </p:spPr>
        <p:txBody>
          <a:bodyPr wrap="square" lIns="0" tIns="0" rIns="0" bIns="0" rtlCol="0" anchor="t"/>
          <a:lstStyle/>
          <a:p>
            <a:pPr algn="ctr" indent="0" marL="0">
              <a:buNone/>
            </a:pPr>
            <a:r>
              <a:rPr lang="en-US" sz="2400" b="1" dirty="0">
                <a:solidFill>
                  <a:srgbClr val="94DD26"/>
                </a:solidFill>
                <a:latin typeface="Roboto" pitchFamily="34" charset="0"/>
                <a:ea typeface="Roboto" pitchFamily="34" charset="-122"/>
                <a:cs typeface="Roboto" pitchFamily="34" charset="-120"/>
              </a:rPr>
              <a:t>GEMINI 4 ARGON</a:t>
            </a:r>
            <a:endParaRPr lang="en-US" sz="2400" dirty="0"/>
          </a:p>
        </p:txBody>
      </p:sp>
      <p:sp>
        <p:nvSpPr>
          <p:cNvPr id="6" name="Text 4"/>
          <p:cNvSpPr txBox="1"/>
          <p:nvPr/>
        </p:nvSpPr>
        <p:spPr>
          <a:xfrm>
            <a:off x="649224" y="352044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100% accuracy</a:t>
            </a:r>
            <a:endParaRPr lang="en-US" sz="2000" dirty="0"/>
          </a:p>
        </p:txBody>
      </p:sp>
      <p:sp>
        <p:nvSpPr>
          <p:cNvPr id="7" name="Text 5"/>
          <p:cNvSpPr txBox="1"/>
          <p:nvPr/>
        </p:nvSpPr>
        <p:spPr>
          <a:xfrm>
            <a:off x="649224" y="393192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12</a:t>
            </a:r>
            <a:endParaRPr lang="en-US" sz="8000" dirty="0"/>
          </a:p>
        </p:txBody>
      </p:sp>
      <p:sp>
        <p:nvSpPr>
          <p:cNvPr id="8" name="Text 6"/>
          <p:cNvSpPr txBox="1"/>
          <p:nvPr/>
        </p:nvSpPr>
        <p:spPr>
          <a:xfrm>
            <a:off x="649224" y="507492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exact matches</a:t>
            </a:r>
            <a:endParaRPr lang="en-US" sz="2000" dirty="0"/>
          </a:p>
        </p:txBody>
      </p:sp>
      <p:sp>
        <p:nvSpPr>
          <p:cNvPr id="9" name="Shape 7"/>
          <p:cNvSpPr/>
          <p:nvPr/>
        </p:nvSpPr>
        <p:spPr>
          <a:xfrm>
            <a:off x="1014984" y="5715000"/>
            <a:ext cx="2331720" cy="0"/>
          </a:xfrm>
          <a:prstGeom prst="line">
            <a:avLst/>
          </a:prstGeom>
          <a:noFill/>
          <a:ln w="12700">
            <a:solidFill>
              <a:srgbClr val="2B2F33"/>
            </a:solidFill>
            <a:prstDash val="solid"/>
          </a:ln>
        </p:spPr>
      </p:sp>
      <p:sp>
        <p:nvSpPr>
          <p:cNvPr id="10" name="Text 8"/>
          <p:cNvSpPr txBox="1"/>
          <p:nvPr/>
        </p:nvSpPr>
        <p:spPr>
          <a:xfrm>
            <a:off x="649224" y="585216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12</a:t>
            </a:r>
            <a:endParaRPr lang="en-US" sz="8000" dirty="0"/>
          </a:p>
        </p:txBody>
      </p:sp>
      <p:sp>
        <p:nvSpPr>
          <p:cNvPr id="11" name="Text 9"/>
          <p:cNvSpPr txBox="1"/>
          <p:nvPr/>
        </p:nvSpPr>
        <p:spPr>
          <a:xfrm>
            <a:off x="649224" y="699516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served calls</a:t>
            </a:r>
            <a:endParaRPr lang="en-US" sz="2000" dirty="0"/>
          </a:p>
        </p:txBody>
      </p:sp>
      <p:sp>
        <p:nvSpPr>
          <p:cNvPr id="12" name="Shape 10"/>
          <p:cNvSpPr/>
          <p:nvPr/>
        </p:nvSpPr>
        <p:spPr>
          <a:xfrm>
            <a:off x="649224" y="7726680"/>
            <a:ext cx="3063240" cy="0"/>
          </a:xfrm>
          <a:prstGeom prst="line">
            <a:avLst/>
          </a:prstGeom>
          <a:noFill/>
          <a:ln w="12700">
            <a:solidFill>
              <a:srgbClr val="2B2F33"/>
            </a:solidFill>
            <a:prstDash val="solid"/>
          </a:ln>
        </p:spPr>
      </p:sp>
      <p:sp>
        <p:nvSpPr>
          <p:cNvPr id="13" name="Text 11"/>
          <p:cNvSpPr txBox="1"/>
          <p:nvPr/>
        </p:nvSpPr>
        <p:spPr>
          <a:xfrm>
            <a:off x="64922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median</a:t>
            </a:r>
            <a:endParaRPr lang="en-US" sz="1800" dirty="0"/>
          </a:p>
        </p:txBody>
      </p:sp>
      <p:sp>
        <p:nvSpPr>
          <p:cNvPr id="14" name="Text 12"/>
          <p:cNvSpPr txBox="1"/>
          <p:nvPr/>
        </p:nvSpPr>
        <p:spPr>
          <a:xfrm>
            <a:off x="64922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5.0 s</a:t>
            </a:r>
            <a:endParaRPr lang="en-US" sz="2600" dirty="0"/>
          </a:p>
        </p:txBody>
      </p:sp>
      <p:sp>
        <p:nvSpPr>
          <p:cNvPr id="15" name="Text 13"/>
          <p:cNvSpPr txBox="1"/>
          <p:nvPr/>
        </p:nvSpPr>
        <p:spPr>
          <a:xfrm>
            <a:off x="218084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cost</a:t>
            </a:r>
            <a:endParaRPr lang="en-US" sz="1800" dirty="0"/>
          </a:p>
        </p:txBody>
      </p:sp>
      <p:sp>
        <p:nvSpPr>
          <p:cNvPr id="16" name="Text 14"/>
          <p:cNvSpPr txBox="1"/>
          <p:nvPr/>
        </p:nvSpPr>
        <p:spPr>
          <a:xfrm>
            <a:off x="218084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$0.0209</a:t>
            </a:r>
            <a:endParaRPr lang="en-US" sz="2600" dirty="0"/>
          </a:p>
        </p:txBody>
      </p:sp>
      <p:sp>
        <p:nvSpPr>
          <p:cNvPr id="17" name="Shape 15"/>
          <p:cNvSpPr/>
          <p:nvPr/>
        </p:nvSpPr>
        <p:spPr>
          <a:xfrm>
            <a:off x="3895344" y="2743200"/>
            <a:ext cx="3063240" cy="6949440"/>
          </a:xfrm>
          <a:prstGeom prst="roundRect">
            <a:avLst>
              <a:gd name="adj" fmla="val 3582"/>
            </a:avLst>
          </a:prstGeom>
          <a:solidFill>
            <a:srgbClr val="111316"/>
          </a:solidFill>
          <a:ln w="15875">
            <a:solidFill>
              <a:srgbClr val="2B2F33"/>
            </a:solidFill>
            <a:prstDash val="solid"/>
          </a:ln>
        </p:spPr>
      </p:sp>
      <p:sp>
        <p:nvSpPr>
          <p:cNvPr id="18" name="Text 16"/>
          <p:cNvSpPr txBox="1"/>
          <p:nvPr/>
        </p:nvSpPr>
        <p:spPr>
          <a:xfrm>
            <a:off x="3895344" y="3017520"/>
            <a:ext cx="3063240" cy="502920"/>
          </a:xfrm>
          <a:prstGeom prst="rect">
            <a:avLst/>
          </a:prstGeom>
          <a:noFill/>
          <a:ln/>
        </p:spPr>
        <p:txBody>
          <a:bodyPr wrap="square" lIns="0" tIns="0" rIns="0" bIns="0" rtlCol="0" anchor="t"/>
          <a:lstStyle/>
          <a:p>
            <a:pPr algn="ctr" indent="0" marL="0">
              <a:buNone/>
            </a:pPr>
            <a:r>
              <a:rPr lang="en-US" sz="2400" b="1" dirty="0">
                <a:solidFill>
                  <a:srgbClr val="94DD26"/>
                </a:solidFill>
                <a:latin typeface="Roboto" pitchFamily="34" charset="0"/>
                <a:ea typeface="Roboto" pitchFamily="34" charset="-122"/>
                <a:cs typeface="Roboto" pitchFamily="34" charset="-120"/>
              </a:rPr>
              <a:t>GEMMA 4 26B</a:t>
            </a:r>
            <a:endParaRPr lang="en-US" sz="2400" dirty="0"/>
          </a:p>
        </p:txBody>
      </p:sp>
      <p:sp>
        <p:nvSpPr>
          <p:cNvPr id="19" name="Text 17"/>
          <p:cNvSpPr txBox="1"/>
          <p:nvPr/>
        </p:nvSpPr>
        <p:spPr>
          <a:xfrm>
            <a:off x="3895344" y="352044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91.7% accuracy</a:t>
            </a:r>
            <a:endParaRPr lang="en-US" sz="2000" dirty="0"/>
          </a:p>
        </p:txBody>
      </p:sp>
      <p:sp>
        <p:nvSpPr>
          <p:cNvPr id="20" name="Text 18"/>
          <p:cNvSpPr txBox="1"/>
          <p:nvPr/>
        </p:nvSpPr>
        <p:spPr>
          <a:xfrm>
            <a:off x="3895344" y="393192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11</a:t>
            </a:r>
            <a:endParaRPr lang="en-US" sz="8000" dirty="0"/>
          </a:p>
        </p:txBody>
      </p:sp>
      <p:sp>
        <p:nvSpPr>
          <p:cNvPr id="21" name="Text 19"/>
          <p:cNvSpPr txBox="1"/>
          <p:nvPr/>
        </p:nvSpPr>
        <p:spPr>
          <a:xfrm>
            <a:off x="3895344" y="507492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exact matches</a:t>
            </a:r>
            <a:endParaRPr lang="en-US" sz="2000" dirty="0"/>
          </a:p>
        </p:txBody>
      </p:sp>
      <p:sp>
        <p:nvSpPr>
          <p:cNvPr id="22" name="Shape 20"/>
          <p:cNvSpPr/>
          <p:nvPr/>
        </p:nvSpPr>
        <p:spPr>
          <a:xfrm>
            <a:off x="4261104" y="5715000"/>
            <a:ext cx="2331720" cy="0"/>
          </a:xfrm>
          <a:prstGeom prst="line">
            <a:avLst/>
          </a:prstGeom>
          <a:noFill/>
          <a:ln w="12700">
            <a:solidFill>
              <a:srgbClr val="2B2F33"/>
            </a:solidFill>
            <a:prstDash val="solid"/>
          </a:ln>
        </p:spPr>
      </p:sp>
      <p:sp>
        <p:nvSpPr>
          <p:cNvPr id="23" name="Text 21"/>
          <p:cNvSpPr txBox="1"/>
          <p:nvPr/>
        </p:nvSpPr>
        <p:spPr>
          <a:xfrm>
            <a:off x="3895344" y="585216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12</a:t>
            </a:r>
            <a:endParaRPr lang="en-US" sz="8000" dirty="0"/>
          </a:p>
        </p:txBody>
      </p:sp>
      <p:sp>
        <p:nvSpPr>
          <p:cNvPr id="24" name="Text 22"/>
          <p:cNvSpPr txBox="1"/>
          <p:nvPr/>
        </p:nvSpPr>
        <p:spPr>
          <a:xfrm>
            <a:off x="3895344" y="699516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served calls</a:t>
            </a:r>
            <a:endParaRPr lang="en-US" sz="2000" dirty="0"/>
          </a:p>
        </p:txBody>
      </p:sp>
      <p:sp>
        <p:nvSpPr>
          <p:cNvPr id="25" name="Shape 23"/>
          <p:cNvSpPr/>
          <p:nvPr/>
        </p:nvSpPr>
        <p:spPr>
          <a:xfrm>
            <a:off x="3895344" y="7726680"/>
            <a:ext cx="3063240" cy="0"/>
          </a:xfrm>
          <a:prstGeom prst="line">
            <a:avLst/>
          </a:prstGeom>
          <a:noFill/>
          <a:ln w="12700">
            <a:solidFill>
              <a:srgbClr val="2B2F33"/>
            </a:solidFill>
            <a:prstDash val="solid"/>
          </a:ln>
        </p:spPr>
      </p:sp>
      <p:sp>
        <p:nvSpPr>
          <p:cNvPr id="26" name="Text 24"/>
          <p:cNvSpPr txBox="1"/>
          <p:nvPr/>
        </p:nvSpPr>
        <p:spPr>
          <a:xfrm>
            <a:off x="389534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median</a:t>
            </a:r>
            <a:endParaRPr lang="en-US" sz="1800" dirty="0"/>
          </a:p>
        </p:txBody>
      </p:sp>
      <p:sp>
        <p:nvSpPr>
          <p:cNvPr id="27" name="Text 25"/>
          <p:cNvSpPr txBox="1"/>
          <p:nvPr/>
        </p:nvSpPr>
        <p:spPr>
          <a:xfrm>
            <a:off x="389534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2.9 s</a:t>
            </a:r>
            <a:endParaRPr lang="en-US" sz="2600" dirty="0"/>
          </a:p>
        </p:txBody>
      </p:sp>
      <p:sp>
        <p:nvSpPr>
          <p:cNvPr id="28" name="Text 26"/>
          <p:cNvSpPr txBox="1"/>
          <p:nvPr/>
        </p:nvSpPr>
        <p:spPr>
          <a:xfrm>
            <a:off x="542696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cost</a:t>
            </a:r>
            <a:endParaRPr lang="en-US" sz="1800" dirty="0"/>
          </a:p>
        </p:txBody>
      </p:sp>
      <p:sp>
        <p:nvSpPr>
          <p:cNvPr id="29" name="Text 27"/>
          <p:cNvSpPr txBox="1"/>
          <p:nvPr/>
        </p:nvSpPr>
        <p:spPr>
          <a:xfrm>
            <a:off x="542696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$0.0010</a:t>
            </a:r>
            <a:endParaRPr lang="en-US" sz="2600" dirty="0"/>
          </a:p>
        </p:txBody>
      </p:sp>
      <p:sp>
        <p:nvSpPr>
          <p:cNvPr id="30" name="Shape 28"/>
          <p:cNvSpPr/>
          <p:nvPr/>
        </p:nvSpPr>
        <p:spPr>
          <a:xfrm>
            <a:off x="7141464" y="2743200"/>
            <a:ext cx="3063240" cy="6949440"/>
          </a:xfrm>
          <a:prstGeom prst="roundRect">
            <a:avLst>
              <a:gd name="adj" fmla="val 3582"/>
            </a:avLst>
          </a:prstGeom>
          <a:solidFill>
            <a:srgbClr val="111316"/>
          </a:solidFill>
          <a:ln w="15875">
            <a:solidFill>
              <a:srgbClr val="2B2F33"/>
            </a:solidFill>
            <a:prstDash val="solid"/>
          </a:ln>
        </p:spPr>
      </p:sp>
      <p:sp>
        <p:nvSpPr>
          <p:cNvPr id="31" name="Text 29"/>
          <p:cNvSpPr txBox="1"/>
          <p:nvPr/>
        </p:nvSpPr>
        <p:spPr>
          <a:xfrm>
            <a:off x="7141464" y="3017520"/>
            <a:ext cx="3063240" cy="502920"/>
          </a:xfrm>
          <a:prstGeom prst="rect">
            <a:avLst/>
          </a:prstGeom>
          <a:noFill/>
          <a:ln/>
        </p:spPr>
        <p:txBody>
          <a:bodyPr wrap="square" lIns="0" tIns="0" rIns="0" bIns="0" rtlCol="0" anchor="t"/>
          <a:lstStyle/>
          <a:p>
            <a:pPr algn="ctr" indent="0" marL="0">
              <a:buNone/>
            </a:pPr>
            <a:r>
              <a:rPr lang="en-US" sz="2400" b="1" dirty="0">
                <a:solidFill>
                  <a:srgbClr val="94DD26"/>
                </a:solidFill>
                <a:latin typeface="Roboto" pitchFamily="34" charset="0"/>
                <a:ea typeface="Roboto" pitchFamily="34" charset="-122"/>
                <a:cs typeface="Roboto" pitchFamily="34" charset="-120"/>
              </a:rPr>
              <a:t>MERCURY 3</a:t>
            </a:r>
            <a:endParaRPr lang="en-US" sz="2400" dirty="0"/>
          </a:p>
        </p:txBody>
      </p:sp>
      <p:sp>
        <p:nvSpPr>
          <p:cNvPr id="32" name="Text 30"/>
          <p:cNvSpPr txBox="1"/>
          <p:nvPr/>
        </p:nvSpPr>
        <p:spPr>
          <a:xfrm>
            <a:off x="7141464" y="352044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83.3% accuracy</a:t>
            </a:r>
            <a:endParaRPr lang="en-US" sz="2000" dirty="0"/>
          </a:p>
        </p:txBody>
      </p:sp>
      <p:sp>
        <p:nvSpPr>
          <p:cNvPr id="33" name="Text 31"/>
          <p:cNvSpPr txBox="1"/>
          <p:nvPr/>
        </p:nvSpPr>
        <p:spPr>
          <a:xfrm>
            <a:off x="7141464" y="393192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10</a:t>
            </a:r>
            <a:endParaRPr lang="en-US" sz="8000" dirty="0"/>
          </a:p>
        </p:txBody>
      </p:sp>
      <p:sp>
        <p:nvSpPr>
          <p:cNvPr id="34" name="Text 32"/>
          <p:cNvSpPr txBox="1"/>
          <p:nvPr/>
        </p:nvSpPr>
        <p:spPr>
          <a:xfrm>
            <a:off x="7141464" y="507492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exact matches</a:t>
            </a:r>
            <a:endParaRPr lang="en-US" sz="2000" dirty="0"/>
          </a:p>
        </p:txBody>
      </p:sp>
      <p:sp>
        <p:nvSpPr>
          <p:cNvPr id="35" name="Shape 33"/>
          <p:cNvSpPr/>
          <p:nvPr/>
        </p:nvSpPr>
        <p:spPr>
          <a:xfrm>
            <a:off x="7507224" y="5715000"/>
            <a:ext cx="2331720" cy="0"/>
          </a:xfrm>
          <a:prstGeom prst="line">
            <a:avLst/>
          </a:prstGeom>
          <a:noFill/>
          <a:ln w="12700">
            <a:solidFill>
              <a:srgbClr val="2B2F33"/>
            </a:solidFill>
            <a:prstDash val="solid"/>
          </a:ln>
        </p:spPr>
      </p:sp>
      <p:sp>
        <p:nvSpPr>
          <p:cNvPr id="36" name="Text 34"/>
          <p:cNvSpPr txBox="1"/>
          <p:nvPr/>
        </p:nvSpPr>
        <p:spPr>
          <a:xfrm>
            <a:off x="7141464" y="5852160"/>
            <a:ext cx="3063240" cy="1143000"/>
          </a:xfrm>
          <a:prstGeom prst="rect">
            <a:avLst/>
          </a:prstGeom>
          <a:noFill/>
          <a:ln/>
        </p:spPr>
        <p:txBody>
          <a:bodyPr wrap="square" lIns="0" tIns="0" rIns="0" bIns="0" rtlCol="0" anchor="ctr"/>
          <a:lstStyle/>
          <a:p>
            <a:pPr algn="ctr" indent="0" marL="0">
              <a:buNone/>
            </a:pPr>
            <a:r>
              <a:rPr lang="en-US" sz="8000" b="1" dirty="0">
                <a:solidFill>
                  <a:srgbClr val="94DD26"/>
                </a:solidFill>
                <a:latin typeface="Roboto" pitchFamily="34" charset="0"/>
                <a:ea typeface="Roboto" pitchFamily="34" charset="-122"/>
                <a:cs typeface="Roboto" pitchFamily="34" charset="-120"/>
              </a:rPr>
              <a:t>10</a:t>
            </a:r>
            <a:endParaRPr lang="en-US" sz="8000" dirty="0"/>
          </a:p>
        </p:txBody>
      </p:sp>
      <p:sp>
        <p:nvSpPr>
          <p:cNvPr id="37" name="Text 35"/>
          <p:cNvSpPr txBox="1"/>
          <p:nvPr/>
        </p:nvSpPr>
        <p:spPr>
          <a:xfrm>
            <a:off x="7141464" y="6995160"/>
            <a:ext cx="3063240" cy="411480"/>
          </a:xfrm>
          <a:prstGeom prst="rect">
            <a:avLst/>
          </a:prstGeom>
          <a:noFill/>
          <a:ln/>
        </p:spPr>
        <p:txBody>
          <a:bodyPr wrap="square" lIns="0" tIns="0" rIns="0" bIns="0" rtlCol="0" anchor="t"/>
          <a:lstStyle/>
          <a:p>
            <a:pPr algn="ctr" indent="0" marL="0">
              <a:buNone/>
            </a:pPr>
            <a:r>
              <a:rPr lang="en-US" sz="2000" dirty="0">
                <a:solidFill>
                  <a:srgbClr val="C1C1C1"/>
                </a:solidFill>
                <a:latin typeface="Roboto" pitchFamily="34" charset="0"/>
                <a:ea typeface="Roboto" pitchFamily="34" charset="-122"/>
                <a:cs typeface="Roboto" pitchFamily="34" charset="-120"/>
              </a:rPr>
              <a:t>served · 2 empty</a:t>
            </a:r>
            <a:endParaRPr lang="en-US" sz="2000" dirty="0"/>
          </a:p>
        </p:txBody>
      </p:sp>
      <p:sp>
        <p:nvSpPr>
          <p:cNvPr id="38" name="Shape 36"/>
          <p:cNvSpPr/>
          <p:nvPr/>
        </p:nvSpPr>
        <p:spPr>
          <a:xfrm>
            <a:off x="7141464" y="7726680"/>
            <a:ext cx="3063240" cy="0"/>
          </a:xfrm>
          <a:prstGeom prst="line">
            <a:avLst/>
          </a:prstGeom>
          <a:noFill/>
          <a:ln w="12700">
            <a:solidFill>
              <a:srgbClr val="2B2F33"/>
            </a:solidFill>
            <a:prstDash val="solid"/>
          </a:ln>
        </p:spPr>
      </p:sp>
      <p:sp>
        <p:nvSpPr>
          <p:cNvPr id="39" name="Text 37"/>
          <p:cNvSpPr txBox="1"/>
          <p:nvPr/>
        </p:nvSpPr>
        <p:spPr>
          <a:xfrm>
            <a:off x="714146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median</a:t>
            </a:r>
            <a:endParaRPr lang="en-US" sz="1800" dirty="0"/>
          </a:p>
        </p:txBody>
      </p:sp>
      <p:sp>
        <p:nvSpPr>
          <p:cNvPr id="40" name="Text 38"/>
          <p:cNvSpPr txBox="1"/>
          <p:nvPr/>
        </p:nvSpPr>
        <p:spPr>
          <a:xfrm>
            <a:off x="714146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0.6 s</a:t>
            </a:r>
            <a:endParaRPr lang="en-US" sz="2600" dirty="0"/>
          </a:p>
        </p:txBody>
      </p:sp>
      <p:sp>
        <p:nvSpPr>
          <p:cNvPr id="41" name="Text 39"/>
          <p:cNvSpPr txBox="1"/>
          <p:nvPr/>
        </p:nvSpPr>
        <p:spPr>
          <a:xfrm>
            <a:off x="8673084" y="7955280"/>
            <a:ext cx="1531620" cy="365760"/>
          </a:xfrm>
          <a:prstGeom prst="rect">
            <a:avLst/>
          </a:prstGeom>
          <a:noFill/>
          <a:ln/>
        </p:spPr>
        <p:txBody>
          <a:bodyPr wrap="square" lIns="0" tIns="0" rIns="0" bIns="0" rtlCol="0" anchor="t"/>
          <a:lstStyle/>
          <a:p>
            <a:pPr algn="ctr" indent="0" marL="0">
              <a:buNone/>
            </a:pPr>
            <a:r>
              <a:rPr lang="en-US" sz="1800" dirty="0">
                <a:solidFill>
                  <a:srgbClr val="C1C1C1"/>
                </a:solidFill>
                <a:latin typeface="Roboto" pitchFamily="34" charset="0"/>
                <a:ea typeface="Roboto" pitchFamily="34" charset="-122"/>
                <a:cs typeface="Roboto" pitchFamily="34" charset="-120"/>
              </a:rPr>
              <a:t>cost</a:t>
            </a:r>
            <a:endParaRPr lang="en-US" sz="1800" dirty="0"/>
          </a:p>
        </p:txBody>
      </p:sp>
      <p:sp>
        <p:nvSpPr>
          <p:cNvPr id="42" name="Text 40"/>
          <p:cNvSpPr txBox="1"/>
          <p:nvPr/>
        </p:nvSpPr>
        <p:spPr>
          <a:xfrm>
            <a:off x="8673084" y="8366760"/>
            <a:ext cx="1531620" cy="548640"/>
          </a:xfrm>
          <a:prstGeom prst="rect">
            <a:avLst/>
          </a:prstGeom>
          <a:noFill/>
          <a:ln/>
        </p:spPr>
        <p:txBody>
          <a:bodyPr wrap="square" lIns="0" tIns="0" rIns="0" bIns="0" rtlCol="0" anchor="t"/>
          <a:lstStyle/>
          <a:p>
            <a:pPr algn="ctr" indent="0" marL="0">
              <a:buNone/>
            </a:pPr>
            <a:r>
              <a:rPr lang="en-US" sz="2600" b="1" dirty="0">
                <a:solidFill>
                  <a:srgbClr val="94DD26"/>
                </a:solidFill>
                <a:latin typeface="Roboto" pitchFamily="34" charset="0"/>
                <a:ea typeface="Roboto" pitchFamily="34" charset="-122"/>
                <a:cs typeface="Roboto" pitchFamily="34" charset="-120"/>
              </a:rPr>
              <a:t>$0.0009</a:t>
            </a:r>
            <a:endParaRPr lang="en-US" sz="2600" dirty="0"/>
          </a:p>
        </p:txBody>
      </p:sp>
      <p:sp>
        <p:nvSpPr>
          <p:cNvPr id="43" name="Shape 41"/>
          <p:cNvSpPr/>
          <p:nvPr/>
        </p:nvSpPr>
        <p:spPr>
          <a:xfrm>
            <a:off x="10469880" y="2743200"/>
            <a:ext cx="7178040" cy="3108960"/>
          </a:xfrm>
          <a:prstGeom prst="roundRect">
            <a:avLst>
              <a:gd name="adj" fmla="val 3529"/>
            </a:avLst>
          </a:prstGeom>
          <a:solidFill>
            <a:srgbClr val="111316"/>
          </a:solidFill>
          <a:ln w="15875">
            <a:solidFill>
              <a:srgbClr val="3A4A2A"/>
            </a:solidFill>
            <a:prstDash val="solid"/>
          </a:ln>
        </p:spPr>
      </p:sp>
      <p:sp>
        <p:nvSpPr>
          <p:cNvPr id="44" name="Text 42"/>
          <p:cNvSpPr txBox="1"/>
          <p:nvPr/>
        </p:nvSpPr>
        <p:spPr>
          <a:xfrm>
            <a:off x="10835640" y="2880360"/>
            <a:ext cx="822960" cy="2834640"/>
          </a:xfrm>
          <a:prstGeom prst="rect">
            <a:avLst/>
          </a:prstGeom>
          <a:noFill/>
          <a:ln/>
        </p:spPr>
        <p:txBody>
          <a:bodyPr wrap="square" lIns="0" tIns="0" rIns="0" bIns="0" rtlCol="0" anchor="ctr"/>
          <a:lstStyle/>
          <a:p>
            <a:pPr algn="ctr" indent="0" marL="0">
              <a:buNone/>
            </a:pPr>
            <a:r>
              <a:rPr lang="en-US" sz="12000" b="1" dirty="0">
                <a:solidFill>
                  <a:srgbClr val="94DD26"/>
                </a:solidFill>
                <a:latin typeface="Roboto" pitchFamily="34" charset="0"/>
                <a:ea typeface="Roboto" pitchFamily="34" charset="-122"/>
                <a:cs typeface="Roboto" pitchFamily="34" charset="-120"/>
              </a:rPr>
              <a:t>!</a:t>
            </a:r>
            <a:endParaRPr lang="en-US" sz="12000" dirty="0"/>
          </a:p>
        </p:txBody>
      </p:sp>
      <p:sp>
        <p:nvSpPr>
          <p:cNvPr id="45" name="Text 43"/>
          <p:cNvSpPr txBox="1"/>
          <p:nvPr/>
        </p:nvSpPr>
        <p:spPr>
          <a:xfrm>
            <a:off x="11978640" y="2743200"/>
            <a:ext cx="5394960" cy="3108960"/>
          </a:xfrm>
          <a:prstGeom prst="rect">
            <a:avLst/>
          </a:prstGeom>
          <a:noFill/>
          <a:ln/>
        </p:spPr>
        <p:txBody>
          <a:bodyPr wrap="square" lIns="0" tIns="0" rIns="0" bIns="0" rtlCol="0" anchor="ctr"/>
          <a:lstStyle/>
          <a:p>
            <a:pPr indent="0" marL="0">
              <a:spcAft>
                <a:spcPts val="1800"/>
              </a:spcAft>
              <a:buNone/>
            </a:pPr>
            <a:r>
              <a:rPr lang="en-US" sz="2600" b="1" dirty="0">
                <a:solidFill>
                  <a:srgbClr val="C1C1C1"/>
                </a:solidFill>
                <a:latin typeface="Roboto" pitchFamily="34" charset="0"/>
                <a:ea typeface="Roboto" pitchFamily="34" charset="-122"/>
                <a:cs typeface="Roboto" pitchFamily="34" charset="-120"/>
              </a:rPr>
              <a:t>Failures stay visible.</a:t>
            </a:r>
            <a:endParaRPr lang="en-US" sz="2600" dirty="0"/>
          </a:p>
          <a:p>
            <a:pPr indent="0" marL="0">
              <a:spcAft>
                <a:spcPts val="1800"/>
              </a:spcAft>
              <a:buNone/>
            </a:pPr>
            <a:r>
              <a:rPr lang="en-US" sz="2600" b="1" dirty="0">
                <a:solidFill>
                  <a:srgbClr val="C1C1C1"/>
                </a:solidFill>
                <a:latin typeface="Roboto" pitchFamily="34" charset="0"/>
                <a:ea typeface="Roboto" pitchFamily="34" charset="-122"/>
                <a:cs typeface="Roboto" pitchFamily="34" charset="-120"/>
              </a:rPr>
              <a:t>Empty responses count.</a:t>
            </a:r>
            <a:endParaRPr lang="en-US" sz="2600" dirty="0"/>
          </a:p>
          <a:p>
            <a:pPr indent="0" marL="0">
              <a:spcAft>
                <a:spcPts val="1800"/>
              </a:spcAft>
              <a:buNone/>
            </a:pPr>
            <a:r>
              <a:rPr lang="en-US" sz="2600" b="1" dirty="0">
                <a:solidFill>
                  <a:srgbClr val="C1C1C1"/>
                </a:solidFill>
                <a:latin typeface="Roboto" pitchFamily="34" charset="0"/>
                <a:ea typeface="Roboto" pitchFamily="34" charset="-122"/>
                <a:cs typeface="Roboto" pitchFamily="34" charset="-120"/>
              </a:rPr>
              <a:t>No silent substitute.</a:t>
            </a:r>
            <a:endParaRPr lang="en-US" sz="2600" dirty="0"/>
          </a:p>
        </p:txBody>
      </p:sp>
      <p:sp>
        <p:nvSpPr>
          <p:cNvPr id="46" name="Shape 44"/>
          <p:cNvSpPr/>
          <p:nvPr/>
        </p:nvSpPr>
        <p:spPr>
          <a:xfrm>
            <a:off x="10469880" y="6035040"/>
            <a:ext cx="7178040" cy="3657600"/>
          </a:xfrm>
          <a:prstGeom prst="roundRect">
            <a:avLst>
              <a:gd name="adj" fmla="val 3000"/>
            </a:avLst>
          </a:prstGeom>
          <a:solidFill>
            <a:srgbClr val="111316"/>
          </a:solidFill>
          <a:ln w="15875">
            <a:solidFill>
              <a:srgbClr val="2B2F33"/>
            </a:solidFill>
            <a:prstDash val="solid"/>
          </a:ln>
        </p:spPr>
      </p:sp>
      <p:sp>
        <p:nvSpPr>
          <p:cNvPr id="47" name="Text 45"/>
          <p:cNvSpPr txBox="1"/>
          <p:nvPr/>
        </p:nvSpPr>
        <p:spPr>
          <a:xfrm>
            <a:off x="10927080" y="6309360"/>
            <a:ext cx="3657600" cy="457200"/>
          </a:xfrm>
          <a:prstGeom prst="rect">
            <a:avLst/>
          </a:prstGeom>
          <a:noFill/>
          <a:ln/>
        </p:spPr>
        <p:txBody>
          <a:bodyPr wrap="square" lIns="0" tIns="0" rIns="0" bIns="0" rtlCol="0" anchor="t"/>
          <a:lstStyle/>
          <a:p>
            <a:pPr indent="0" marL="0">
              <a:buNone/>
            </a:pPr>
            <a:r>
              <a:rPr lang="en-US" sz="2400" b="1" dirty="0">
                <a:solidFill>
                  <a:srgbClr val="94DD26"/>
                </a:solidFill>
                <a:latin typeface="Roboto" pitchFamily="34" charset="0"/>
                <a:ea typeface="Roboto" pitchFamily="34" charset="-122"/>
                <a:cs typeface="Roboto" pitchFamily="34" charset="-120"/>
              </a:rPr>
              <a:t>LIVE DEMO:</a:t>
            </a:r>
            <a:endParaRPr lang="en-US" sz="2400" dirty="0"/>
          </a:p>
        </p:txBody>
      </p:sp>
      <p:sp>
        <p:nvSpPr>
          <p:cNvPr id="48" name="Text 46"/>
          <p:cNvSpPr txBox="1"/>
          <p:nvPr/>
        </p:nvSpPr>
        <p:spPr>
          <a:xfrm>
            <a:off x="10927080" y="6766560"/>
            <a:ext cx="6400800" cy="2103120"/>
          </a:xfrm>
          <a:prstGeom prst="rect">
            <a:avLst/>
          </a:prstGeom>
          <a:noFill/>
          <a:ln/>
        </p:spPr>
        <p:txBody>
          <a:bodyPr wrap="square" lIns="0" tIns="0" rIns="0" bIns="0" rtlCol="0" anchor="t"/>
          <a:lstStyle/>
          <a:p>
            <a:pPr indent="0" marL="0">
              <a:buNone/>
            </a:pPr>
            <a:r>
              <a:rPr lang="en-US" sz="3800" b="1" dirty="0">
                <a:solidFill>
                  <a:srgbClr val="FFFFFF"/>
                </a:solidFill>
                <a:latin typeface="Roboto" pitchFamily="34" charset="0"/>
                <a:ea typeface="Roboto" pitchFamily="34" charset="-122"/>
                <a:cs typeface="Roboto" pitchFamily="34" charset="-120"/>
              </a:rPr>
              <a:t>saved run</a:t>
            </a:r>
            <a:endParaRPr lang="en-US" sz="3800" dirty="0"/>
          </a:p>
          <a:p>
            <a:pPr indent="0" marL="0">
              <a:buNone/>
            </a:pPr>
            <a:r>
              <a:rPr lang="en-US" sz="3800" b="1" dirty="0">
                <a:solidFill>
                  <a:srgbClr val="94DD26"/>
                </a:solidFill>
                <a:latin typeface="Roboto" pitchFamily="34" charset="0"/>
                <a:ea typeface="Roboto" pitchFamily="34" charset="-122"/>
                <a:cs typeface="Roboto" pitchFamily="34" charset="-120"/>
              </a:rPr>
              <a:t>+</a:t>
            </a:r>
            <a:endParaRPr lang="en-US" sz="3800" dirty="0"/>
          </a:p>
          <a:p>
            <a:pPr indent="0" marL="0">
              <a:buNone/>
            </a:pPr>
            <a:r>
              <a:rPr lang="en-US" sz="3800" b="1" dirty="0">
                <a:solidFill>
                  <a:srgbClr val="FFFFFF"/>
                </a:solidFill>
                <a:latin typeface="Roboto" pitchFamily="34" charset="0"/>
                <a:ea typeface="Roboto" pitchFamily="34" charset="-122"/>
                <a:cs typeface="Roboto" pitchFamily="34" charset="-120"/>
              </a:rPr>
              <a:t>strategy replay</a:t>
            </a:r>
            <a:endParaRPr lang="en-US" sz="3800" dirty="0"/>
          </a:p>
        </p:txBody>
      </p:sp>
      <p:sp>
        <p:nvSpPr>
          <p:cNvPr id="49" name="Text 47"/>
          <p:cNvSpPr txBox="1"/>
          <p:nvPr/>
        </p:nvSpPr>
        <p:spPr>
          <a:xfrm>
            <a:off x="10927080" y="8778240"/>
            <a:ext cx="6492240" cy="777240"/>
          </a:xfrm>
          <a:prstGeom prst="rect">
            <a:avLst/>
          </a:prstGeom>
          <a:noFill/>
          <a:ln/>
        </p:spPr>
        <p:txBody>
          <a:bodyPr wrap="square" lIns="0" tIns="0" rIns="0" bIns="0" rtlCol="0" anchor="t"/>
          <a:lstStyle/>
          <a:p>
            <a:pPr indent="0" marL="0">
              <a:buNone/>
            </a:pPr>
            <a:r>
              <a:rPr lang="en-US" sz="1700" dirty="0">
                <a:solidFill>
                  <a:srgbClr val="8A8F94"/>
                </a:solidFill>
                <a:latin typeface="Roboto" pitchFamily="34" charset="0"/>
                <a:ea typeface="Roboto" pitchFamily="34" charset="-122"/>
                <a:cs typeface="Roboto" pitchFamily="34" charset="-120"/>
              </a:rPr>
              <a:t>CP1 free pool, unchanged:</a:t>
            </a:r>
            <a:endParaRPr lang="en-US" sz="1700" dirty="0"/>
          </a:p>
          <a:p>
            <a:pPr indent="0" marL="0">
              <a:buNone/>
            </a:pPr>
            <a:r>
              <a:rPr lang="en-US" sz="1700" dirty="0">
                <a:solidFill>
                  <a:srgbClr val="8A8F94"/>
                </a:solidFill>
                <a:latin typeface="Roboto" pitchFamily="34" charset="0"/>
                <a:ea typeface="Roboto" pitchFamily="34" charset="-122"/>
                <a:cs typeface="Roboto" pitchFamily="34" charset="-120"/>
              </a:rPr>
              <a:t>Nemotron 8/12 · Gemma 3/12 (9 rate limits)</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Results dashboard</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1031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Six strategies replayed on the same 36 saved paid-pool cells. No new provider calls.</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9224" y="2834640"/>
          <a:ext cx="11521440" cy="914400"/>
        </p:xfrm>
        <a:graphic>
          <a:graphicData uri="http://schemas.openxmlformats.org/drawingml/2006/table">
            <a:tbl>
              <a:tblPr/>
              <a:tblGrid>
                <a:gridCol w="3200400"/>
                <a:gridCol w="3566160"/>
                <a:gridCol w="1371600"/>
                <a:gridCol w="1691640"/>
                <a:gridCol w="1691640"/>
              </a:tblGrid>
              <a:tr h="731520">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STRATEGY</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SELECTED</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CORRECT</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MEDIAN</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c>
                  <a:txBody>
                    <a:bodyPr/>
                    <a:lstStyle/>
                    <a:p>
                      <a:pPr indent="0" marL="0">
                        <a:buNone/>
                      </a:pPr>
                      <a:r>
                        <a:rPr lang="en-US" sz="1400" b="1" dirty="0">
                          <a:solidFill>
                            <a:srgbClr val="8A8F94"/>
                          </a:solidFill>
                          <a:latin typeface="Roboto" pitchFamily="34" charset="0"/>
                          <a:ea typeface="Roboto" pitchFamily="34" charset="-122"/>
                          <a:cs typeface="Roboto" pitchFamily="34" charset="-120"/>
                        </a:rPr>
                        <a:t>COST</a:t>
                      </a:r>
                      <a:endParaRPr lang="en-US" sz="14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5171A"/>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Fixed: lowest-cost</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Gemma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11/12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2,941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$0.00104</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Fixed: higher-capability</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Gemini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12/12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4,992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$0.02089</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Rule: cost</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Gemma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11/12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2,941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$0.00104</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Rule: quality</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Gemini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12/12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4,992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$0.02089</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dirty="0">
                          <a:solidFill>
                            <a:srgbClr val="FFFFFF"/>
                          </a:solidFill>
                          <a:latin typeface="Roboto" pitchFamily="34" charset="0"/>
                          <a:ea typeface="Roboto" pitchFamily="34" charset="-122"/>
                          <a:cs typeface="Roboto" pitchFamily="34" charset="-120"/>
                        </a:rPr>
                        <a:t>Rule: latency</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Mercury × 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10/12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579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c>
                  <a:txBody>
                    <a:bodyPr/>
                    <a:lstStyle/>
                    <a:p>
                      <a:pPr indent="0" marL="0">
                        <a:buNone/>
                      </a:pPr>
                      <a:r>
                        <a:rPr lang="en-US" sz="1800" dirty="0">
                          <a:solidFill>
                            <a:srgbClr val="FFFFFF"/>
                          </a:solidFill>
                          <a:latin typeface="Roboto" pitchFamily="34" charset="0"/>
                          <a:ea typeface="Roboto" pitchFamily="34" charset="-122"/>
                          <a:cs typeface="Roboto" pitchFamily="34" charset="-120"/>
                        </a:rPr>
                        <a:t>$0.00090</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11316"/>
                    </a:solidFill>
                  </a:tcPr>
                </a:tc>
              </a:tr>
              <a:tr h="731520">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Rule: balanced</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Mercury × 7, Gemini × 5</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12/12</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823 ms</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c>
                  <a:txBody>
                    <a:bodyPr/>
                    <a:lstStyle/>
                    <a:p>
                      <a:pPr indent="0" marL="0">
                        <a:buNone/>
                      </a:pPr>
                      <a:r>
                        <a:rPr lang="en-US" sz="1800" b="1" dirty="0">
                          <a:solidFill>
                            <a:srgbClr val="C1FF72"/>
                          </a:solidFill>
                          <a:latin typeface="Roboto" pitchFamily="34" charset="0"/>
                          <a:ea typeface="Roboto" pitchFamily="34" charset="-122"/>
                          <a:cs typeface="Roboto" pitchFamily="34" charset="-120"/>
                        </a:rPr>
                        <a:t>$0.01156</a:t>
                      </a:r>
                      <a:endParaRPr lang="en-US" sz="1800" dirty="0">
                        <a:latin typeface="Roboto" charset="0"/>
                        <a:ea typeface="Roboto" charset="0"/>
                        <a:cs typeface="Roboto" charset="0"/>
                      </a:endParaRPr>
                    </a:p>
                  </a:txBody>
                  <a:tcPr marL="137160" marR="137160" marT="45720" marB="45720" anchor="ctr">
                    <a:lnL w="12700" cap="flat" cmpd="sng" algn="ctr">
                      <a:solidFill>
                        <a:srgbClr val="2B2F33"/>
                      </a:solidFill>
                      <a:prstDash val="solid"/>
                      <a:round/>
                      <a:headEnd type="none" w="med" len="med"/>
                      <a:tailEnd type="none" w="med" len="med"/>
                    </a:lnL>
                    <a:lnR w="12700" cap="flat" cmpd="sng" algn="ctr">
                      <a:solidFill>
                        <a:srgbClr val="2B2F33"/>
                      </a:solidFill>
                      <a:prstDash val="solid"/>
                      <a:round/>
                      <a:headEnd type="none" w="med" len="med"/>
                      <a:tailEnd type="none" w="med" len="med"/>
                    </a:lnR>
                    <a:lnT w="12700" cap="flat" cmpd="sng" algn="ctr">
                      <a:solidFill>
                        <a:srgbClr val="2B2F33"/>
                      </a:solidFill>
                      <a:prstDash val="solid"/>
                      <a:round/>
                      <a:headEnd type="none" w="med" len="med"/>
                      <a:tailEnd type="none" w="med" len="med"/>
                    </a:lnT>
                    <a:lnB w="12700" cap="flat" cmpd="sng" algn="ctr">
                      <a:solidFill>
                        <a:srgbClr val="2B2F33"/>
                      </a:solidFill>
                      <a:prstDash val="solid"/>
                      <a:round/>
                      <a:headEnd type="none" w="med" len="med"/>
                      <a:tailEnd type="none" w="med" len="med"/>
                    </a:lnB>
                    <a:solidFill>
                      <a:srgbClr val="1C2410"/>
                    </a:solidFill>
                  </a:tcPr>
                </a:tc>
              </a:tr>
            </a:tbl>
          </a:graphicData>
        </a:graphic>
      </p:graphicFrame>
      <p:sp>
        <p:nvSpPr>
          <p:cNvPr id="6" name="Shape 3"/>
          <p:cNvSpPr/>
          <p:nvPr/>
        </p:nvSpPr>
        <p:spPr>
          <a:xfrm>
            <a:off x="12435840" y="2834640"/>
            <a:ext cx="5212080" cy="1600200"/>
          </a:xfrm>
          <a:prstGeom prst="roundRect">
            <a:avLst>
              <a:gd name="adj" fmla="val 6857"/>
            </a:avLst>
          </a:prstGeom>
          <a:solidFill>
            <a:srgbClr val="111316"/>
          </a:solidFill>
          <a:ln w="15875">
            <a:solidFill>
              <a:srgbClr val="2B2F33"/>
            </a:solidFill>
            <a:prstDash val="solid"/>
          </a:ln>
        </p:spPr>
      </p:sp>
      <p:sp>
        <p:nvSpPr>
          <p:cNvPr id="7" name="Text 4"/>
          <p:cNvSpPr txBox="1"/>
          <p:nvPr/>
        </p:nvSpPr>
        <p:spPr>
          <a:xfrm>
            <a:off x="12710160" y="2834640"/>
            <a:ext cx="2103120" cy="1600200"/>
          </a:xfrm>
          <a:prstGeom prst="rect">
            <a:avLst/>
          </a:prstGeom>
          <a:noFill/>
          <a:ln/>
        </p:spPr>
        <p:txBody>
          <a:bodyPr wrap="square" lIns="0" tIns="0" rIns="0" bIns="0" rtlCol="0" anchor="ctr"/>
          <a:lstStyle/>
          <a:p>
            <a:pPr indent="0" marL="0">
              <a:buNone/>
            </a:pPr>
            <a:r>
              <a:rPr lang="en-US" sz="5200" b="1" dirty="0">
                <a:solidFill>
                  <a:srgbClr val="C1FF72"/>
                </a:solidFill>
                <a:latin typeface="Roboto" pitchFamily="34" charset="0"/>
                <a:ea typeface="Roboto" pitchFamily="34" charset="-122"/>
                <a:cs typeface="Roboto" pitchFamily="34" charset="-120"/>
              </a:rPr>
              <a:t>12/12</a:t>
            </a:r>
            <a:endParaRPr lang="en-US" sz="5200" dirty="0"/>
          </a:p>
        </p:txBody>
      </p:sp>
      <p:sp>
        <p:nvSpPr>
          <p:cNvPr id="8" name="Text 5"/>
          <p:cNvSpPr txBox="1"/>
          <p:nvPr/>
        </p:nvSpPr>
        <p:spPr>
          <a:xfrm>
            <a:off x="14859000" y="2834640"/>
            <a:ext cx="2606040" cy="1600200"/>
          </a:xfrm>
          <a:prstGeom prst="rect">
            <a:avLst/>
          </a:prstGeom>
          <a:noFill/>
          <a:ln/>
        </p:spPr>
        <p:txBody>
          <a:bodyPr wrap="square" lIns="0" tIns="0" rIns="0" bIns="0" rtlCol="0" anchor="ctr"/>
          <a:lstStyle/>
          <a:p>
            <a:pPr indent="0" marL="0">
              <a:buNone/>
            </a:pPr>
            <a:r>
              <a:rPr lang="en-US" sz="1900" dirty="0">
                <a:solidFill>
                  <a:srgbClr val="C1C1C1"/>
                </a:solidFill>
                <a:latin typeface="Roboto" pitchFamily="34" charset="0"/>
                <a:ea typeface="Roboto" pitchFamily="34" charset="-122"/>
                <a:cs typeface="Roboto" pitchFamily="34" charset="-120"/>
              </a:rPr>
              <a:t>correct, same as always using Gemini</a:t>
            </a:r>
            <a:endParaRPr lang="en-US" sz="1900" dirty="0"/>
          </a:p>
        </p:txBody>
      </p:sp>
      <p:sp>
        <p:nvSpPr>
          <p:cNvPr id="9" name="Shape 6"/>
          <p:cNvSpPr/>
          <p:nvPr/>
        </p:nvSpPr>
        <p:spPr>
          <a:xfrm>
            <a:off x="12435840" y="4617720"/>
            <a:ext cx="5212080" cy="1600200"/>
          </a:xfrm>
          <a:prstGeom prst="roundRect">
            <a:avLst>
              <a:gd name="adj" fmla="val 6857"/>
            </a:avLst>
          </a:prstGeom>
          <a:solidFill>
            <a:srgbClr val="111316"/>
          </a:solidFill>
          <a:ln w="15875">
            <a:solidFill>
              <a:srgbClr val="2B2F33"/>
            </a:solidFill>
            <a:prstDash val="solid"/>
          </a:ln>
        </p:spPr>
      </p:sp>
      <p:sp>
        <p:nvSpPr>
          <p:cNvPr id="10" name="Text 7"/>
          <p:cNvSpPr txBox="1"/>
          <p:nvPr/>
        </p:nvSpPr>
        <p:spPr>
          <a:xfrm>
            <a:off x="12710160" y="4617720"/>
            <a:ext cx="2103120" cy="1600200"/>
          </a:xfrm>
          <a:prstGeom prst="rect">
            <a:avLst/>
          </a:prstGeom>
          <a:noFill/>
          <a:ln/>
        </p:spPr>
        <p:txBody>
          <a:bodyPr wrap="square" lIns="0" tIns="0" rIns="0" bIns="0" rtlCol="0" anchor="ctr"/>
          <a:lstStyle/>
          <a:p>
            <a:pPr indent="0" marL="0">
              <a:buNone/>
            </a:pPr>
            <a:r>
              <a:rPr lang="en-US" sz="5200" b="1" dirty="0">
                <a:solidFill>
                  <a:srgbClr val="C1FF72"/>
                </a:solidFill>
                <a:latin typeface="Roboto" pitchFamily="34" charset="0"/>
                <a:ea typeface="Roboto" pitchFamily="34" charset="-122"/>
                <a:cs typeface="Roboto" pitchFamily="34" charset="-120"/>
              </a:rPr>
              <a:t>−45%</a:t>
            </a:r>
            <a:endParaRPr lang="en-US" sz="5200" dirty="0"/>
          </a:p>
        </p:txBody>
      </p:sp>
      <p:sp>
        <p:nvSpPr>
          <p:cNvPr id="11" name="Text 8"/>
          <p:cNvSpPr txBox="1"/>
          <p:nvPr/>
        </p:nvSpPr>
        <p:spPr>
          <a:xfrm>
            <a:off x="14859000" y="4617720"/>
            <a:ext cx="2606040" cy="1600200"/>
          </a:xfrm>
          <a:prstGeom prst="rect">
            <a:avLst/>
          </a:prstGeom>
          <a:noFill/>
          <a:ln/>
        </p:spPr>
        <p:txBody>
          <a:bodyPr wrap="square" lIns="0" tIns="0" rIns="0" bIns="0" rtlCol="0" anchor="ctr"/>
          <a:lstStyle/>
          <a:p>
            <a:pPr indent="0" marL="0">
              <a:buNone/>
            </a:pPr>
            <a:r>
              <a:rPr lang="en-US" sz="1900" dirty="0">
                <a:solidFill>
                  <a:srgbClr val="C1C1C1"/>
                </a:solidFill>
                <a:latin typeface="Roboto" pitchFamily="34" charset="0"/>
                <a:ea typeface="Roboto" pitchFamily="34" charset="-122"/>
                <a:cs typeface="Roboto" pitchFamily="34" charset="-120"/>
              </a:rPr>
              <a:t>cost vs. always-Gemini ($0.0116 vs. $0.0209)</a:t>
            </a:r>
            <a:endParaRPr lang="en-US" sz="1900" dirty="0"/>
          </a:p>
        </p:txBody>
      </p:sp>
      <p:sp>
        <p:nvSpPr>
          <p:cNvPr id="12" name="Shape 9"/>
          <p:cNvSpPr/>
          <p:nvPr/>
        </p:nvSpPr>
        <p:spPr>
          <a:xfrm>
            <a:off x="12435840" y="6400800"/>
            <a:ext cx="5212080" cy="1600200"/>
          </a:xfrm>
          <a:prstGeom prst="roundRect">
            <a:avLst>
              <a:gd name="adj" fmla="val 6857"/>
            </a:avLst>
          </a:prstGeom>
          <a:solidFill>
            <a:srgbClr val="111316"/>
          </a:solidFill>
          <a:ln w="15875">
            <a:solidFill>
              <a:srgbClr val="2B2F33"/>
            </a:solidFill>
            <a:prstDash val="solid"/>
          </a:ln>
        </p:spPr>
      </p:sp>
      <p:sp>
        <p:nvSpPr>
          <p:cNvPr id="13" name="Text 10"/>
          <p:cNvSpPr txBox="1"/>
          <p:nvPr/>
        </p:nvSpPr>
        <p:spPr>
          <a:xfrm>
            <a:off x="12710160" y="6400800"/>
            <a:ext cx="2103120" cy="1600200"/>
          </a:xfrm>
          <a:prstGeom prst="rect">
            <a:avLst/>
          </a:prstGeom>
          <a:noFill/>
          <a:ln/>
        </p:spPr>
        <p:txBody>
          <a:bodyPr wrap="square" lIns="0" tIns="0" rIns="0" bIns="0" rtlCol="0" anchor="ctr"/>
          <a:lstStyle/>
          <a:p>
            <a:pPr indent="0" marL="0">
              <a:buNone/>
            </a:pPr>
            <a:r>
              <a:rPr lang="en-US" sz="5200" b="1" dirty="0">
                <a:solidFill>
                  <a:srgbClr val="C1FF72"/>
                </a:solidFill>
                <a:latin typeface="Roboto" pitchFamily="34" charset="0"/>
                <a:ea typeface="Roboto" pitchFamily="34" charset="-122"/>
                <a:cs typeface="Roboto" pitchFamily="34" charset="-120"/>
              </a:rPr>
              <a:t>6×</a:t>
            </a:r>
            <a:endParaRPr lang="en-US" sz="5200" dirty="0"/>
          </a:p>
        </p:txBody>
      </p:sp>
      <p:sp>
        <p:nvSpPr>
          <p:cNvPr id="14" name="Text 11"/>
          <p:cNvSpPr txBox="1"/>
          <p:nvPr/>
        </p:nvSpPr>
        <p:spPr>
          <a:xfrm>
            <a:off x="14859000" y="6400800"/>
            <a:ext cx="2606040" cy="1600200"/>
          </a:xfrm>
          <a:prstGeom prst="rect">
            <a:avLst/>
          </a:prstGeom>
          <a:noFill/>
          <a:ln/>
        </p:spPr>
        <p:txBody>
          <a:bodyPr wrap="square" lIns="0" tIns="0" rIns="0" bIns="0" rtlCol="0" anchor="ctr"/>
          <a:lstStyle/>
          <a:p>
            <a:pPr indent="0" marL="0">
              <a:buNone/>
            </a:pPr>
            <a:r>
              <a:rPr lang="en-US" sz="1900" dirty="0">
                <a:solidFill>
                  <a:srgbClr val="C1C1C1"/>
                </a:solidFill>
                <a:latin typeface="Roboto" pitchFamily="34" charset="0"/>
                <a:ea typeface="Roboto" pitchFamily="34" charset="-122"/>
                <a:cs typeface="Roboto" pitchFamily="34" charset="-120"/>
              </a:rPr>
              <a:t>faster median (823 vs. 4,992 ms)</a:t>
            </a:r>
            <a:endParaRPr lang="en-US" sz="1900" dirty="0"/>
          </a:p>
        </p:txBody>
      </p:sp>
      <p:sp>
        <p:nvSpPr>
          <p:cNvPr id="15" name="Shape 12"/>
          <p:cNvSpPr/>
          <p:nvPr/>
        </p:nvSpPr>
        <p:spPr>
          <a:xfrm>
            <a:off x="649224" y="8412480"/>
            <a:ext cx="17007840" cy="1325880"/>
          </a:xfrm>
          <a:prstGeom prst="roundRect">
            <a:avLst>
              <a:gd name="adj" fmla="val 8276"/>
            </a:avLst>
          </a:prstGeom>
          <a:solidFill>
            <a:srgbClr val="111316"/>
          </a:solidFill>
          <a:ln w="15875">
            <a:solidFill>
              <a:srgbClr val="2B2F33"/>
            </a:solidFill>
            <a:prstDash val="solid"/>
          </a:ln>
        </p:spPr>
      </p:sp>
      <p:sp>
        <p:nvSpPr>
          <p:cNvPr id="16" name="Shape 13"/>
          <p:cNvSpPr/>
          <p:nvPr/>
        </p:nvSpPr>
        <p:spPr>
          <a:xfrm>
            <a:off x="713232" y="8595360"/>
            <a:ext cx="91440" cy="960120"/>
          </a:xfrm>
          <a:prstGeom prst="rect">
            <a:avLst/>
          </a:prstGeom>
          <a:solidFill>
            <a:srgbClr val="7ED957"/>
          </a:solidFill>
          <a:ln w="12700">
            <a:solidFill>
              <a:srgbClr val="7ED957"/>
            </a:solidFill>
            <a:prstDash val="solid"/>
          </a:ln>
        </p:spPr>
      </p:sp>
      <p:sp>
        <p:nvSpPr>
          <p:cNvPr id="17" name="Text 14"/>
          <p:cNvSpPr txBox="1"/>
          <p:nvPr/>
        </p:nvSpPr>
        <p:spPr>
          <a:xfrm>
            <a:off x="1371600" y="8412480"/>
            <a:ext cx="16002000" cy="1325880"/>
          </a:xfrm>
          <a:prstGeom prst="rect">
            <a:avLst/>
          </a:prstGeom>
          <a:noFill/>
          <a:ln/>
        </p:spPr>
        <p:txBody>
          <a:bodyPr wrap="square" lIns="0" tIns="0" rIns="0" bIns="0" rtlCol="0" anchor="ctr"/>
          <a:lstStyle/>
          <a:p>
            <a:pPr indent="0" marL="0">
              <a:spcAft>
                <a:spcPts val="400"/>
              </a:spcAft>
              <a:buNone/>
            </a:pPr>
            <a:r>
              <a:rPr lang="en-US" sz="2000" dirty="0">
                <a:solidFill>
                  <a:srgbClr val="FFFFFF"/>
                </a:solidFill>
                <a:latin typeface="Roboto" pitchFamily="34" charset="0"/>
                <a:ea typeface="Roboto" pitchFamily="34" charset="-122"/>
                <a:cs typeface="Roboto" pitchFamily="34" charset="-120"/>
              </a:rPr>
              <a:t>Mercury’s two failures fell on prompts the balanced rule sends to Gemini, which favors balanced here.</a:t>
            </a:r>
            <a:endParaRPr lang="en-US" sz="2000" dirty="0"/>
          </a:p>
          <a:p>
            <a:pPr indent="0" marL="0">
              <a:spcAft>
                <a:spcPts val="400"/>
              </a:spcAft>
              <a:buNone/>
            </a:pPr>
            <a:r>
              <a:rPr lang="en-US" sz="2000" dirty="0">
                <a:solidFill>
                  <a:srgbClr val="C1C1C1"/>
                </a:solidFill>
                <a:latin typeface="Roboto" pitchFamily="34" charset="0"/>
                <a:ea typeface="Roboto" pitchFamily="34" charset="-122"/>
                <a:cs typeface="Roboto" pitchFamily="34" charset="-120"/>
              </a:rPr>
              <a:t>12 questions and one task type: evidence for this setup, not a general ranking. The thresholds were not tuned on these outcomes.</a:t>
            </a:r>
            <a:endParaRPr lang="en-US" sz="2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676656" y="457200"/>
            <a:ext cx="169164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Policy tests • same prompt</a:t>
            </a:r>
            <a:endParaRPr lang="en-US" sz="7200" dirty="0"/>
          </a:p>
        </p:txBody>
      </p:sp>
      <p:sp>
        <p:nvSpPr>
          <p:cNvPr id="3"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4" name="Text 2"/>
          <p:cNvSpPr txBox="1"/>
          <p:nvPr/>
        </p:nvSpPr>
        <p:spPr>
          <a:xfrm>
            <a:off x="676656" y="2103120"/>
            <a:ext cx="16916400" cy="548640"/>
          </a:xfrm>
          <a:prstGeom prst="rect">
            <a:avLst/>
          </a:prstGeom>
          <a:noFill/>
          <a:ln/>
        </p:spPr>
        <p:txBody>
          <a:bodyPr wrap="square" lIns="0" tIns="0" rIns="0" bIns="0" rtlCol="0" anchor="t"/>
          <a:lstStyle/>
          <a:p>
            <a:pPr indent="0" marL="0">
              <a:buNone/>
            </a:pPr>
            <a:r>
              <a:rPr lang="en-US" sz="2600" dirty="0">
                <a:solidFill>
                  <a:srgbClr val="C1C1C1"/>
                </a:solidFill>
                <a:latin typeface="Roboto" pitchFamily="34" charset="0"/>
                <a:ea typeface="Roboto" pitchFamily="34" charset="-122"/>
                <a:cs typeface="Roboto" pitchFamily="34" charset="-120"/>
              </a:rPr>
              <a:t>Priorities steer the choice only after hard filtering</a:t>
            </a:r>
            <a:endParaRPr lang="en-US" sz="2600" dirty="0"/>
          </a:p>
        </p:txBody>
      </p:sp>
      <p:sp>
        <p:nvSpPr>
          <p:cNvPr id="5" name="Shape 3"/>
          <p:cNvSpPr/>
          <p:nvPr/>
        </p:nvSpPr>
        <p:spPr>
          <a:xfrm>
            <a:off x="15453360" y="713232"/>
            <a:ext cx="2194560" cy="731520"/>
          </a:xfrm>
          <a:prstGeom prst="roundRect">
            <a:avLst>
              <a:gd name="adj" fmla="val 12500"/>
            </a:avLst>
          </a:prstGeom>
          <a:solidFill>
            <a:srgbClr val="C1FF72"/>
          </a:solidFill>
          <a:ln w="12700">
            <a:solidFill>
              <a:srgbClr val="C1FF72"/>
            </a:solidFill>
            <a:prstDash val="solid"/>
          </a:ln>
        </p:spPr>
      </p:sp>
      <p:sp>
        <p:nvSpPr>
          <p:cNvPr id="6" name="Text 4"/>
          <p:cNvSpPr txBox="1"/>
          <p:nvPr/>
        </p:nvSpPr>
        <p:spPr>
          <a:xfrm>
            <a:off x="15453360" y="713232"/>
            <a:ext cx="2194560" cy="731520"/>
          </a:xfrm>
          <a:prstGeom prst="rect">
            <a:avLst/>
          </a:prstGeom>
          <a:noFill/>
          <a:ln/>
        </p:spPr>
        <p:txBody>
          <a:bodyPr wrap="square" lIns="0" tIns="0" rIns="0" bIns="0" rtlCol="0" anchor="ctr"/>
          <a:lstStyle/>
          <a:p>
            <a:pPr algn="ctr" indent="0" marL="0">
              <a:buNone/>
            </a:pPr>
            <a:r>
              <a:rPr lang="en-US" sz="2200" b="1" dirty="0">
                <a:solidFill>
                  <a:srgbClr val="0B0C0E"/>
                </a:solidFill>
                <a:latin typeface="Roboto" pitchFamily="34" charset="0"/>
                <a:ea typeface="Roboto" pitchFamily="34" charset="-122"/>
                <a:cs typeface="Roboto" pitchFamily="34" charset="-120"/>
              </a:rPr>
              <a:t>LIVE DEMO</a:t>
            </a:r>
            <a:endParaRPr lang="en-US" sz="2200" dirty="0"/>
          </a:p>
        </p:txBody>
      </p:sp>
      <p:sp>
        <p:nvSpPr>
          <p:cNvPr id="7" name="Shape 5"/>
          <p:cNvSpPr/>
          <p:nvPr/>
        </p:nvSpPr>
        <p:spPr>
          <a:xfrm>
            <a:off x="868680" y="2926080"/>
            <a:ext cx="10241280" cy="1188720"/>
          </a:xfrm>
          <a:prstGeom prst="roundRect">
            <a:avLst>
              <a:gd name="adj" fmla="val 9231"/>
            </a:avLst>
          </a:prstGeom>
          <a:solidFill>
            <a:srgbClr val="111316"/>
          </a:solidFill>
          <a:ln w="15875">
            <a:solidFill>
              <a:srgbClr val="94DD26"/>
            </a:solidFill>
            <a:prstDash val="solid"/>
          </a:ln>
        </p:spPr>
      </p:sp>
      <p:sp>
        <p:nvSpPr>
          <p:cNvPr id="8" name="Text 6"/>
          <p:cNvSpPr txBox="1"/>
          <p:nvPr/>
        </p:nvSpPr>
        <p:spPr>
          <a:xfrm>
            <a:off x="1280160" y="2926080"/>
            <a:ext cx="3840480" cy="1188720"/>
          </a:xfrm>
          <a:prstGeom prst="rect">
            <a:avLst/>
          </a:prstGeom>
          <a:noFill/>
          <a:ln/>
        </p:spPr>
        <p:txBody>
          <a:bodyPr wrap="square" lIns="0" tIns="0" rIns="0" bIns="0" rtlCol="0" anchor="ctr"/>
          <a:lstStyle/>
          <a:p>
            <a:pPr indent="0" marL="0">
              <a:buNone/>
            </a:pPr>
            <a:r>
              <a:rPr lang="en-US" sz="2800" dirty="0">
                <a:solidFill>
                  <a:srgbClr val="FFFFFF"/>
                </a:solidFill>
                <a:latin typeface="Roboto" pitchFamily="34" charset="0"/>
                <a:ea typeface="Roboto" pitchFamily="34" charset="-122"/>
                <a:cs typeface="Roboto" pitchFamily="34" charset="-120"/>
              </a:rPr>
              <a:t>Same prompt</a:t>
            </a:r>
            <a:endParaRPr lang="en-US" sz="2800" dirty="0"/>
          </a:p>
        </p:txBody>
      </p:sp>
      <p:sp>
        <p:nvSpPr>
          <p:cNvPr id="9" name="Shape 7"/>
          <p:cNvSpPr/>
          <p:nvPr/>
        </p:nvSpPr>
        <p:spPr>
          <a:xfrm>
            <a:off x="5394960" y="3154680"/>
            <a:ext cx="0" cy="731520"/>
          </a:xfrm>
          <a:prstGeom prst="line">
            <a:avLst/>
          </a:prstGeom>
          <a:noFill/>
          <a:ln w="15875">
            <a:solidFill>
              <a:srgbClr val="2B2F33"/>
            </a:solidFill>
            <a:prstDash val="solid"/>
          </a:ln>
        </p:spPr>
      </p:sp>
      <p:sp>
        <p:nvSpPr>
          <p:cNvPr id="10" name="Text 8"/>
          <p:cNvSpPr txBox="1"/>
          <p:nvPr/>
        </p:nvSpPr>
        <p:spPr>
          <a:xfrm>
            <a:off x="5760720" y="2926080"/>
            <a:ext cx="5029200" cy="1188720"/>
          </a:xfrm>
          <a:prstGeom prst="rect">
            <a:avLst/>
          </a:prstGeom>
          <a:noFill/>
          <a:ln/>
        </p:spPr>
        <p:txBody>
          <a:bodyPr wrap="square" lIns="0" tIns="0" rIns="0" bIns="0" rtlCol="0" anchor="ctr"/>
          <a:lstStyle/>
          <a:p>
            <a:pPr indent="0" marL="0">
              <a:buNone/>
            </a:pPr>
            <a:r>
              <a:rPr lang="en-US" sz="2800" dirty="0">
                <a:solidFill>
                  <a:srgbClr val="C1FF72"/>
                </a:solidFill>
                <a:latin typeface="Roboto" pitchFamily="34" charset="0"/>
                <a:ea typeface="Roboto" pitchFamily="34" charset="-122"/>
                <a:cs typeface="Roboto" pitchFamily="34" charset="-120"/>
              </a:rPr>
              <a:t>One change</a:t>
            </a:r>
            <a:endParaRPr lang="en-US" sz="2800" dirty="0"/>
          </a:p>
        </p:txBody>
      </p:sp>
      <p:sp>
        <p:nvSpPr>
          <p:cNvPr id="11" name="Shape 9"/>
          <p:cNvSpPr/>
          <p:nvPr/>
        </p:nvSpPr>
        <p:spPr>
          <a:xfrm>
            <a:off x="5989320" y="4160520"/>
            <a:ext cx="0" cy="594360"/>
          </a:xfrm>
          <a:prstGeom prst="line">
            <a:avLst/>
          </a:prstGeom>
          <a:noFill/>
          <a:ln w="31750">
            <a:solidFill>
              <a:srgbClr val="C1FF72"/>
            </a:solidFill>
            <a:prstDash val="solid"/>
            <a:tailEnd type="triangle"/>
          </a:ln>
        </p:spPr>
      </p:sp>
      <p:sp>
        <p:nvSpPr>
          <p:cNvPr id="12" name="Shape 10"/>
          <p:cNvSpPr/>
          <p:nvPr/>
        </p:nvSpPr>
        <p:spPr>
          <a:xfrm>
            <a:off x="868680" y="4937760"/>
            <a:ext cx="10241280" cy="1298448"/>
          </a:xfrm>
          <a:prstGeom prst="roundRect">
            <a:avLst>
              <a:gd name="adj" fmla="val 8451"/>
            </a:avLst>
          </a:prstGeom>
          <a:solidFill>
            <a:srgbClr val="111316"/>
          </a:solidFill>
          <a:ln w="15875">
            <a:solidFill>
              <a:srgbClr val="2B2F33"/>
            </a:solidFill>
            <a:prstDash val="solid"/>
          </a:ln>
        </p:spPr>
      </p:sp>
      <p:sp>
        <p:nvSpPr>
          <p:cNvPr id="13" name="Text 11"/>
          <p:cNvSpPr txBox="1"/>
          <p:nvPr/>
        </p:nvSpPr>
        <p:spPr>
          <a:xfrm>
            <a:off x="1280160" y="4937760"/>
            <a:ext cx="3931920" cy="1298448"/>
          </a:xfrm>
          <a:prstGeom prst="rect">
            <a:avLst/>
          </a:prstGeom>
          <a:noFill/>
          <a:ln/>
        </p:spPr>
        <p:txBody>
          <a:bodyPr wrap="square" lIns="0" tIns="0" rIns="0" bIns="0" rtlCol="0" anchor="ctr"/>
          <a:lstStyle/>
          <a:p>
            <a:pPr indent="0" marL="0">
              <a:buNone/>
            </a:pPr>
            <a:r>
              <a:rPr lang="en-US" sz="2500" dirty="0">
                <a:solidFill>
                  <a:srgbClr val="C1FF72"/>
                </a:solidFill>
                <a:latin typeface="Roboto" pitchFamily="34" charset="0"/>
                <a:ea typeface="Roboto" pitchFamily="34" charset="-122"/>
                <a:cs typeface="Roboto" pitchFamily="34" charset="-120"/>
              </a:rPr>
              <a:t>Lower cost</a:t>
            </a:r>
            <a:endParaRPr lang="en-US" sz="2500" dirty="0"/>
          </a:p>
        </p:txBody>
      </p:sp>
      <p:sp>
        <p:nvSpPr>
          <p:cNvPr id="14" name="Shape 12"/>
          <p:cNvSpPr/>
          <p:nvPr/>
        </p:nvSpPr>
        <p:spPr>
          <a:xfrm>
            <a:off x="5394960" y="5212080"/>
            <a:ext cx="0" cy="749808"/>
          </a:xfrm>
          <a:prstGeom prst="line">
            <a:avLst/>
          </a:prstGeom>
          <a:noFill/>
          <a:ln w="15875">
            <a:solidFill>
              <a:srgbClr val="2B2F33"/>
            </a:solidFill>
            <a:prstDash val="solid"/>
          </a:ln>
        </p:spPr>
      </p:sp>
      <p:sp>
        <p:nvSpPr>
          <p:cNvPr id="15" name="Text 13"/>
          <p:cNvSpPr txBox="1"/>
          <p:nvPr/>
        </p:nvSpPr>
        <p:spPr>
          <a:xfrm>
            <a:off x="5715000" y="4937760"/>
            <a:ext cx="731520" cy="1298448"/>
          </a:xfrm>
          <a:prstGeom prst="rect">
            <a:avLst/>
          </a:prstGeom>
          <a:noFill/>
          <a:ln/>
        </p:spPr>
        <p:txBody>
          <a:bodyPr wrap="square" lIns="0" tIns="0" rIns="0" bIns="0" rtlCol="0" anchor="ctr"/>
          <a:lstStyle/>
          <a:p>
            <a:pPr indent="0" marL="0">
              <a:buNone/>
            </a:pPr>
            <a:r>
              <a:rPr lang="en-US" sz="3200" dirty="0">
                <a:solidFill>
                  <a:srgbClr val="C1FF72"/>
                </a:solidFill>
                <a:latin typeface="Roboto" pitchFamily="34" charset="0"/>
                <a:ea typeface="Roboto" pitchFamily="34" charset="-122"/>
                <a:cs typeface="Roboto" pitchFamily="34" charset="-120"/>
              </a:rPr>
              <a:t>→</a:t>
            </a:r>
            <a:endParaRPr lang="en-US" sz="3200" dirty="0"/>
          </a:p>
        </p:txBody>
      </p:sp>
      <p:sp>
        <p:nvSpPr>
          <p:cNvPr id="16" name="Text 14"/>
          <p:cNvSpPr txBox="1"/>
          <p:nvPr/>
        </p:nvSpPr>
        <p:spPr>
          <a:xfrm>
            <a:off x="6492240" y="4937760"/>
            <a:ext cx="4480560" cy="1298448"/>
          </a:xfrm>
          <a:prstGeom prst="rect">
            <a:avLst/>
          </a:prstGeom>
          <a:noFill/>
          <a:ln/>
        </p:spPr>
        <p:txBody>
          <a:bodyPr wrap="square" lIns="0" tIns="0" rIns="0" bIns="0" rtlCol="0" anchor="ctr"/>
          <a:lstStyle/>
          <a:p>
            <a:pPr indent="0" marL="0">
              <a:buNone/>
            </a:pPr>
            <a:r>
              <a:rPr lang="en-US" sz="3000" dirty="0">
                <a:solidFill>
                  <a:srgbClr val="FFFFFF"/>
                </a:solidFill>
                <a:latin typeface="Roboto" pitchFamily="34" charset="0"/>
                <a:ea typeface="Roboto" pitchFamily="34" charset="-122"/>
                <a:cs typeface="Roboto" pitchFamily="34" charset="-120"/>
              </a:rPr>
              <a:t>GEMMA 4 26B</a:t>
            </a:r>
            <a:endParaRPr lang="en-US" sz="3000" dirty="0"/>
          </a:p>
        </p:txBody>
      </p:sp>
      <p:sp>
        <p:nvSpPr>
          <p:cNvPr id="17" name="Shape 15"/>
          <p:cNvSpPr/>
          <p:nvPr/>
        </p:nvSpPr>
        <p:spPr>
          <a:xfrm>
            <a:off x="868680" y="6400800"/>
            <a:ext cx="10241280" cy="1298448"/>
          </a:xfrm>
          <a:prstGeom prst="roundRect">
            <a:avLst>
              <a:gd name="adj" fmla="val 8451"/>
            </a:avLst>
          </a:prstGeom>
          <a:solidFill>
            <a:srgbClr val="111316"/>
          </a:solidFill>
          <a:ln w="15875">
            <a:solidFill>
              <a:srgbClr val="2B2F33"/>
            </a:solidFill>
            <a:prstDash val="solid"/>
          </a:ln>
        </p:spPr>
      </p:sp>
      <p:sp>
        <p:nvSpPr>
          <p:cNvPr id="18" name="Text 16"/>
          <p:cNvSpPr txBox="1"/>
          <p:nvPr/>
        </p:nvSpPr>
        <p:spPr>
          <a:xfrm>
            <a:off x="1280160" y="6400800"/>
            <a:ext cx="3931920" cy="1298448"/>
          </a:xfrm>
          <a:prstGeom prst="rect">
            <a:avLst/>
          </a:prstGeom>
          <a:noFill/>
          <a:ln/>
        </p:spPr>
        <p:txBody>
          <a:bodyPr wrap="square" lIns="0" tIns="0" rIns="0" bIns="0" rtlCol="0" anchor="ctr"/>
          <a:lstStyle/>
          <a:p>
            <a:pPr indent="0" marL="0">
              <a:buNone/>
            </a:pPr>
            <a:r>
              <a:rPr lang="en-US" sz="2500" dirty="0">
                <a:solidFill>
                  <a:srgbClr val="C1FF72"/>
                </a:solidFill>
                <a:latin typeface="Roboto" pitchFamily="34" charset="0"/>
                <a:ea typeface="Roboto" pitchFamily="34" charset="-122"/>
                <a:cs typeface="Roboto" pitchFamily="34" charset="-120"/>
              </a:rPr>
              <a:t>Higher quality</a:t>
            </a:r>
            <a:endParaRPr lang="en-US" sz="2500" dirty="0"/>
          </a:p>
        </p:txBody>
      </p:sp>
      <p:sp>
        <p:nvSpPr>
          <p:cNvPr id="19" name="Shape 17"/>
          <p:cNvSpPr/>
          <p:nvPr/>
        </p:nvSpPr>
        <p:spPr>
          <a:xfrm>
            <a:off x="5394960" y="6675120"/>
            <a:ext cx="0" cy="749808"/>
          </a:xfrm>
          <a:prstGeom prst="line">
            <a:avLst/>
          </a:prstGeom>
          <a:noFill/>
          <a:ln w="15875">
            <a:solidFill>
              <a:srgbClr val="2B2F33"/>
            </a:solidFill>
            <a:prstDash val="solid"/>
          </a:ln>
        </p:spPr>
      </p:sp>
      <p:sp>
        <p:nvSpPr>
          <p:cNvPr id="20" name="Text 18"/>
          <p:cNvSpPr txBox="1"/>
          <p:nvPr/>
        </p:nvSpPr>
        <p:spPr>
          <a:xfrm>
            <a:off x="5715000" y="6400800"/>
            <a:ext cx="731520" cy="1298448"/>
          </a:xfrm>
          <a:prstGeom prst="rect">
            <a:avLst/>
          </a:prstGeom>
          <a:noFill/>
          <a:ln/>
        </p:spPr>
        <p:txBody>
          <a:bodyPr wrap="square" lIns="0" tIns="0" rIns="0" bIns="0" rtlCol="0" anchor="ctr"/>
          <a:lstStyle/>
          <a:p>
            <a:pPr indent="0" marL="0">
              <a:buNone/>
            </a:pPr>
            <a:r>
              <a:rPr lang="en-US" sz="3200" dirty="0">
                <a:solidFill>
                  <a:srgbClr val="C1FF72"/>
                </a:solidFill>
                <a:latin typeface="Roboto" pitchFamily="34" charset="0"/>
                <a:ea typeface="Roboto" pitchFamily="34" charset="-122"/>
                <a:cs typeface="Roboto" pitchFamily="34" charset="-120"/>
              </a:rPr>
              <a:t>→</a:t>
            </a:r>
            <a:endParaRPr lang="en-US" sz="3200" dirty="0"/>
          </a:p>
        </p:txBody>
      </p:sp>
      <p:sp>
        <p:nvSpPr>
          <p:cNvPr id="21" name="Text 19"/>
          <p:cNvSpPr txBox="1"/>
          <p:nvPr/>
        </p:nvSpPr>
        <p:spPr>
          <a:xfrm>
            <a:off x="6492240" y="6400800"/>
            <a:ext cx="4480560" cy="1298448"/>
          </a:xfrm>
          <a:prstGeom prst="rect">
            <a:avLst/>
          </a:prstGeom>
          <a:noFill/>
          <a:ln/>
        </p:spPr>
        <p:txBody>
          <a:bodyPr wrap="square" lIns="0" tIns="0" rIns="0" bIns="0" rtlCol="0" anchor="ctr"/>
          <a:lstStyle/>
          <a:p>
            <a:pPr indent="0" marL="0">
              <a:buNone/>
            </a:pPr>
            <a:r>
              <a:rPr lang="en-US" sz="3000" dirty="0">
                <a:solidFill>
                  <a:srgbClr val="FFFFFF"/>
                </a:solidFill>
                <a:latin typeface="Roboto" pitchFamily="34" charset="0"/>
                <a:ea typeface="Roboto" pitchFamily="34" charset="-122"/>
                <a:cs typeface="Roboto" pitchFamily="34" charset="-120"/>
              </a:rPr>
              <a:t>GEMINI 4 ARGON</a:t>
            </a:r>
            <a:endParaRPr lang="en-US" sz="3000" dirty="0"/>
          </a:p>
        </p:txBody>
      </p:sp>
      <p:sp>
        <p:nvSpPr>
          <p:cNvPr id="22" name="Shape 20"/>
          <p:cNvSpPr/>
          <p:nvPr/>
        </p:nvSpPr>
        <p:spPr>
          <a:xfrm>
            <a:off x="868680" y="7863840"/>
            <a:ext cx="10241280" cy="1298448"/>
          </a:xfrm>
          <a:prstGeom prst="roundRect">
            <a:avLst>
              <a:gd name="adj" fmla="val 8451"/>
            </a:avLst>
          </a:prstGeom>
          <a:solidFill>
            <a:srgbClr val="111316"/>
          </a:solidFill>
          <a:ln w="15875">
            <a:solidFill>
              <a:srgbClr val="2B2F33"/>
            </a:solidFill>
            <a:prstDash val="solid"/>
          </a:ln>
        </p:spPr>
      </p:sp>
      <p:sp>
        <p:nvSpPr>
          <p:cNvPr id="23" name="Text 21"/>
          <p:cNvSpPr txBox="1"/>
          <p:nvPr/>
        </p:nvSpPr>
        <p:spPr>
          <a:xfrm>
            <a:off x="1280160" y="7863840"/>
            <a:ext cx="3931920" cy="1298448"/>
          </a:xfrm>
          <a:prstGeom prst="rect">
            <a:avLst/>
          </a:prstGeom>
          <a:noFill/>
          <a:ln/>
        </p:spPr>
        <p:txBody>
          <a:bodyPr wrap="square" lIns="0" tIns="0" rIns="0" bIns="0" rtlCol="0" anchor="ctr"/>
          <a:lstStyle/>
          <a:p>
            <a:pPr indent="0" marL="0">
              <a:buNone/>
            </a:pPr>
            <a:r>
              <a:rPr lang="en-US" sz="2500" dirty="0">
                <a:solidFill>
                  <a:srgbClr val="C1FF72"/>
                </a:solidFill>
                <a:latin typeface="Roboto" pitchFamily="34" charset="0"/>
                <a:ea typeface="Roboto" pitchFamily="34" charset="-122"/>
                <a:cs typeface="Roboto" pitchFamily="34" charset="-120"/>
              </a:rPr>
              <a:t>Cost + 500K context</a:t>
            </a:r>
            <a:endParaRPr lang="en-US" sz="2500" dirty="0"/>
          </a:p>
        </p:txBody>
      </p:sp>
      <p:sp>
        <p:nvSpPr>
          <p:cNvPr id="24" name="Shape 22"/>
          <p:cNvSpPr/>
          <p:nvPr/>
        </p:nvSpPr>
        <p:spPr>
          <a:xfrm>
            <a:off x="5394960" y="8138160"/>
            <a:ext cx="0" cy="749808"/>
          </a:xfrm>
          <a:prstGeom prst="line">
            <a:avLst/>
          </a:prstGeom>
          <a:noFill/>
          <a:ln w="15875">
            <a:solidFill>
              <a:srgbClr val="2B2F33"/>
            </a:solidFill>
            <a:prstDash val="solid"/>
          </a:ln>
        </p:spPr>
      </p:sp>
      <p:sp>
        <p:nvSpPr>
          <p:cNvPr id="25" name="Text 23"/>
          <p:cNvSpPr txBox="1"/>
          <p:nvPr/>
        </p:nvSpPr>
        <p:spPr>
          <a:xfrm>
            <a:off x="5715000" y="7863840"/>
            <a:ext cx="731520" cy="1298448"/>
          </a:xfrm>
          <a:prstGeom prst="rect">
            <a:avLst/>
          </a:prstGeom>
          <a:noFill/>
          <a:ln/>
        </p:spPr>
        <p:txBody>
          <a:bodyPr wrap="square" lIns="0" tIns="0" rIns="0" bIns="0" rtlCol="0" anchor="ctr"/>
          <a:lstStyle/>
          <a:p>
            <a:pPr indent="0" marL="0">
              <a:buNone/>
            </a:pPr>
            <a:r>
              <a:rPr lang="en-US" sz="3200" dirty="0">
                <a:solidFill>
                  <a:srgbClr val="C1FF72"/>
                </a:solidFill>
                <a:latin typeface="Roboto" pitchFamily="34" charset="0"/>
                <a:ea typeface="Roboto" pitchFamily="34" charset="-122"/>
                <a:cs typeface="Roboto" pitchFamily="34" charset="-120"/>
              </a:rPr>
              <a:t>→</a:t>
            </a:r>
            <a:endParaRPr lang="en-US" sz="3200" dirty="0"/>
          </a:p>
        </p:txBody>
      </p:sp>
      <p:sp>
        <p:nvSpPr>
          <p:cNvPr id="26" name="Text 24"/>
          <p:cNvSpPr txBox="1"/>
          <p:nvPr/>
        </p:nvSpPr>
        <p:spPr>
          <a:xfrm>
            <a:off x="6492240" y="7863840"/>
            <a:ext cx="4480560" cy="1298448"/>
          </a:xfrm>
          <a:prstGeom prst="rect">
            <a:avLst/>
          </a:prstGeom>
          <a:noFill/>
          <a:ln/>
        </p:spPr>
        <p:txBody>
          <a:bodyPr wrap="square" lIns="0" tIns="0" rIns="0" bIns="0" rtlCol="0" anchor="ctr"/>
          <a:lstStyle/>
          <a:p>
            <a:pPr indent="0" marL="0">
              <a:buNone/>
            </a:pPr>
            <a:r>
              <a:rPr lang="en-US" sz="3000" dirty="0">
                <a:solidFill>
                  <a:srgbClr val="FFFFFF"/>
                </a:solidFill>
                <a:latin typeface="Roboto" pitchFamily="34" charset="0"/>
                <a:ea typeface="Roboto" pitchFamily="34" charset="-122"/>
                <a:cs typeface="Roboto" pitchFamily="34" charset="-120"/>
              </a:rPr>
              <a:t>MERCURY 3</a:t>
            </a:r>
            <a:endParaRPr lang="en-US" sz="3000" dirty="0"/>
          </a:p>
          <a:p>
            <a:pPr indent="0" marL="0">
              <a:buNone/>
            </a:pPr>
            <a:r>
              <a:rPr lang="en-US" sz="1700" dirty="0">
                <a:solidFill>
                  <a:srgbClr val="C1C1C1"/>
                </a:solidFill>
                <a:latin typeface="Roboto" pitchFamily="34" charset="0"/>
                <a:ea typeface="Roboto" pitchFamily="34" charset="-122"/>
                <a:cs typeface="Roboto" pitchFamily="34" charset="-120"/>
              </a:rPr>
              <a:t>Gemma (262K) filtered out first</a:t>
            </a:r>
            <a:endParaRPr lang="en-US" sz="3000" dirty="0"/>
          </a:p>
        </p:txBody>
      </p:sp>
      <p:sp>
        <p:nvSpPr>
          <p:cNvPr id="27" name="Text 25"/>
          <p:cNvSpPr txBox="1"/>
          <p:nvPr/>
        </p:nvSpPr>
        <p:spPr>
          <a:xfrm>
            <a:off x="12161520" y="3017520"/>
            <a:ext cx="5486400" cy="6126480"/>
          </a:xfrm>
          <a:prstGeom prst="rect">
            <a:avLst/>
          </a:prstGeom>
          <a:noFill/>
          <a:ln/>
        </p:spPr>
        <p:txBody>
          <a:bodyPr wrap="square" lIns="0" tIns="0" rIns="0" bIns="0" rtlCol="0" anchor="ctr"/>
          <a:lstStyle/>
          <a:p>
            <a:pPr indent="0" marL="0">
              <a:spcAft>
                <a:spcPts val="1600"/>
              </a:spcAft>
              <a:buNone/>
            </a:pPr>
            <a:r>
              <a:rPr lang="en-US" sz="2400" b="1" dirty="0">
                <a:solidFill>
                  <a:srgbClr val="FFFFFF"/>
                </a:solidFill>
                <a:latin typeface="Roboto" pitchFamily="34" charset="0"/>
                <a:ea typeface="Roboto" pitchFamily="34" charset="-122"/>
                <a:cs typeface="Roboto" pitchFamily="34" charset="-120"/>
              </a:rPr>
              <a:t>Every preview shows</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Selected model</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Eligible set</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Reason</a:t>
            </a:r>
            <a:endParaRPr lang="en-US" sz="3200" dirty="0"/>
          </a:p>
          <a:p>
            <a:pPr indent="0" marL="0">
              <a:spcAft>
                <a:spcPts val="1600"/>
              </a:spcAft>
              <a:buNone/>
            </a:pPr>
            <a:r>
              <a:rPr lang="en-US" sz="3200" b="1" dirty="0">
                <a:solidFill>
                  <a:srgbClr val="C1FF72"/>
                </a:solidFill>
                <a:latin typeface="Roboto" pitchFamily="34" charset="0"/>
                <a:ea typeface="Roboto" pitchFamily="34" charset="-122"/>
                <a:cs typeface="Roboto" pitchFamily="34" charset="-120"/>
              </a:rPr>
              <a:t>No provider call.</a:t>
            </a:r>
            <a:endParaRPr lang="en-US" sz="3200" dirty="0"/>
          </a:p>
          <a:p>
            <a:pPr indent="0" marL="0">
              <a:spcAft>
                <a:spcPts val="1600"/>
              </a:spcAft>
              <a:buNone/>
            </a:pPr>
            <a:r>
              <a:rPr lang="en-US" sz="2200" b="1" dirty="0">
                <a:solidFill>
                  <a:srgbClr val="C1C1C1"/>
                </a:solidFill>
                <a:latin typeface="Roboto" pitchFamily="34" charset="0"/>
                <a:ea typeface="Roboto" pitchFamily="34" charset="-122"/>
                <a:cs typeface="Roboto" pitchFamily="34" charset="-120"/>
              </a:rPr>
              <a:t>12/12 acceptance cases pass</a:t>
            </a:r>
            <a:endParaRPr lang="en-US" sz="3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C0E"/>
        </a:solidFill>
      </p:bgPr>
    </p:bg>
    <p:spTree>
      <p:nvGrpSpPr>
        <p:cNvPr id="1" name=""/>
        <p:cNvGrpSpPr/>
        <p:nvPr/>
      </p:nvGrpSpPr>
      <p:grpSpPr>
        <a:xfrm>
          <a:off x="0" y="0"/>
          <a:ext cx="0" cy="0"/>
          <a:chOff x="0" y="0"/>
          <a:chExt cx="0" cy="0"/>
        </a:xfrm>
      </p:grpSpPr>
      <p:sp>
        <p:nvSpPr>
          <p:cNvPr id="2" name="Text 0"/>
          <p:cNvSpPr txBox="1"/>
          <p:nvPr/>
        </p:nvSpPr>
        <p:spPr>
          <a:xfrm>
            <a:off x="493776" y="548640"/>
            <a:ext cx="896112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What shipped</a:t>
            </a:r>
            <a:endParaRPr lang="en-US" sz="7200" dirty="0"/>
          </a:p>
        </p:txBody>
      </p:sp>
      <p:sp>
        <p:nvSpPr>
          <p:cNvPr id="3" name="Shape 1"/>
          <p:cNvSpPr/>
          <p:nvPr/>
        </p:nvSpPr>
        <p:spPr>
          <a:xfrm>
            <a:off x="512064" y="1901952"/>
            <a:ext cx="1143000" cy="91440"/>
          </a:xfrm>
          <a:prstGeom prst="rect">
            <a:avLst/>
          </a:prstGeom>
          <a:solidFill>
            <a:srgbClr val="C1FF72"/>
          </a:solidFill>
          <a:ln w="12700">
            <a:solidFill>
              <a:srgbClr val="C1FF72"/>
            </a:solidFill>
            <a:prstDash val="solid"/>
          </a:ln>
        </p:spPr>
      </p:sp>
      <p:pic>
        <p:nvPicPr>
          <p:cNvPr id="4" name="Image 0" descr="Route screen of the Adaptive LLM Router app with the paid pool and priority controls">    </p:cNvPr>
          <p:cNvPicPr>
            <a:picLocks noChangeAspect="1"/>
          </p:cNvPicPr>
          <p:nvPr/>
        </p:nvPicPr>
        <p:blipFill>
          <a:blip r:embed="rId1"/>
          <a:stretch>
            <a:fillRect/>
          </a:stretch>
        </p:blipFill>
        <p:spPr>
          <a:xfrm>
            <a:off x="493776" y="2697480"/>
            <a:ext cx="8961120" cy="6949440"/>
          </a:xfrm>
          <a:prstGeom prst="rect">
            <a:avLst/>
          </a:prstGeom>
        </p:spPr>
      </p:pic>
      <p:sp>
        <p:nvSpPr>
          <p:cNvPr id="5" name="Shape 2"/>
          <p:cNvSpPr/>
          <p:nvPr/>
        </p:nvSpPr>
        <p:spPr>
          <a:xfrm>
            <a:off x="493776" y="2697480"/>
            <a:ext cx="8961120" cy="6949440"/>
          </a:xfrm>
          <a:prstGeom prst="rect">
            <a:avLst/>
          </a:prstGeom>
          <a:solidFill>
            <a:srgbClr val="0B0C0E">
              <a:alpha val="0"/>
            </a:srgbClr>
          </a:solidFill>
          <a:ln w="15875">
            <a:solidFill>
              <a:srgbClr val="2B2F33"/>
            </a:solidFill>
            <a:prstDash val="solid"/>
          </a:ln>
        </p:spPr>
      </p:sp>
      <p:sp>
        <p:nvSpPr>
          <p:cNvPr id="6" name="Shape 3"/>
          <p:cNvSpPr/>
          <p:nvPr/>
        </p:nvSpPr>
        <p:spPr>
          <a:xfrm>
            <a:off x="9966960" y="868680"/>
            <a:ext cx="7680960" cy="2651760"/>
          </a:xfrm>
          <a:prstGeom prst="roundRect">
            <a:avLst>
              <a:gd name="adj" fmla="val 4138"/>
            </a:avLst>
          </a:prstGeom>
          <a:solidFill>
            <a:srgbClr val="111316"/>
          </a:solidFill>
          <a:ln w="15875">
            <a:solidFill>
              <a:srgbClr val="2B2F33"/>
            </a:solidFill>
            <a:prstDash val="solid"/>
          </a:ln>
        </p:spPr>
      </p:sp>
      <p:sp>
        <p:nvSpPr>
          <p:cNvPr id="7" name="Text 4"/>
          <p:cNvSpPr txBox="1"/>
          <p:nvPr/>
        </p:nvSpPr>
        <p:spPr>
          <a:xfrm>
            <a:off x="10378440" y="868680"/>
            <a:ext cx="6949440" cy="2651760"/>
          </a:xfrm>
          <a:prstGeom prst="rect">
            <a:avLst/>
          </a:prstGeom>
          <a:noFill/>
          <a:ln/>
        </p:spPr>
        <p:txBody>
          <a:bodyPr wrap="square" lIns="0" tIns="0" rIns="0" bIns="0" rtlCol="0" anchor="ctr"/>
          <a:lstStyle/>
          <a:p>
            <a:pPr indent="0" marL="0">
              <a:buNone/>
            </a:pPr>
            <a:r>
              <a:rPr lang="en-US" sz="3400" b="1" dirty="0">
                <a:solidFill>
                  <a:srgbClr val="FFFFFF"/>
                </a:solidFill>
                <a:latin typeface="Roboto" pitchFamily="34" charset="0"/>
                <a:ea typeface="Roboto" pitchFamily="34" charset="-122"/>
                <a:cs typeface="Roboto" pitchFamily="34" charset="-120"/>
              </a:rPr>
              <a:t>By Oct 22, every Checkpoint 2 commitment runs in the app.</a:t>
            </a:r>
            <a:endParaRPr lang="en-US" sz="3400" dirty="0"/>
          </a:p>
        </p:txBody>
      </p:sp>
      <p:sp>
        <p:nvSpPr>
          <p:cNvPr id="8" name="Shape 5"/>
          <p:cNvSpPr/>
          <p:nvPr/>
        </p:nvSpPr>
        <p:spPr>
          <a:xfrm>
            <a:off x="10287000" y="3520440"/>
            <a:ext cx="0" cy="5074920"/>
          </a:xfrm>
          <a:prstGeom prst="line">
            <a:avLst/>
          </a:prstGeom>
          <a:noFill/>
          <a:ln w="31750">
            <a:solidFill>
              <a:srgbClr val="C1FF72"/>
            </a:solidFill>
            <a:prstDash val="solid"/>
          </a:ln>
        </p:spPr>
      </p:sp>
      <p:sp>
        <p:nvSpPr>
          <p:cNvPr id="9" name="Shape 6"/>
          <p:cNvSpPr/>
          <p:nvPr/>
        </p:nvSpPr>
        <p:spPr>
          <a:xfrm>
            <a:off x="10287000" y="4480560"/>
            <a:ext cx="365760" cy="0"/>
          </a:xfrm>
          <a:prstGeom prst="line">
            <a:avLst/>
          </a:prstGeom>
          <a:noFill/>
          <a:ln w="31750">
            <a:solidFill>
              <a:srgbClr val="C1FF72"/>
            </a:solidFill>
            <a:prstDash val="solid"/>
          </a:ln>
        </p:spPr>
      </p:sp>
      <p:sp>
        <p:nvSpPr>
          <p:cNvPr id="10" name="Shape 7"/>
          <p:cNvSpPr/>
          <p:nvPr/>
        </p:nvSpPr>
        <p:spPr>
          <a:xfrm>
            <a:off x="10652760" y="3886200"/>
            <a:ext cx="6995160" cy="1188720"/>
          </a:xfrm>
          <a:prstGeom prst="roundRect">
            <a:avLst>
              <a:gd name="adj" fmla="val 9231"/>
            </a:avLst>
          </a:prstGeom>
          <a:solidFill>
            <a:srgbClr val="111316"/>
          </a:solidFill>
          <a:ln w="15875">
            <a:solidFill>
              <a:srgbClr val="2B2F33"/>
            </a:solidFill>
            <a:prstDash val="solid"/>
          </a:ln>
        </p:spPr>
      </p:sp>
      <p:sp>
        <p:nvSpPr>
          <p:cNvPr id="11" name="Text 8"/>
          <p:cNvSpPr txBox="1"/>
          <p:nvPr/>
        </p:nvSpPr>
        <p:spPr>
          <a:xfrm>
            <a:off x="10927080" y="38862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01</a:t>
            </a:r>
            <a:endParaRPr lang="en-US" sz="4000" dirty="0"/>
          </a:p>
        </p:txBody>
      </p:sp>
      <p:sp>
        <p:nvSpPr>
          <p:cNvPr id="12" name="Text 9"/>
          <p:cNvSpPr txBox="1"/>
          <p:nvPr/>
        </p:nvSpPr>
        <p:spPr>
          <a:xfrm>
            <a:off x="12252960" y="38862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fixed + rule baselines</a:t>
            </a:r>
            <a:endParaRPr lang="en-US" sz="2500" dirty="0"/>
          </a:p>
        </p:txBody>
      </p:sp>
      <p:sp>
        <p:nvSpPr>
          <p:cNvPr id="13" name="Shape 10"/>
          <p:cNvSpPr/>
          <p:nvPr/>
        </p:nvSpPr>
        <p:spPr>
          <a:xfrm>
            <a:off x="10287000" y="5852160"/>
            <a:ext cx="365760" cy="0"/>
          </a:xfrm>
          <a:prstGeom prst="line">
            <a:avLst/>
          </a:prstGeom>
          <a:noFill/>
          <a:ln w="31750">
            <a:solidFill>
              <a:srgbClr val="C1FF72"/>
            </a:solidFill>
            <a:prstDash val="solid"/>
          </a:ln>
        </p:spPr>
      </p:sp>
      <p:sp>
        <p:nvSpPr>
          <p:cNvPr id="14" name="Shape 11"/>
          <p:cNvSpPr/>
          <p:nvPr/>
        </p:nvSpPr>
        <p:spPr>
          <a:xfrm>
            <a:off x="10652760" y="5257800"/>
            <a:ext cx="6995160" cy="1188720"/>
          </a:xfrm>
          <a:prstGeom prst="roundRect">
            <a:avLst>
              <a:gd name="adj" fmla="val 9231"/>
            </a:avLst>
          </a:prstGeom>
          <a:solidFill>
            <a:srgbClr val="111316"/>
          </a:solidFill>
          <a:ln w="15875">
            <a:solidFill>
              <a:srgbClr val="2B2F33"/>
            </a:solidFill>
            <a:prstDash val="solid"/>
          </a:ln>
        </p:spPr>
      </p:sp>
      <p:sp>
        <p:nvSpPr>
          <p:cNvPr id="15" name="Text 12"/>
          <p:cNvSpPr txBox="1"/>
          <p:nvPr/>
        </p:nvSpPr>
        <p:spPr>
          <a:xfrm>
            <a:off x="10927080" y="52578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02</a:t>
            </a:r>
            <a:endParaRPr lang="en-US" sz="4000" dirty="0"/>
          </a:p>
        </p:txBody>
      </p:sp>
      <p:sp>
        <p:nvSpPr>
          <p:cNvPr id="16" name="Text 13"/>
          <p:cNvSpPr txBox="1"/>
          <p:nvPr/>
        </p:nvSpPr>
        <p:spPr>
          <a:xfrm>
            <a:off x="12252960" y="52578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priority + context controls</a:t>
            </a:r>
            <a:endParaRPr lang="en-US" sz="2500" dirty="0"/>
          </a:p>
        </p:txBody>
      </p:sp>
      <p:sp>
        <p:nvSpPr>
          <p:cNvPr id="17" name="Shape 14"/>
          <p:cNvSpPr/>
          <p:nvPr/>
        </p:nvSpPr>
        <p:spPr>
          <a:xfrm>
            <a:off x="10287000" y="7223760"/>
            <a:ext cx="365760" cy="0"/>
          </a:xfrm>
          <a:prstGeom prst="line">
            <a:avLst/>
          </a:prstGeom>
          <a:noFill/>
          <a:ln w="31750">
            <a:solidFill>
              <a:srgbClr val="C1FF72"/>
            </a:solidFill>
            <a:prstDash val="solid"/>
          </a:ln>
        </p:spPr>
      </p:sp>
      <p:sp>
        <p:nvSpPr>
          <p:cNvPr id="18" name="Shape 15"/>
          <p:cNvSpPr/>
          <p:nvPr/>
        </p:nvSpPr>
        <p:spPr>
          <a:xfrm>
            <a:off x="10652760" y="6629400"/>
            <a:ext cx="6995160" cy="1188720"/>
          </a:xfrm>
          <a:prstGeom prst="roundRect">
            <a:avLst>
              <a:gd name="adj" fmla="val 9231"/>
            </a:avLst>
          </a:prstGeom>
          <a:solidFill>
            <a:srgbClr val="111316"/>
          </a:solidFill>
          <a:ln w="15875">
            <a:solidFill>
              <a:srgbClr val="2B2F33"/>
            </a:solidFill>
            <a:prstDash val="solid"/>
          </a:ln>
        </p:spPr>
      </p:sp>
      <p:sp>
        <p:nvSpPr>
          <p:cNvPr id="19" name="Text 16"/>
          <p:cNvSpPr txBox="1"/>
          <p:nvPr/>
        </p:nvSpPr>
        <p:spPr>
          <a:xfrm>
            <a:off x="10927080" y="66294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03</a:t>
            </a:r>
            <a:endParaRPr lang="en-US" sz="4000" dirty="0"/>
          </a:p>
        </p:txBody>
      </p:sp>
      <p:sp>
        <p:nvSpPr>
          <p:cNvPr id="20" name="Text 17"/>
          <p:cNvSpPr txBox="1"/>
          <p:nvPr/>
        </p:nvSpPr>
        <p:spPr>
          <a:xfrm>
            <a:off x="12252960" y="66294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paid pool + 36-cell matrix</a:t>
            </a:r>
            <a:endParaRPr lang="en-US" sz="2500" dirty="0"/>
          </a:p>
        </p:txBody>
      </p:sp>
      <p:sp>
        <p:nvSpPr>
          <p:cNvPr id="21" name="Shape 18"/>
          <p:cNvSpPr/>
          <p:nvPr/>
        </p:nvSpPr>
        <p:spPr>
          <a:xfrm>
            <a:off x="10287000" y="8595360"/>
            <a:ext cx="365760" cy="0"/>
          </a:xfrm>
          <a:prstGeom prst="line">
            <a:avLst/>
          </a:prstGeom>
          <a:noFill/>
          <a:ln w="31750">
            <a:solidFill>
              <a:srgbClr val="C1FF72"/>
            </a:solidFill>
            <a:prstDash val="solid"/>
          </a:ln>
        </p:spPr>
      </p:sp>
      <p:sp>
        <p:nvSpPr>
          <p:cNvPr id="22" name="Shape 19"/>
          <p:cNvSpPr/>
          <p:nvPr/>
        </p:nvSpPr>
        <p:spPr>
          <a:xfrm>
            <a:off x="10652760" y="8001000"/>
            <a:ext cx="6995160" cy="1188720"/>
          </a:xfrm>
          <a:prstGeom prst="roundRect">
            <a:avLst>
              <a:gd name="adj" fmla="val 9231"/>
            </a:avLst>
          </a:prstGeom>
          <a:solidFill>
            <a:srgbClr val="111316"/>
          </a:solidFill>
          <a:ln w="15875">
            <a:solidFill>
              <a:srgbClr val="2B2F33"/>
            </a:solidFill>
            <a:prstDash val="solid"/>
          </a:ln>
        </p:spPr>
      </p:sp>
      <p:sp>
        <p:nvSpPr>
          <p:cNvPr id="23" name="Text 20"/>
          <p:cNvSpPr txBox="1"/>
          <p:nvPr/>
        </p:nvSpPr>
        <p:spPr>
          <a:xfrm>
            <a:off x="10927080" y="8001000"/>
            <a:ext cx="1188720" cy="1188720"/>
          </a:xfrm>
          <a:prstGeom prst="rect">
            <a:avLst/>
          </a:prstGeom>
          <a:noFill/>
          <a:ln/>
        </p:spPr>
        <p:txBody>
          <a:bodyPr wrap="square" lIns="0" tIns="0" rIns="0" bIns="0" rtlCol="0" anchor="ctr"/>
          <a:lstStyle/>
          <a:p>
            <a:pPr indent="0" marL="0">
              <a:buNone/>
            </a:pPr>
            <a:r>
              <a:rPr lang="en-US" sz="4000" b="1" dirty="0">
                <a:solidFill>
                  <a:srgbClr val="7ED957"/>
                </a:solidFill>
                <a:latin typeface="Roboto" pitchFamily="34" charset="0"/>
                <a:ea typeface="Roboto" pitchFamily="34" charset="-122"/>
                <a:cs typeface="Roboto" pitchFamily="34" charset="-120"/>
              </a:rPr>
              <a:t>04</a:t>
            </a:r>
            <a:endParaRPr lang="en-US" sz="4000" dirty="0"/>
          </a:p>
        </p:txBody>
      </p:sp>
      <p:sp>
        <p:nvSpPr>
          <p:cNvPr id="24" name="Text 21"/>
          <p:cNvSpPr txBox="1"/>
          <p:nvPr/>
        </p:nvSpPr>
        <p:spPr>
          <a:xfrm>
            <a:off x="12252960" y="8001000"/>
            <a:ext cx="5303520" cy="1188720"/>
          </a:xfrm>
          <a:prstGeom prst="rect">
            <a:avLst/>
          </a:prstGeom>
          <a:noFill/>
          <a:ln/>
        </p:spPr>
        <p:txBody>
          <a:bodyPr wrap="square" lIns="0" tIns="0" rIns="0" bIns="0" rtlCol="0" anchor="ctr"/>
          <a:lstStyle/>
          <a:p>
            <a:pPr indent="0" marL="0">
              <a:buNone/>
            </a:pPr>
            <a:r>
              <a:rPr lang="en-US" sz="2500" dirty="0">
                <a:solidFill>
                  <a:srgbClr val="FFFFFF"/>
                </a:solidFill>
                <a:latin typeface="Roboto" pitchFamily="34" charset="0"/>
                <a:ea typeface="Roboto" pitchFamily="34" charset="-122"/>
                <a:cs typeface="Roboto" pitchFamily="34" charset="-120"/>
              </a:rPr>
              <a:t>results dashboard + per-prompt view</a:t>
            </a:r>
            <a:endParaRPr lang="en-US" sz="2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0E10"/>
        </a:solidFill>
      </p:bgPr>
    </p:bg>
    <p:spTree>
      <p:nvGrpSpPr>
        <p:cNvPr id="1" name=""/>
        <p:cNvGrpSpPr/>
        <p:nvPr/>
      </p:nvGrpSpPr>
      <p:grpSpPr>
        <a:xfrm>
          <a:off x="0" y="0"/>
          <a:ext cx="0" cy="0"/>
          <a:chOff x="0" y="0"/>
          <a:chExt cx="0" cy="0"/>
        </a:xfrm>
      </p:grpSpPr>
      <p:pic>
        <p:nvPicPr>
          <p:cNvPr id="2" name="Image 0" descr="Stairs lit by a beam of light">    </p:cNvPr>
          <p:cNvPicPr>
            <a:picLocks noChangeAspect="1"/>
          </p:cNvPicPr>
          <p:nvPr/>
        </p:nvPicPr>
        <p:blipFill>
          <a:blip r:embed="rId1"/>
          <a:stretch>
            <a:fillRect/>
          </a:stretch>
        </p:blipFill>
        <p:spPr>
          <a:xfrm>
            <a:off x="10058400" y="0"/>
            <a:ext cx="8229600" cy="7068312"/>
          </a:xfrm>
          <a:prstGeom prst="rect">
            <a:avLst/>
          </a:prstGeom>
        </p:spPr>
      </p:pic>
      <p:sp>
        <p:nvSpPr>
          <p:cNvPr id="3" name="Text 0"/>
          <p:cNvSpPr txBox="1"/>
          <p:nvPr/>
        </p:nvSpPr>
        <p:spPr>
          <a:xfrm>
            <a:off x="676656" y="457200"/>
            <a:ext cx="9144000" cy="1234440"/>
          </a:xfrm>
          <a:prstGeom prst="rect">
            <a:avLst/>
          </a:prstGeom>
          <a:noFill/>
          <a:ln/>
        </p:spPr>
        <p:txBody>
          <a:bodyPr wrap="square" lIns="0" tIns="0" rIns="0" bIns="0" rtlCol="0" anchor="ctr"/>
          <a:lstStyle/>
          <a:p>
            <a:pPr indent="0" marL="0">
              <a:buNone/>
            </a:pPr>
            <a:r>
              <a:rPr lang="en-US" sz="7200" b="1" dirty="0">
                <a:solidFill>
                  <a:srgbClr val="FFFFFF"/>
                </a:solidFill>
                <a:latin typeface="Roboto" pitchFamily="34" charset="0"/>
                <a:ea typeface="Roboto" pitchFamily="34" charset="-122"/>
                <a:cs typeface="Roboto" pitchFamily="34" charset="-120"/>
              </a:rPr>
              <a:t>What I learned</a:t>
            </a:r>
            <a:endParaRPr lang="en-US" sz="7200" dirty="0"/>
          </a:p>
        </p:txBody>
      </p:sp>
      <p:sp>
        <p:nvSpPr>
          <p:cNvPr id="4" name="Shape 1"/>
          <p:cNvSpPr/>
          <p:nvPr/>
        </p:nvSpPr>
        <p:spPr>
          <a:xfrm>
            <a:off x="694944" y="1810512"/>
            <a:ext cx="1143000" cy="91440"/>
          </a:xfrm>
          <a:prstGeom prst="rect">
            <a:avLst/>
          </a:prstGeom>
          <a:solidFill>
            <a:srgbClr val="C1FF72"/>
          </a:solidFill>
          <a:ln w="12700">
            <a:solidFill>
              <a:srgbClr val="C1FF72"/>
            </a:solidFill>
            <a:prstDash val="solid"/>
          </a:ln>
        </p:spPr>
      </p:sp>
      <p:sp>
        <p:nvSpPr>
          <p:cNvPr id="5" name="Shape 2"/>
          <p:cNvSpPr/>
          <p:nvPr/>
        </p:nvSpPr>
        <p:spPr>
          <a:xfrm>
            <a:off x="649224" y="2606040"/>
            <a:ext cx="8595360" cy="3017520"/>
          </a:xfrm>
          <a:prstGeom prst="roundRect">
            <a:avLst>
              <a:gd name="adj" fmla="val 3636"/>
            </a:avLst>
          </a:prstGeom>
          <a:solidFill>
            <a:srgbClr val="111316"/>
          </a:solidFill>
          <a:ln w="15875">
            <a:solidFill>
              <a:srgbClr val="2B2F33"/>
            </a:solidFill>
            <a:prstDash val="solid"/>
          </a:ln>
        </p:spPr>
      </p:sp>
      <p:sp>
        <p:nvSpPr>
          <p:cNvPr id="6" name="Shape 3"/>
          <p:cNvSpPr/>
          <p:nvPr/>
        </p:nvSpPr>
        <p:spPr>
          <a:xfrm>
            <a:off x="713232" y="2834640"/>
            <a:ext cx="91440" cy="2560320"/>
          </a:xfrm>
          <a:prstGeom prst="rect">
            <a:avLst/>
          </a:prstGeom>
          <a:solidFill>
            <a:srgbClr val="7ED957"/>
          </a:solidFill>
          <a:ln w="12700">
            <a:solidFill>
              <a:srgbClr val="7ED957"/>
            </a:solidFill>
            <a:prstDash val="solid"/>
          </a:ln>
        </p:spPr>
      </p:sp>
      <p:sp>
        <p:nvSpPr>
          <p:cNvPr id="7" name="Text 4"/>
          <p:cNvSpPr txBox="1"/>
          <p:nvPr/>
        </p:nvSpPr>
        <p:spPr>
          <a:xfrm>
            <a:off x="1234440" y="2880360"/>
            <a:ext cx="7680960" cy="457200"/>
          </a:xfrm>
          <a:prstGeom prst="rect">
            <a:avLst/>
          </a:prstGeom>
          <a:noFill/>
          <a:ln/>
        </p:spPr>
        <p:txBody>
          <a:bodyPr wrap="square" lIns="0" tIns="0" rIns="0" bIns="0" rtlCol="0" anchor="t"/>
          <a:lstStyle/>
          <a:p>
            <a:pPr indent="0" marL="0">
              <a:buNone/>
            </a:pPr>
            <a:r>
              <a:rPr lang="en-US" sz="2200" b="1" spc="200" kern="0" dirty="0">
                <a:solidFill>
                  <a:srgbClr val="7ED957"/>
                </a:solidFill>
                <a:latin typeface="Roboto" pitchFamily="34" charset="0"/>
                <a:ea typeface="Roboto" pitchFamily="34" charset="-122"/>
                <a:cs typeface="Roboto" pitchFamily="34" charset="-120"/>
              </a:rPr>
              <a:t>CHALLENGE</a:t>
            </a:r>
            <a:endParaRPr lang="en-US" sz="2200" dirty="0"/>
          </a:p>
        </p:txBody>
      </p:sp>
      <p:sp>
        <p:nvSpPr>
          <p:cNvPr id="8" name="Text 5"/>
          <p:cNvSpPr txBox="1"/>
          <p:nvPr/>
        </p:nvSpPr>
        <p:spPr>
          <a:xfrm>
            <a:off x="1234440" y="3429000"/>
            <a:ext cx="7680960" cy="1965960"/>
          </a:xfrm>
          <a:prstGeom prst="rect">
            <a:avLst/>
          </a:prstGeom>
          <a:noFill/>
          <a:ln/>
        </p:spPr>
        <p:txBody>
          <a:bodyPr wrap="square" lIns="0" tIns="0" rIns="0" bIns="0" rtlCol="0" anchor="t"/>
          <a:lstStyle/>
          <a:p>
            <a:pPr indent="0" marL="0">
              <a:lnSpc>
                <a:spcPct val="110000"/>
              </a:lnSpc>
              <a:buNone/>
            </a:pPr>
            <a:r>
              <a:rPr lang="en-US" sz="2500" dirty="0">
                <a:solidFill>
                  <a:srgbClr val="FFFFFF"/>
                </a:solidFill>
                <a:latin typeface="Roboto" pitchFamily="34" charset="0"/>
                <a:ea typeface="Roboto" pitchFamily="34" charset="-122"/>
                <a:cs typeface="Roboto" pitchFamily="34" charset="-120"/>
              </a:rPr>
              <a:t>Free shared endpoints were noisy: 9 of Gemma’s 12 free calls hit rate limits, so one live call is not a reliable demo.</a:t>
            </a:r>
            <a:endParaRPr lang="en-US" sz="2500" dirty="0"/>
          </a:p>
        </p:txBody>
      </p:sp>
      <p:sp>
        <p:nvSpPr>
          <p:cNvPr id="9" name="Shape 6"/>
          <p:cNvSpPr/>
          <p:nvPr/>
        </p:nvSpPr>
        <p:spPr>
          <a:xfrm>
            <a:off x="649224" y="5852160"/>
            <a:ext cx="8595360" cy="3566160"/>
          </a:xfrm>
          <a:prstGeom prst="roundRect">
            <a:avLst>
              <a:gd name="adj" fmla="val 3077"/>
            </a:avLst>
          </a:prstGeom>
          <a:solidFill>
            <a:srgbClr val="111316"/>
          </a:solidFill>
          <a:ln w="15875">
            <a:solidFill>
              <a:srgbClr val="2B2F33"/>
            </a:solidFill>
            <a:prstDash val="solid"/>
          </a:ln>
        </p:spPr>
      </p:sp>
      <p:sp>
        <p:nvSpPr>
          <p:cNvPr id="10" name="Shape 7"/>
          <p:cNvSpPr/>
          <p:nvPr/>
        </p:nvSpPr>
        <p:spPr>
          <a:xfrm>
            <a:off x="713232" y="6080760"/>
            <a:ext cx="91440" cy="3108960"/>
          </a:xfrm>
          <a:prstGeom prst="rect">
            <a:avLst/>
          </a:prstGeom>
          <a:solidFill>
            <a:srgbClr val="7ED957"/>
          </a:solidFill>
          <a:ln w="12700">
            <a:solidFill>
              <a:srgbClr val="7ED957"/>
            </a:solidFill>
            <a:prstDash val="solid"/>
          </a:ln>
        </p:spPr>
      </p:sp>
      <p:sp>
        <p:nvSpPr>
          <p:cNvPr id="11" name="Text 8"/>
          <p:cNvSpPr txBox="1"/>
          <p:nvPr/>
        </p:nvSpPr>
        <p:spPr>
          <a:xfrm>
            <a:off x="1234440" y="6126480"/>
            <a:ext cx="7680960" cy="457200"/>
          </a:xfrm>
          <a:prstGeom prst="rect">
            <a:avLst/>
          </a:prstGeom>
          <a:noFill/>
          <a:ln/>
        </p:spPr>
        <p:txBody>
          <a:bodyPr wrap="square" lIns="0" tIns="0" rIns="0" bIns="0" rtlCol="0" anchor="t"/>
          <a:lstStyle/>
          <a:p>
            <a:pPr indent="0" marL="0">
              <a:buNone/>
            </a:pPr>
            <a:r>
              <a:rPr lang="en-US" sz="2200" b="1" spc="200" kern="0" dirty="0">
                <a:solidFill>
                  <a:srgbClr val="7ED957"/>
                </a:solidFill>
                <a:latin typeface="Roboto" pitchFamily="34" charset="0"/>
                <a:ea typeface="Roboto" pitchFamily="34" charset="-122"/>
                <a:cs typeface="Roboto" pitchFamily="34" charset="-120"/>
              </a:rPr>
              <a:t>RESPONSE</a:t>
            </a:r>
            <a:endParaRPr lang="en-US" sz="2200" dirty="0"/>
          </a:p>
        </p:txBody>
      </p:sp>
      <p:sp>
        <p:nvSpPr>
          <p:cNvPr id="12" name="Text 9"/>
          <p:cNvSpPr txBox="1"/>
          <p:nvPr/>
        </p:nvSpPr>
        <p:spPr>
          <a:xfrm>
            <a:off x="1234440" y="6675120"/>
            <a:ext cx="7680960" cy="2514600"/>
          </a:xfrm>
          <a:prstGeom prst="rect">
            <a:avLst/>
          </a:prstGeom>
          <a:noFill/>
          <a:ln/>
        </p:spPr>
        <p:txBody>
          <a:bodyPr wrap="square" lIns="0" tIns="0" rIns="0" bIns="0" rtlCol="0" anchor="t"/>
          <a:lstStyle/>
          <a:p>
            <a:pPr indent="0" marL="0">
              <a:lnSpc>
                <a:spcPct val="110000"/>
              </a:lnSpc>
              <a:buNone/>
            </a:pPr>
            <a:r>
              <a:rPr lang="en-US" sz="2500" dirty="0">
                <a:solidFill>
                  <a:srgbClr val="FFFFFF"/>
                </a:solidFill>
                <a:latin typeface="Roboto" pitchFamily="34" charset="0"/>
                <a:ea typeface="Roboto" pitchFamily="34" charset="-122"/>
                <a:cs typeface="Roboto" pitchFamily="34" charset="-120"/>
              </a:rPr>
              <a:t>Added a dated paid pool on the same protocol, kept every failure visible, and compared strategies offline on saved results. Next: a learned router on held-out prompts.</a:t>
            </a:r>
            <a:endParaRPr lang="en-US" sz="2500" dirty="0"/>
          </a:p>
        </p:txBody>
      </p:sp>
      <p:sp>
        <p:nvSpPr>
          <p:cNvPr id="13" name="Text 10"/>
          <p:cNvSpPr txBox="1"/>
          <p:nvPr/>
        </p:nvSpPr>
        <p:spPr>
          <a:xfrm>
            <a:off x="9418320" y="7315200"/>
            <a:ext cx="8229600" cy="1737360"/>
          </a:xfrm>
          <a:prstGeom prst="rect">
            <a:avLst/>
          </a:prstGeom>
          <a:noFill/>
          <a:ln/>
        </p:spPr>
        <p:txBody>
          <a:bodyPr wrap="square" lIns="0" tIns="0" rIns="0" bIns="0" rtlCol="0" anchor="ctr"/>
          <a:lstStyle/>
          <a:p>
            <a:pPr algn="r" indent="0" marL="0">
              <a:buNone/>
            </a:pPr>
            <a:r>
              <a:rPr lang="en-US" sz="9600" b="1" dirty="0">
                <a:solidFill>
                  <a:srgbClr val="7ED957"/>
                </a:solidFill>
                <a:latin typeface="Roboto" pitchFamily="34" charset="0"/>
                <a:ea typeface="Roboto" pitchFamily="34" charset="-122"/>
                <a:cs typeface="Roboto" pitchFamily="34" charset="-120"/>
              </a:rPr>
              <a:t>Questions?</a:t>
            </a:r>
            <a:endParaRPr lang="en-US" sz="9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Robo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obo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Adaptive LLM Router - Checkpoint 2</dc:title>
  <dc:subject>CSC 498 Senior Seminar - Checkpoint 2</dc:subject>
  <dc:creator>Mian Abdullah</dc:creator>
  <cp:lastModifiedBy>Mian Abdullah</cp:lastModifiedBy>
  <cp:revision>1</cp:revision>
  <dcterms:created xsi:type="dcterms:W3CDTF">2026-10-23T16:10:04Z</dcterms:created>
  <dcterms:modified xsi:type="dcterms:W3CDTF">2026-10-23T16:10:04Z</dcterms:modified>
</cp:coreProperties>
</file>