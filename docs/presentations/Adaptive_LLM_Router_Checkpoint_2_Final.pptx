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2 of the Adaptive LLM Router. Checkpoint 1 built the evidence layer: two pinned models, a model registry, a hard context filter, and a saved GSM8K benchmark. Checkpoint 2 adds the routing layer on top of that evidence, and I will show it working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Checkpoint 2 items from my proposal timeline, word for word in meaning. First, two fixed-model baselines and a rule-based router compared on the same benchmark data. Second, priority controls that make the same prompt route differently. Third, a basic results dashboard. Each one is in the Route tab, and I will show all three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goes through the same four steps. The hard filter runs first, so a preference can never pick a model that fails a requirement. Then the priority decides. In the new paid pool each priority has a clear role. Balanced counts visible prompt signals: no signals goes to the cheapest model, one or two goes to the fast mid-tier model, three or more goes to the strongest model. This is a hand-written baseline, not a learned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prompt, one change. With Lower cost the router previews Gemma; with Higher quality it previews Gemini Argon. Preview makes no provider call, so this works even with no network. The bottom left shows the hard requirement: with a 500,000-token minimum, Gemma is filtered out first, so even a cost preference cannot choose it. Twelve deterministic acceptance cases check these behaviors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strategies are compared on saved benchmark results, so the data matters. Checkpoint 1 used two free models and was dominated by availability: Gemma hit nine shared rate limits. For Checkpoint 2 I added a dated three-model paid pool and ran the exact same twelve questions, prompt, and settings through it. Gemini Argon got all twelve, Gemma eleven, Mercury ten, and Mercury's two misses were empty responses that I kept as failures. The whole paid run cost about two cents, under a one-dollar cap with a cost estimate shown before it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results dashboard, reproduced from the app. Every strategy chooses from the same saved 36 cells, so the comparison is controlled and costs nothing to rerun. The cost and quality rule priorities match the two fixed baselines, which is expected. The interesting row is balanced, highlighted. In the app you can also switch to the free Checkpoint 1 matrix and see the same six strategies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matrix, balanced routing got every question right, the same as always using the most expensive model, for about 45 percent less cost and a six-times faster median. I want to be careful here. Mercury's two failures happened on prompts the rule had already sent to Gemini, which helped. And twelve math questions are not enough to claim this generalizes. That is exactly why Checkpoint 3 adds held-out prompts and a second task category.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Everything except step four works without a provider call, so the demo survives a network problem. Step four makes a single real paid call to the one selected model and shows its latency, tokens,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limits are part of the result: a small sample, one task type, and hand-written rules. Checkpoint 3 is where the learned router comes in, trained on a proper split and compared against the fixed baselines and this rule router on held-out prompts from a second task category.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80A0B"/>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F7A80"/>
                </a:solidFill>
                <a:latin typeface="Consolas" pitchFamily="34" charset="0"/>
                <a:ea typeface="Consolas" pitchFamily="34" charset="-122"/>
                <a:cs typeface="Consolas" pitchFamily="34" charset="-120"/>
              </a:rPr>
              <a:t>Adaptive LLM Router · Checkpoint 2</a:t>
            </a:r>
            <a:endParaRPr lang="en-US" sz="9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80A0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ircuit board with a chip labeled Adaptive LLM Router">    </p:cNvPr>
          <p:cNvPicPr>
            <a:picLocks noChangeAspect="1"/>
          </p:cNvPicPr>
          <p:nvPr/>
        </p:nvPicPr>
        <p:blipFill>
          <a:blip r:embed="rId1"/>
          <a:srcRect l="0" r="0" t="0" b="0"/>
          <a:stretch/>
        </p:blipFill>
        <p:spPr>
          <a:xfrm>
            <a:off x="5989320" y="0"/>
            <a:ext cx="6202375" cy="6858000"/>
          </a:xfrm>
          <a:prstGeom prst="rect">
            <a:avLst/>
          </a:prstGeom>
        </p:spPr>
      </p:pic>
      <p:sp>
        <p:nvSpPr>
          <p:cNvPr id="3" name="Text 0"/>
          <p:cNvSpPr txBox="1"/>
          <p:nvPr/>
        </p:nvSpPr>
        <p:spPr>
          <a:xfrm>
            <a:off x="731520" y="1234440"/>
            <a:ext cx="4937760" cy="365760"/>
          </a:xfrm>
          <a:prstGeom prst="rect">
            <a:avLst/>
          </a:prstGeom>
          <a:noFill/>
          <a:ln/>
        </p:spPr>
        <p:txBody>
          <a:bodyPr wrap="square" lIns="0" tIns="0" rIns="0" bIns="0" rtlCol="0" anchor="ctr"/>
          <a:lstStyle/>
          <a:p>
            <a:pPr indent="0" marL="0">
              <a:buNone/>
            </a:pPr>
            <a:r>
              <a:rPr lang="en-US" sz="1600" b="1" spc="300" kern="0" dirty="0">
                <a:solidFill>
                  <a:srgbClr val="B8FF66"/>
                </a:solidFill>
                <a:latin typeface="Consolas" pitchFamily="34" charset="0"/>
                <a:ea typeface="Consolas" pitchFamily="34" charset="-122"/>
                <a:cs typeface="Consolas" pitchFamily="34" charset="-120"/>
              </a:rPr>
              <a:t>CHECKPOINT 2</a:t>
            </a:r>
            <a:endParaRPr lang="en-US" sz="1600" dirty="0"/>
          </a:p>
        </p:txBody>
      </p:sp>
      <p:sp>
        <p:nvSpPr>
          <p:cNvPr id="4" name="Text 1"/>
          <p:cNvSpPr txBox="1"/>
          <p:nvPr/>
        </p:nvSpPr>
        <p:spPr>
          <a:xfrm>
            <a:off x="731520" y="1783080"/>
            <a:ext cx="5120640" cy="2194560"/>
          </a:xfrm>
          <a:prstGeom prst="rect">
            <a:avLst/>
          </a:prstGeom>
          <a:noFill/>
          <a:ln/>
        </p:spPr>
        <p:txBody>
          <a:bodyPr wrap="square" lIns="0" tIns="0" rIns="0" bIns="0" rtlCol="0" anchor="t"/>
          <a:lstStyle/>
          <a:p>
            <a:pPr indent="0" marL="0">
              <a:buNone/>
            </a:pPr>
            <a:r>
              <a:rPr lang="en-US" sz="6000" b="1" dirty="0">
                <a:solidFill>
                  <a:srgbClr val="F2F5F3"/>
                </a:solidFill>
                <a:latin typeface="Arial" pitchFamily="34" charset="0"/>
                <a:ea typeface="Arial" pitchFamily="34" charset="-122"/>
                <a:cs typeface="Arial" pitchFamily="34" charset="-120"/>
              </a:rPr>
              <a:t>Adaptive LLM Router</a:t>
            </a:r>
            <a:endParaRPr lang="en-US" sz="6000" dirty="0"/>
          </a:p>
        </p:txBody>
      </p:sp>
      <p:sp>
        <p:nvSpPr>
          <p:cNvPr id="5" name="Text 2"/>
          <p:cNvSpPr txBox="1"/>
          <p:nvPr/>
        </p:nvSpPr>
        <p:spPr>
          <a:xfrm>
            <a:off x="731520" y="4069080"/>
            <a:ext cx="4937760" cy="731520"/>
          </a:xfrm>
          <a:prstGeom prst="rect">
            <a:avLst/>
          </a:prstGeom>
          <a:noFill/>
          <a:ln/>
        </p:spPr>
        <p:txBody>
          <a:bodyPr wrap="square" lIns="0" tIns="0" rIns="0" bIns="0" rtlCol="0" anchor="t"/>
          <a:lstStyle/>
          <a:p>
            <a:pPr indent="0" marL="0">
              <a:buNone/>
            </a:pPr>
            <a:r>
              <a:rPr lang="en-US" sz="1800" dirty="0">
                <a:solidFill>
                  <a:srgbClr val="9CA7AC"/>
                </a:solidFill>
                <a:latin typeface="Arial" pitchFamily="34" charset="0"/>
                <a:ea typeface="Arial" pitchFamily="34" charset="-122"/>
                <a:cs typeface="Arial" pitchFamily="34" charset="-120"/>
              </a:rPr>
              <a:t>Transparent routing on the same saved benchmark evidence</a:t>
            </a:r>
            <a:endParaRPr lang="en-US" sz="1800" dirty="0"/>
          </a:p>
        </p:txBody>
      </p:sp>
      <p:sp>
        <p:nvSpPr>
          <p:cNvPr id="6" name="Text 3"/>
          <p:cNvSpPr txBox="1"/>
          <p:nvPr/>
        </p:nvSpPr>
        <p:spPr>
          <a:xfrm>
            <a:off x="731520" y="5074920"/>
            <a:ext cx="4937760" cy="1005840"/>
          </a:xfrm>
          <a:prstGeom prst="rect">
            <a:avLst/>
          </a:prstGeom>
          <a:noFill/>
          <a:ln/>
        </p:spPr>
        <p:txBody>
          <a:bodyPr wrap="square" lIns="0" tIns="0" rIns="0" bIns="0" rtlCol="0" anchor="t"/>
          <a:lstStyle/>
          <a:p>
            <a:pPr indent="0" marL="0">
              <a:spcAft>
                <a:spcPts val="300"/>
              </a:spcAft>
              <a:buNone/>
            </a:pPr>
            <a:r>
              <a:rPr lang="en-US" sz="1500" b="1" dirty="0">
                <a:solidFill>
                  <a:srgbClr val="F2F5F3"/>
                </a:solidFill>
                <a:latin typeface="Arial" pitchFamily="34" charset="0"/>
                <a:ea typeface="Arial" pitchFamily="34" charset="-122"/>
                <a:cs typeface="Arial" pitchFamily="34" charset="-120"/>
              </a:rPr>
              <a:t>Mian Abdullah</a:t>
            </a:r>
            <a:endParaRPr lang="en-US" sz="1500" dirty="0"/>
          </a:p>
          <a:p>
            <a:pPr indent="0" marL="0">
              <a:spcAft>
                <a:spcPts val="300"/>
              </a:spcAft>
              <a:buNone/>
            </a:pPr>
            <a:r>
              <a:rPr lang="en-US" sz="1500" dirty="0">
                <a:solidFill>
                  <a:srgbClr val="9CA7AC"/>
                </a:solidFill>
                <a:latin typeface="Arial" pitchFamily="34" charset="0"/>
                <a:ea typeface="Arial" pitchFamily="34" charset="-122"/>
                <a:cs typeface="Arial" pitchFamily="34" charset="-120"/>
              </a:rPr>
              <a:t>CSC 498: Senior Seminar</a:t>
            </a:r>
            <a:endParaRPr lang="en-US" sz="1500" dirty="0"/>
          </a:p>
          <a:p>
            <a:pPr indent="0" marL="0">
              <a:spcAft>
                <a:spcPts val="300"/>
              </a:spcAft>
              <a:buNone/>
            </a:pPr>
            <a:r>
              <a:rPr lang="en-US" sz="1500" dirty="0">
                <a:solidFill>
                  <a:srgbClr val="9CA7AC"/>
                </a:solidFill>
                <a:latin typeface="Arial" pitchFamily="34" charset="0"/>
                <a:ea typeface="Arial" pitchFamily="34" charset="-122"/>
                <a:cs typeface="Arial" pitchFamily="34" charset="-120"/>
              </a:rPr>
              <a:t>October 22,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100" b="1" spc="200" kern="0" dirty="0">
                <a:solidFill>
                  <a:srgbClr val="B8FF66"/>
                </a:solidFill>
                <a:latin typeface="Consolas" pitchFamily="34" charset="0"/>
                <a:ea typeface="Consolas" pitchFamily="34" charset="-122"/>
                <a:cs typeface="Consolas" pitchFamily="34" charset="-120"/>
              </a:rPr>
              <a:t>WHAT THE PROPOSAL PROMISED FOR OCT 22</a:t>
            </a:r>
            <a:endParaRPr lang="en-US" sz="1100" dirty="0"/>
          </a:p>
        </p:txBody>
      </p:sp>
      <p:sp>
        <p:nvSpPr>
          <p:cNvPr id="3" name="Title"/>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2F5F3"/>
                </a:solidFill>
                <a:latin typeface="Arial" pitchFamily="34" charset="0"/>
                <a:ea typeface="Arial" pitchFamily="34" charset="-122"/>
                <a:cs typeface="Arial" pitchFamily="34" charset="-120"/>
              </a:rPr>
              <a:t>Three Checkpoint 2 commitments, all delivered</a:t>
            </a:r>
            <a:endParaRPr lang="en-US" sz="3200" dirty="0"/>
          </a:p>
        </p:txBody>
      </p:sp>
      <p:sp>
        <p:nvSpPr>
          <p:cNvPr id="4" name="Commitment 01"/>
          <p:cNvSpPr/>
          <p:nvPr/>
        </p:nvSpPr>
        <p:spPr>
          <a:xfrm>
            <a:off x="548640" y="1645920"/>
            <a:ext cx="3520440" cy="4434840"/>
          </a:xfrm>
          <a:prstGeom prst="roundRect">
            <a:avLst>
              <a:gd name="adj" fmla="val 2078"/>
            </a:avLst>
          </a:prstGeom>
          <a:solidFill>
            <a:srgbClr val="0E1113"/>
          </a:solidFill>
          <a:ln w="12700">
            <a:solidFill>
              <a:srgbClr val="273036"/>
            </a:solidFill>
            <a:prstDash val="solid"/>
          </a:ln>
        </p:spPr>
      </p:sp>
      <p:sp>
        <p:nvSpPr>
          <p:cNvPr id="5" name="Text 3"/>
          <p:cNvSpPr txBox="1"/>
          <p:nvPr/>
        </p:nvSpPr>
        <p:spPr>
          <a:xfrm>
            <a:off x="822960" y="1874520"/>
            <a:ext cx="1097280" cy="502920"/>
          </a:xfrm>
          <a:prstGeom prst="rect">
            <a:avLst/>
          </a:prstGeom>
          <a:noFill/>
          <a:ln/>
        </p:spPr>
        <p:txBody>
          <a:bodyPr wrap="square" lIns="0" tIns="0" rIns="0" bIns="0" rtlCol="0" anchor="t"/>
          <a:lstStyle/>
          <a:p>
            <a:pPr indent="0" marL="0">
              <a:buNone/>
            </a:pPr>
            <a:r>
              <a:rPr lang="en-US" sz="2600" b="1" dirty="0">
                <a:solidFill>
                  <a:srgbClr val="B8FF66"/>
                </a:solidFill>
                <a:latin typeface="Consolas" pitchFamily="34" charset="0"/>
                <a:ea typeface="Consolas" pitchFamily="34" charset="-122"/>
                <a:cs typeface="Consolas" pitchFamily="34" charset="-120"/>
              </a:rPr>
              <a:t>01</a:t>
            </a:r>
            <a:endParaRPr lang="en-US" sz="2600" dirty="0"/>
          </a:p>
        </p:txBody>
      </p:sp>
      <p:sp>
        <p:nvSpPr>
          <p:cNvPr id="6" name="Text 4"/>
          <p:cNvSpPr txBox="1"/>
          <p:nvPr/>
        </p:nvSpPr>
        <p:spPr>
          <a:xfrm>
            <a:off x="2377440" y="1965960"/>
            <a:ext cx="1463040" cy="320040"/>
          </a:xfrm>
          <a:prstGeom prst="rect">
            <a:avLst/>
          </a:prstGeom>
          <a:noFill/>
          <a:ln/>
        </p:spPr>
        <p:txBody>
          <a:bodyPr wrap="square" lIns="0" tIns="0" rIns="0" bIns="0" rtlCol="0" anchor="t"/>
          <a:lstStyle/>
          <a:p>
            <a:pPr algn="r" indent="0" marL="0">
              <a:buNone/>
            </a:pPr>
            <a:r>
              <a:rPr lang="en-US" sz="1050" b="1" dirty="0">
                <a:solidFill>
                  <a:srgbClr val="6CDDA2"/>
                </a:solidFill>
                <a:latin typeface="Consolas" pitchFamily="34" charset="0"/>
                <a:ea typeface="Consolas" pitchFamily="34" charset="-122"/>
                <a:cs typeface="Consolas" pitchFamily="34" charset="-120"/>
              </a:rPr>
              <a:t>✓ DELIVERED</a:t>
            </a:r>
            <a:endParaRPr lang="en-US" sz="1050" dirty="0"/>
          </a:p>
        </p:txBody>
      </p:sp>
      <p:sp>
        <p:nvSpPr>
          <p:cNvPr id="7" name="Text 5"/>
          <p:cNvSpPr txBox="1"/>
          <p:nvPr/>
        </p:nvSpPr>
        <p:spPr>
          <a:xfrm>
            <a:off x="822960" y="2514600"/>
            <a:ext cx="2971800" cy="1188720"/>
          </a:xfrm>
          <a:prstGeom prst="rect">
            <a:avLst/>
          </a:prstGeom>
          <a:noFill/>
          <a:ln/>
        </p:spPr>
        <p:txBody>
          <a:bodyPr wrap="square" lIns="0" tIns="0" rIns="0" bIns="0" rtlCol="0" anchor="t"/>
          <a:lstStyle/>
          <a:p>
            <a:pPr indent="0" marL="0">
              <a:buNone/>
            </a:pPr>
            <a:r>
              <a:rPr lang="en-US" sz="1700" b="1" dirty="0">
                <a:solidFill>
                  <a:srgbClr val="F2F5F3"/>
                </a:solidFill>
                <a:latin typeface="Arial" pitchFamily="34" charset="0"/>
                <a:ea typeface="Arial" pitchFamily="34" charset="-122"/>
                <a:cs typeface="Arial" pitchFamily="34" charset="-120"/>
              </a:rPr>
              <a:t>Two fixed baselines and a rule-based router on the same benchmark data</a:t>
            </a:r>
            <a:endParaRPr lang="en-US" sz="1700" dirty="0"/>
          </a:p>
        </p:txBody>
      </p:sp>
      <p:sp>
        <p:nvSpPr>
          <p:cNvPr id="8" name="Text 6"/>
          <p:cNvSpPr txBox="1"/>
          <p:nvPr/>
        </p:nvSpPr>
        <p:spPr>
          <a:xfrm>
            <a:off x="822960" y="3749040"/>
            <a:ext cx="2971800" cy="1554480"/>
          </a:xfrm>
          <a:prstGeom prst="rect">
            <a:avLst/>
          </a:prstGeom>
          <a:noFill/>
          <a:ln/>
        </p:spPr>
        <p:txBody>
          <a:bodyPr wrap="square" lIns="0" tIns="0" rIns="0" bIns="0" rtlCol="0" anchor="t"/>
          <a:lstStyle/>
          <a:p>
            <a:pPr indent="0" marL="0">
              <a:buNone/>
            </a:pPr>
            <a:r>
              <a:rPr lang="en-US" sz="1400" dirty="0">
                <a:solidFill>
                  <a:srgbClr val="9CA7AC"/>
                </a:solidFill>
                <a:latin typeface="Arial" pitchFamily="34" charset="0"/>
                <a:ea typeface="Arial" pitchFamily="34" charset="-122"/>
                <a:cs typeface="Arial" pitchFamily="34" charset="-120"/>
              </a:rPr>
              <a:t>Six strategies replayed over identical saved GSM8K matrices (free: 24 cells, paid: 36 cells), compared on accuracy, latency, and cost.</a:t>
            </a:r>
            <a:endParaRPr lang="en-US" sz="1400" dirty="0"/>
          </a:p>
        </p:txBody>
      </p:sp>
      <p:sp>
        <p:nvSpPr>
          <p:cNvPr id="9" name="Text 7"/>
          <p:cNvSpPr txBox="1"/>
          <p:nvPr/>
        </p:nvSpPr>
        <p:spPr>
          <a:xfrm>
            <a:off x="822960" y="5577840"/>
            <a:ext cx="2971800" cy="320040"/>
          </a:xfrm>
          <a:prstGeom prst="rect">
            <a:avLst/>
          </a:prstGeom>
          <a:noFill/>
          <a:ln/>
        </p:spPr>
        <p:txBody>
          <a:bodyPr wrap="square" lIns="0" tIns="0" rIns="0" bIns="0" rtlCol="0" anchor="t"/>
          <a:lstStyle/>
          <a:p>
            <a:pPr indent="0" marL="0">
              <a:buNone/>
            </a:pPr>
            <a:r>
              <a:rPr lang="en-US" sz="1100" dirty="0">
                <a:solidFill>
                  <a:srgbClr val="B8FF66"/>
                </a:solidFill>
                <a:latin typeface="Consolas" pitchFamily="34" charset="0"/>
                <a:ea typeface="Consolas" pitchFamily="34" charset="-122"/>
                <a:cs typeface="Consolas" pitchFamily="34" charset="-120"/>
              </a:rPr>
              <a:t>Route › Results dashboard</a:t>
            </a:r>
            <a:endParaRPr lang="en-US" sz="1100" dirty="0"/>
          </a:p>
        </p:txBody>
      </p:sp>
      <p:sp>
        <p:nvSpPr>
          <p:cNvPr id="10" name="Commitment 02"/>
          <p:cNvSpPr/>
          <p:nvPr/>
        </p:nvSpPr>
        <p:spPr>
          <a:xfrm>
            <a:off x="4343400" y="1645920"/>
            <a:ext cx="3520440" cy="4434840"/>
          </a:xfrm>
          <a:prstGeom prst="roundRect">
            <a:avLst>
              <a:gd name="adj" fmla="val 2078"/>
            </a:avLst>
          </a:prstGeom>
          <a:solidFill>
            <a:srgbClr val="0E1113"/>
          </a:solidFill>
          <a:ln w="12700">
            <a:solidFill>
              <a:srgbClr val="273036"/>
            </a:solidFill>
            <a:prstDash val="solid"/>
          </a:ln>
        </p:spPr>
      </p:sp>
      <p:sp>
        <p:nvSpPr>
          <p:cNvPr id="11" name="Text 9"/>
          <p:cNvSpPr txBox="1"/>
          <p:nvPr/>
        </p:nvSpPr>
        <p:spPr>
          <a:xfrm>
            <a:off x="4617720" y="1874520"/>
            <a:ext cx="1097280" cy="502920"/>
          </a:xfrm>
          <a:prstGeom prst="rect">
            <a:avLst/>
          </a:prstGeom>
          <a:noFill/>
          <a:ln/>
        </p:spPr>
        <p:txBody>
          <a:bodyPr wrap="square" lIns="0" tIns="0" rIns="0" bIns="0" rtlCol="0" anchor="t"/>
          <a:lstStyle/>
          <a:p>
            <a:pPr indent="0" marL="0">
              <a:buNone/>
            </a:pPr>
            <a:r>
              <a:rPr lang="en-US" sz="2600" b="1" dirty="0">
                <a:solidFill>
                  <a:srgbClr val="B8FF66"/>
                </a:solidFill>
                <a:latin typeface="Consolas" pitchFamily="34" charset="0"/>
                <a:ea typeface="Consolas" pitchFamily="34" charset="-122"/>
                <a:cs typeface="Consolas" pitchFamily="34" charset="-120"/>
              </a:rPr>
              <a:t>02</a:t>
            </a:r>
            <a:endParaRPr lang="en-US" sz="2600" dirty="0"/>
          </a:p>
        </p:txBody>
      </p:sp>
      <p:sp>
        <p:nvSpPr>
          <p:cNvPr id="12" name="Text 10"/>
          <p:cNvSpPr txBox="1"/>
          <p:nvPr/>
        </p:nvSpPr>
        <p:spPr>
          <a:xfrm>
            <a:off x="6172200" y="1965960"/>
            <a:ext cx="1463040" cy="320040"/>
          </a:xfrm>
          <a:prstGeom prst="rect">
            <a:avLst/>
          </a:prstGeom>
          <a:noFill/>
          <a:ln/>
        </p:spPr>
        <p:txBody>
          <a:bodyPr wrap="square" lIns="0" tIns="0" rIns="0" bIns="0" rtlCol="0" anchor="t"/>
          <a:lstStyle/>
          <a:p>
            <a:pPr algn="r" indent="0" marL="0">
              <a:buNone/>
            </a:pPr>
            <a:r>
              <a:rPr lang="en-US" sz="1050" b="1" dirty="0">
                <a:solidFill>
                  <a:srgbClr val="6CDDA2"/>
                </a:solidFill>
                <a:latin typeface="Consolas" pitchFamily="34" charset="0"/>
                <a:ea typeface="Consolas" pitchFamily="34" charset="-122"/>
                <a:cs typeface="Consolas" pitchFamily="34" charset="-120"/>
              </a:rPr>
              <a:t>✓ DELIVERED</a:t>
            </a:r>
            <a:endParaRPr lang="en-US" sz="1050" dirty="0"/>
          </a:p>
        </p:txBody>
      </p:sp>
      <p:sp>
        <p:nvSpPr>
          <p:cNvPr id="13" name="Text 11"/>
          <p:cNvSpPr txBox="1"/>
          <p:nvPr/>
        </p:nvSpPr>
        <p:spPr>
          <a:xfrm>
            <a:off x="4617720" y="2514600"/>
            <a:ext cx="2971800" cy="1188720"/>
          </a:xfrm>
          <a:prstGeom prst="rect">
            <a:avLst/>
          </a:prstGeom>
          <a:noFill/>
          <a:ln/>
        </p:spPr>
        <p:txBody>
          <a:bodyPr wrap="square" lIns="0" tIns="0" rIns="0" bIns="0" rtlCol="0" anchor="t"/>
          <a:lstStyle/>
          <a:p>
            <a:pPr indent="0" marL="0">
              <a:buNone/>
            </a:pPr>
            <a:r>
              <a:rPr lang="en-US" sz="1700" b="1" dirty="0">
                <a:solidFill>
                  <a:srgbClr val="F2F5F3"/>
                </a:solidFill>
                <a:latin typeface="Arial" pitchFamily="34" charset="0"/>
                <a:ea typeface="Arial" pitchFamily="34" charset="-122"/>
                <a:cs typeface="Arial" pitchFamily="34" charset="-120"/>
              </a:rPr>
              <a:t>The same prompt routes differently when the user changes priority</a:t>
            </a:r>
            <a:endParaRPr lang="en-US" sz="1700" dirty="0"/>
          </a:p>
        </p:txBody>
      </p:sp>
      <p:sp>
        <p:nvSpPr>
          <p:cNvPr id="14" name="Text 12"/>
          <p:cNvSpPr txBox="1"/>
          <p:nvPr/>
        </p:nvSpPr>
        <p:spPr>
          <a:xfrm>
            <a:off x="4617720" y="3749040"/>
            <a:ext cx="2971800" cy="1554480"/>
          </a:xfrm>
          <a:prstGeom prst="rect">
            <a:avLst/>
          </a:prstGeom>
          <a:noFill/>
          <a:ln/>
        </p:spPr>
        <p:txBody>
          <a:bodyPr wrap="square" lIns="0" tIns="0" rIns="0" bIns="0" rtlCol="0" anchor="t"/>
          <a:lstStyle/>
          <a:p>
            <a:pPr indent="0" marL="0">
              <a:buNone/>
            </a:pPr>
            <a:r>
              <a:rPr lang="en-US" sz="1400" dirty="0">
                <a:solidFill>
                  <a:srgbClr val="9CA7AC"/>
                </a:solidFill>
                <a:latin typeface="Arial" pitchFamily="34" charset="0"/>
                <a:ea typeface="Arial" pitchFamily="34" charset="-122"/>
                <a:cs typeface="Arial" pitchFamily="34" charset="-120"/>
              </a:rPr>
              <a:t>Four priorities plus a hard context requirement. Lower cost picks Gemma, Higher quality picks Gemini Argon, Faster picks Mercury.</a:t>
            </a:r>
            <a:endParaRPr lang="en-US" sz="1400" dirty="0"/>
          </a:p>
        </p:txBody>
      </p:sp>
      <p:sp>
        <p:nvSpPr>
          <p:cNvPr id="15" name="Text 13"/>
          <p:cNvSpPr txBox="1"/>
          <p:nvPr/>
        </p:nvSpPr>
        <p:spPr>
          <a:xfrm>
            <a:off x="4617720" y="5577840"/>
            <a:ext cx="2971800" cy="320040"/>
          </a:xfrm>
          <a:prstGeom prst="rect">
            <a:avLst/>
          </a:prstGeom>
          <a:noFill/>
          <a:ln/>
        </p:spPr>
        <p:txBody>
          <a:bodyPr wrap="square" lIns="0" tIns="0" rIns="0" bIns="0" rtlCol="0" anchor="t"/>
          <a:lstStyle/>
          <a:p>
            <a:pPr indent="0" marL="0">
              <a:buNone/>
            </a:pPr>
            <a:r>
              <a:rPr lang="en-US" sz="1100" dirty="0">
                <a:solidFill>
                  <a:srgbClr val="B8FF66"/>
                </a:solidFill>
                <a:latin typeface="Consolas" pitchFamily="34" charset="0"/>
                <a:ea typeface="Consolas" pitchFamily="34" charset="-122"/>
                <a:cs typeface="Consolas" pitchFamily="34" charset="-120"/>
              </a:rPr>
              <a:t>Route › Preview decision</a:t>
            </a:r>
            <a:endParaRPr lang="en-US" sz="1100" dirty="0"/>
          </a:p>
        </p:txBody>
      </p:sp>
      <p:sp>
        <p:nvSpPr>
          <p:cNvPr id="16" name="Commitment 03"/>
          <p:cNvSpPr/>
          <p:nvPr/>
        </p:nvSpPr>
        <p:spPr>
          <a:xfrm>
            <a:off x="8138160" y="1645920"/>
            <a:ext cx="3520440" cy="4434840"/>
          </a:xfrm>
          <a:prstGeom prst="roundRect">
            <a:avLst>
              <a:gd name="adj" fmla="val 2078"/>
            </a:avLst>
          </a:prstGeom>
          <a:solidFill>
            <a:srgbClr val="0E1113"/>
          </a:solidFill>
          <a:ln w="12700">
            <a:solidFill>
              <a:srgbClr val="273036"/>
            </a:solidFill>
            <a:prstDash val="solid"/>
          </a:ln>
        </p:spPr>
      </p:sp>
      <p:sp>
        <p:nvSpPr>
          <p:cNvPr id="17" name="Text 15"/>
          <p:cNvSpPr txBox="1"/>
          <p:nvPr/>
        </p:nvSpPr>
        <p:spPr>
          <a:xfrm>
            <a:off x="8412480" y="1874520"/>
            <a:ext cx="1097280" cy="502920"/>
          </a:xfrm>
          <a:prstGeom prst="rect">
            <a:avLst/>
          </a:prstGeom>
          <a:noFill/>
          <a:ln/>
        </p:spPr>
        <p:txBody>
          <a:bodyPr wrap="square" lIns="0" tIns="0" rIns="0" bIns="0" rtlCol="0" anchor="t"/>
          <a:lstStyle/>
          <a:p>
            <a:pPr indent="0" marL="0">
              <a:buNone/>
            </a:pPr>
            <a:r>
              <a:rPr lang="en-US" sz="2600" b="1" dirty="0">
                <a:solidFill>
                  <a:srgbClr val="B8FF66"/>
                </a:solidFill>
                <a:latin typeface="Consolas" pitchFamily="34" charset="0"/>
                <a:ea typeface="Consolas" pitchFamily="34" charset="-122"/>
                <a:cs typeface="Consolas" pitchFamily="34" charset="-120"/>
              </a:rPr>
              <a:t>03</a:t>
            </a:r>
            <a:endParaRPr lang="en-US" sz="2600" dirty="0"/>
          </a:p>
        </p:txBody>
      </p:sp>
      <p:sp>
        <p:nvSpPr>
          <p:cNvPr id="18" name="Text 16"/>
          <p:cNvSpPr txBox="1"/>
          <p:nvPr/>
        </p:nvSpPr>
        <p:spPr>
          <a:xfrm>
            <a:off x="9966960" y="1965960"/>
            <a:ext cx="1463040" cy="320040"/>
          </a:xfrm>
          <a:prstGeom prst="rect">
            <a:avLst/>
          </a:prstGeom>
          <a:noFill/>
          <a:ln/>
        </p:spPr>
        <p:txBody>
          <a:bodyPr wrap="square" lIns="0" tIns="0" rIns="0" bIns="0" rtlCol="0" anchor="t"/>
          <a:lstStyle/>
          <a:p>
            <a:pPr algn="r" indent="0" marL="0">
              <a:buNone/>
            </a:pPr>
            <a:r>
              <a:rPr lang="en-US" sz="1050" b="1" dirty="0">
                <a:solidFill>
                  <a:srgbClr val="6CDDA2"/>
                </a:solidFill>
                <a:latin typeface="Consolas" pitchFamily="34" charset="0"/>
                <a:ea typeface="Consolas" pitchFamily="34" charset="-122"/>
                <a:cs typeface="Consolas" pitchFamily="34" charset="-120"/>
              </a:rPr>
              <a:t>✓ DELIVERED</a:t>
            </a:r>
            <a:endParaRPr lang="en-US" sz="1050" dirty="0"/>
          </a:p>
        </p:txBody>
      </p:sp>
      <p:sp>
        <p:nvSpPr>
          <p:cNvPr id="19" name="Text 17"/>
          <p:cNvSpPr txBox="1"/>
          <p:nvPr/>
        </p:nvSpPr>
        <p:spPr>
          <a:xfrm>
            <a:off x="8412480" y="2514600"/>
            <a:ext cx="2971800" cy="1188720"/>
          </a:xfrm>
          <a:prstGeom prst="rect">
            <a:avLst/>
          </a:prstGeom>
          <a:noFill/>
          <a:ln/>
        </p:spPr>
        <p:txBody>
          <a:bodyPr wrap="square" lIns="0" tIns="0" rIns="0" bIns="0" rtlCol="0" anchor="t"/>
          <a:lstStyle/>
          <a:p>
            <a:pPr indent="0" marL="0">
              <a:buNone/>
            </a:pPr>
            <a:r>
              <a:rPr lang="en-US" sz="1700" b="1" dirty="0">
                <a:solidFill>
                  <a:srgbClr val="F2F5F3"/>
                </a:solidFill>
                <a:latin typeface="Arial" pitchFamily="34" charset="0"/>
                <a:ea typeface="Arial" pitchFamily="34" charset="-122"/>
                <a:cs typeface="Arial" pitchFamily="34" charset="-120"/>
              </a:rPr>
              <a:t>A results dashboard that shows the selected model and summary results</a:t>
            </a:r>
            <a:endParaRPr lang="en-US" sz="1700" dirty="0"/>
          </a:p>
        </p:txBody>
      </p:sp>
      <p:sp>
        <p:nvSpPr>
          <p:cNvPr id="20" name="Text 18"/>
          <p:cNvSpPr txBox="1"/>
          <p:nvPr/>
        </p:nvSpPr>
        <p:spPr>
          <a:xfrm>
            <a:off x="8412480" y="3749040"/>
            <a:ext cx="2971800" cy="1554480"/>
          </a:xfrm>
          <a:prstGeom prst="rect">
            <a:avLst/>
          </a:prstGeom>
          <a:noFill/>
          <a:ln/>
        </p:spPr>
        <p:txBody>
          <a:bodyPr wrap="square" lIns="0" tIns="0" rIns="0" bIns="0" rtlCol="0" anchor="t"/>
          <a:lstStyle/>
          <a:p>
            <a:pPr indent="0" marL="0">
              <a:buNone/>
            </a:pPr>
            <a:r>
              <a:rPr lang="en-US" sz="1400" dirty="0">
                <a:solidFill>
                  <a:srgbClr val="9CA7AC"/>
                </a:solidFill>
                <a:latin typeface="Arial" pitchFamily="34" charset="0"/>
                <a:ea typeface="Arial" pitchFamily="34" charset="-122"/>
                <a:cs typeface="Arial" pitchFamily="34" charset="-120"/>
              </a:rPr>
              <a:t>Strategy table with median and p95 latency and cost per correct answer, plus the model chosen for every prompt and why.</a:t>
            </a:r>
            <a:endParaRPr lang="en-US" sz="1400" dirty="0"/>
          </a:p>
        </p:txBody>
      </p:sp>
      <p:sp>
        <p:nvSpPr>
          <p:cNvPr id="21" name="Text 19"/>
          <p:cNvSpPr txBox="1"/>
          <p:nvPr/>
        </p:nvSpPr>
        <p:spPr>
          <a:xfrm>
            <a:off x="8412480" y="5577840"/>
            <a:ext cx="2971800" cy="320040"/>
          </a:xfrm>
          <a:prstGeom prst="rect">
            <a:avLst/>
          </a:prstGeom>
          <a:noFill/>
          <a:ln/>
        </p:spPr>
        <p:txBody>
          <a:bodyPr wrap="square" lIns="0" tIns="0" rIns="0" bIns="0" rtlCol="0" anchor="t"/>
          <a:lstStyle/>
          <a:p>
            <a:pPr indent="0" marL="0">
              <a:buNone/>
            </a:pPr>
            <a:r>
              <a:rPr lang="en-US" sz="1100" dirty="0">
                <a:solidFill>
                  <a:srgbClr val="B8FF66"/>
                </a:solidFill>
                <a:latin typeface="Consolas" pitchFamily="34" charset="0"/>
                <a:ea typeface="Consolas" pitchFamily="34" charset="-122"/>
                <a:cs typeface="Consolas" pitchFamily="34" charset="-120"/>
              </a:rPr>
              <a:t>Route › Per-prompt decisions</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100" b="1" spc="200" kern="0" dirty="0">
                <a:solidFill>
                  <a:srgbClr val="B8FF66"/>
                </a:solidFill>
                <a:latin typeface="Consolas" pitchFamily="34" charset="0"/>
                <a:ea typeface="Consolas" pitchFamily="34" charset="-122"/>
                <a:cs typeface="Consolas" pitchFamily="34" charset="-120"/>
              </a:rPr>
              <a:t>HOW ONE DECISION IS MADE</a:t>
            </a:r>
            <a:endParaRPr lang="en-US" sz="1100" dirty="0"/>
          </a:p>
        </p:txBody>
      </p:sp>
      <p:sp>
        <p:nvSpPr>
          <p:cNvPr id="3" name="Title"/>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2F5F3"/>
                </a:solidFill>
                <a:latin typeface="Arial" pitchFamily="34" charset="0"/>
                <a:ea typeface="Arial" pitchFamily="34" charset="-122"/>
                <a:cs typeface="Arial" pitchFamily="34" charset="-120"/>
              </a:rPr>
              <a:t>Hard requirements first, priority second, one model out</a:t>
            </a:r>
            <a:endParaRPr lang="en-US" sz="3200" dirty="0"/>
          </a:p>
        </p:txBody>
      </p:sp>
      <p:sp>
        <p:nvSpPr>
          <p:cNvPr id="4" name="Shape 2"/>
          <p:cNvSpPr/>
          <p:nvPr/>
        </p:nvSpPr>
        <p:spPr>
          <a:xfrm>
            <a:off x="548640" y="1600200"/>
            <a:ext cx="2468880" cy="1417320"/>
          </a:xfrm>
          <a:prstGeom prst="roundRect">
            <a:avLst>
              <a:gd name="adj" fmla="val 5161"/>
            </a:avLst>
          </a:prstGeom>
          <a:solidFill>
            <a:srgbClr val="0E1113"/>
          </a:solidFill>
          <a:ln w="12700">
            <a:solidFill>
              <a:srgbClr val="273036"/>
            </a:solidFill>
            <a:prstDash val="solid"/>
          </a:ln>
        </p:spPr>
      </p:sp>
      <p:sp>
        <p:nvSpPr>
          <p:cNvPr id="5" name="Text 3"/>
          <p:cNvSpPr txBox="1"/>
          <p:nvPr/>
        </p:nvSpPr>
        <p:spPr>
          <a:xfrm>
            <a:off x="749808" y="1755648"/>
            <a:ext cx="548640" cy="274320"/>
          </a:xfrm>
          <a:prstGeom prst="rect">
            <a:avLst/>
          </a:prstGeom>
          <a:noFill/>
          <a:ln/>
        </p:spPr>
        <p:txBody>
          <a:bodyPr wrap="square" lIns="0" tIns="0" rIns="0" bIns="0" rtlCol="0" anchor="t"/>
          <a:lstStyle/>
          <a:p>
            <a:pPr indent="0" marL="0">
              <a:buNone/>
            </a:pPr>
            <a:r>
              <a:rPr lang="en-US" sz="1100" b="1" dirty="0">
                <a:solidFill>
                  <a:srgbClr val="B8FF66"/>
                </a:solidFill>
                <a:latin typeface="Consolas" pitchFamily="34" charset="0"/>
                <a:ea typeface="Consolas" pitchFamily="34" charset="-122"/>
                <a:cs typeface="Consolas" pitchFamily="34" charset="-120"/>
              </a:rPr>
              <a:t>01</a:t>
            </a:r>
            <a:endParaRPr lang="en-US" sz="1100" dirty="0"/>
          </a:p>
        </p:txBody>
      </p:sp>
      <p:sp>
        <p:nvSpPr>
          <p:cNvPr id="6" name="Text 4"/>
          <p:cNvSpPr txBox="1"/>
          <p:nvPr/>
        </p:nvSpPr>
        <p:spPr>
          <a:xfrm>
            <a:off x="749808" y="2029968"/>
            <a:ext cx="2103120" cy="365760"/>
          </a:xfrm>
          <a:prstGeom prst="rect">
            <a:avLst/>
          </a:prstGeom>
          <a:noFill/>
          <a:ln/>
        </p:spPr>
        <p:txBody>
          <a:bodyPr wrap="square" lIns="0" tIns="0" rIns="0" bIns="0" rtlCol="0" anchor="t"/>
          <a:lstStyle/>
          <a:p>
            <a:pPr indent="0" marL="0">
              <a:buNone/>
            </a:pPr>
            <a:r>
              <a:rPr lang="en-US" sz="1800" b="1" dirty="0">
                <a:solidFill>
                  <a:srgbClr val="F2F5F3"/>
                </a:solidFill>
                <a:latin typeface="Arial" pitchFamily="34" charset="0"/>
                <a:ea typeface="Arial" pitchFamily="34" charset="-122"/>
                <a:cs typeface="Arial" pitchFamily="34" charset="-120"/>
              </a:rPr>
              <a:t>Prompt</a:t>
            </a:r>
            <a:endParaRPr lang="en-US" sz="1800" dirty="0"/>
          </a:p>
        </p:txBody>
      </p:sp>
      <p:sp>
        <p:nvSpPr>
          <p:cNvPr id="7" name="Text 5"/>
          <p:cNvSpPr txBox="1"/>
          <p:nvPr/>
        </p:nvSpPr>
        <p:spPr>
          <a:xfrm>
            <a:off x="749808" y="2423160"/>
            <a:ext cx="2103120" cy="548640"/>
          </a:xfrm>
          <a:prstGeom prst="rect">
            <a:avLst/>
          </a:prstGeom>
          <a:noFill/>
          <a:ln/>
        </p:spPr>
        <p:txBody>
          <a:bodyPr wrap="square" lIns="0" tIns="0" rIns="0" bIns="0" rtlCol="0" anchor="t"/>
          <a:lstStyle/>
          <a:p>
            <a:pPr indent="0" marL="0">
              <a:buNone/>
            </a:pPr>
            <a:r>
              <a:rPr lang="en-US" sz="1200" dirty="0">
                <a:solidFill>
                  <a:srgbClr val="9CA7AC"/>
                </a:solidFill>
                <a:latin typeface="Arial" pitchFamily="34" charset="0"/>
                <a:ea typeface="Arial" pitchFamily="34" charset="-122"/>
                <a:cs typeface="Arial" pitchFamily="34" charset="-120"/>
              </a:rPr>
              <a:t>Text plus the priority the user selects</a:t>
            </a:r>
            <a:endParaRPr lang="en-US" sz="1200" dirty="0"/>
          </a:p>
        </p:txBody>
      </p:sp>
      <p:sp>
        <p:nvSpPr>
          <p:cNvPr id="8" name="Shape 6"/>
          <p:cNvSpPr/>
          <p:nvPr/>
        </p:nvSpPr>
        <p:spPr>
          <a:xfrm>
            <a:off x="3063240" y="2308860"/>
            <a:ext cx="301752" cy="0"/>
          </a:xfrm>
          <a:prstGeom prst="line">
            <a:avLst/>
          </a:prstGeom>
          <a:noFill/>
          <a:ln w="19050">
            <a:solidFill>
              <a:srgbClr val="B8FF66"/>
            </a:solidFill>
            <a:prstDash val="solid"/>
            <a:tailEnd type="triangle"/>
          </a:ln>
        </p:spPr>
      </p:sp>
      <p:sp>
        <p:nvSpPr>
          <p:cNvPr id="9" name="Shape 7"/>
          <p:cNvSpPr/>
          <p:nvPr/>
        </p:nvSpPr>
        <p:spPr>
          <a:xfrm>
            <a:off x="3410712" y="1600200"/>
            <a:ext cx="2468880" cy="1417320"/>
          </a:xfrm>
          <a:prstGeom prst="roundRect">
            <a:avLst>
              <a:gd name="adj" fmla="val 5161"/>
            </a:avLst>
          </a:prstGeom>
          <a:solidFill>
            <a:srgbClr val="0E1113"/>
          </a:solidFill>
          <a:ln w="12700">
            <a:solidFill>
              <a:srgbClr val="273036"/>
            </a:solidFill>
            <a:prstDash val="solid"/>
          </a:ln>
        </p:spPr>
      </p:sp>
      <p:sp>
        <p:nvSpPr>
          <p:cNvPr id="10" name="Text 8"/>
          <p:cNvSpPr txBox="1"/>
          <p:nvPr/>
        </p:nvSpPr>
        <p:spPr>
          <a:xfrm>
            <a:off x="3611880" y="1755648"/>
            <a:ext cx="548640" cy="274320"/>
          </a:xfrm>
          <a:prstGeom prst="rect">
            <a:avLst/>
          </a:prstGeom>
          <a:noFill/>
          <a:ln/>
        </p:spPr>
        <p:txBody>
          <a:bodyPr wrap="square" lIns="0" tIns="0" rIns="0" bIns="0" rtlCol="0" anchor="t"/>
          <a:lstStyle/>
          <a:p>
            <a:pPr indent="0" marL="0">
              <a:buNone/>
            </a:pPr>
            <a:r>
              <a:rPr lang="en-US" sz="1100" b="1" dirty="0">
                <a:solidFill>
                  <a:srgbClr val="B8FF66"/>
                </a:solidFill>
                <a:latin typeface="Consolas" pitchFamily="34" charset="0"/>
                <a:ea typeface="Consolas" pitchFamily="34" charset="-122"/>
                <a:cs typeface="Consolas" pitchFamily="34" charset="-120"/>
              </a:rPr>
              <a:t>02</a:t>
            </a:r>
            <a:endParaRPr lang="en-US" sz="1100" dirty="0"/>
          </a:p>
        </p:txBody>
      </p:sp>
      <p:sp>
        <p:nvSpPr>
          <p:cNvPr id="11" name="Text 9"/>
          <p:cNvSpPr txBox="1"/>
          <p:nvPr/>
        </p:nvSpPr>
        <p:spPr>
          <a:xfrm>
            <a:off x="3611880" y="2029968"/>
            <a:ext cx="2103120" cy="365760"/>
          </a:xfrm>
          <a:prstGeom prst="rect">
            <a:avLst/>
          </a:prstGeom>
          <a:noFill/>
          <a:ln/>
        </p:spPr>
        <p:txBody>
          <a:bodyPr wrap="square" lIns="0" tIns="0" rIns="0" bIns="0" rtlCol="0" anchor="t"/>
          <a:lstStyle/>
          <a:p>
            <a:pPr indent="0" marL="0">
              <a:buNone/>
            </a:pPr>
            <a:r>
              <a:rPr lang="en-US" sz="1800" b="1" dirty="0">
                <a:solidFill>
                  <a:srgbClr val="F2F5F3"/>
                </a:solidFill>
                <a:latin typeface="Arial" pitchFamily="34" charset="0"/>
                <a:ea typeface="Arial" pitchFamily="34" charset="-122"/>
                <a:cs typeface="Arial" pitchFamily="34" charset="-120"/>
              </a:rPr>
              <a:t>Hard filter</a:t>
            </a:r>
            <a:endParaRPr lang="en-US" sz="1800" dirty="0"/>
          </a:p>
        </p:txBody>
      </p:sp>
      <p:sp>
        <p:nvSpPr>
          <p:cNvPr id="12" name="Text 10"/>
          <p:cNvSpPr txBox="1"/>
          <p:nvPr/>
        </p:nvSpPr>
        <p:spPr>
          <a:xfrm>
            <a:off x="3611880" y="2423160"/>
            <a:ext cx="2103120" cy="548640"/>
          </a:xfrm>
          <a:prstGeom prst="rect">
            <a:avLst/>
          </a:prstGeom>
          <a:noFill/>
          <a:ln/>
        </p:spPr>
        <p:txBody>
          <a:bodyPr wrap="square" lIns="0" tIns="0" rIns="0" bIns="0" rtlCol="0" anchor="t"/>
          <a:lstStyle/>
          <a:p>
            <a:pPr indent="0" marL="0">
              <a:buNone/>
            </a:pPr>
            <a:r>
              <a:rPr lang="en-US" sz="1200" dirty="0">
                <a:solidFill>
                  <a:srgbClr val="9CA7AC"/>
                </a:solidFill>
                <a:latin typeface="Arial" pitchFamily="34" charset="0"/>
                <a:ea typeface="Arial" pitchFamily="34" charset="-122"/>
                <a:cs typeface="Arial" pitchFamily="34" charset="-120"/>
              </a:rPr>
              <a:t>Remove models below the minimum context length</a:t>
            </a:r>
            <a:endParaRPr lang="en-US" sz="1200" dirty="0"/>
          </a:p>
        </p:txBody>
      </p:sp>
      <p:sp>
        <p:nvSpPr>
          <p:cNvPr id="13" name="Shape 11"/>
          <p:cNvSpPr/>
          <p:nvPr/>
        </p:nvSpPr>
        <p:spPr>
          <a:xfrm>
            <a:off x="5925312" y="2308860"/>
            <a:ext cx="301752" cy="0"/>
          </a:xfrm>
          <a:prstGeom prst="line">
            <a:avLst/>
          </a:prstGeom>
          <a:noFill/>
          <a:ln w="19050">
            <a:solidFill>
              <a:srgbClr val="B8FF66"/>
            </a:solidFill>
            <a:prstDash val="solid"/>
            <a:tailEnd type="triangle"/>
          </a:ln>
        </p:spPr>
      </p:sp>
      <p:sp>
        <p:nvSpPr>
          <p:cNvPr id="14" name="Shape 12"/>
          <p:cNvSpPr/>
          <p:nvPr/>
        </p:nvSpPr>
        <p:spPr>
          <a:xfrm>
            <a:off x="6272784" y="1600200"/>
            <a:ext cx="2468880" cy="1417320"/>
          </a:xfrm>
          <a:prstGeom prst="roundRect">
            <a:avLst>
              <a:gd name="adj" fmla="val 5161"/>
            </a:avLst>
          </a:prstGeom>
          <a:solidFill>
            <a:srgbClr val="0E1113"/>
          </a:solidFill>
          <a:ln w="12700">
            <a:solidFill>
              <a:srgbClr val="273036"/>
            </a:solidFill>
            <a:prstDash val="solid"/>
          </a:ln>
        </p:spPr>
      </p:sp>
      <p:sp>
        <p:nvSpPr>
          <p:cNvPr id="15" name="Text 13"/>
          <p:cNvSpPr txBox="1"/>
          <p:nvPr/>
        </p:nvSpPr>
        <p:spPr>
          <a:xfrm>
            <a:off x="6473952" y="1755648"/>
            <a:ext cx="548640" cy="274320"/>
          </a:xfrm>
          <a:prstGeom prst="rect">
            <a:avLst/>
          </a:prstGeom>
          <a:noFill/>
          <a:ln/>
        </p:spPr>
        <p:txBody>
          <a:bodyPr wrap="square" lIns="0" tIns="0" rIns="0" bIns="0" rtlCol="0" anchor="t"/>
          <a:lstStyle/>
          <a:p>
            <a:pPr indent="0" marL="0">
              <a:buNone/>
            </a:pPr>
            <a:r>
              <a:rPr lang="en-US" sz="1100" b="1" dirty="0">
                <a:solidFill>
                  <a:srgbClr val="B8FF66"/>
                </a:solidFill>
                <a:latin typeface="Consolas" pitchFamily="34" charset="0"/>
                <a:ea typeface="Consolas" pitchFamily="34" charset="-122"/>
                <a:cs typeface="Consolas" pitchFamily="34" charset="-120"/>
              </a:rPr>
              <a:t>03</a:t>
            </a:r>
            <a:endParaRPr lang="en-US" sz="1100" dirty="0"/>
          </a:p>
        </p:txBody>
      </p:sp>
      <p:sp>
        <p:nvSpPr>
          <p:cNvPr id="16" name="Text 14"/>
          <p:cNvSpPr txBox="1"/>
          <p:nvPr/>
        </p:nvSpPr>
        <p:spPr>
          <a:xfrm>
            <a:off x="6473952" y="2029968"/>
            <a:ext cx="2103120" cy="365760"/>
          </a:xfrm>
          <a:prstGeom prst="rect">
            <a:avLst/>
          </a:prstGeom>
          <a:noFill/>
          <a:ln/>
        </p:spPr>
        <p:txBody>
          <a:bodyPr wrap="square" lIns="0" tIns="0" rIns="0" bIns="0" rtlCol="0" anchor="t"/>
          <a:lstStyle/>
          <a:p>
            <a:pPr indent="0" marL="0">
              <a:buNone/>
            </a:pPr>
            <a:r>
              <a:rPr lang="en-US" sz="1800" b="1" dirty="0">
                <a:solidFill>
                  <a:srgbClr val="F2F5F3"/>
                </a:solidFill>
                <a:latin typeface="Arial" pitchFamily="34" charset="0"/>
                <a:ea typeface="Arial" pitchFamily="34" charset="-122"/>
                <a:cs typeface="Arial" pitchFamily="34" charset="-120"/>
              </a:rPr>
              <a:t>Rule policy</a:t>
            </a:r>
            <a:endParaRPr lang="en-US" sz="1800" dirty="0"/>
          </a:p>
        </p:txBody>
      </p:sp>
      <p:sp>
        <p:nvSpPr>
          <p:cNvPr id="17" name="Text 15"/>
          <p:cNvSpPr txBox="1"/>
          <p:nvPr/>
        </p:nvSpPr>
        <p:spPr>
          <a:xfrm>
            <a:off x="6473952" y="2423160"/>
            <a:ext cx="2103120" cy="548640"/>
          </a:xfrm>
          <a:prstGeom prst="rect">
            <a:avLst/>
          </a:prstGeom>
          <a:noFill/>
          <a:ln/>
        </p:spPr>
        <p:txBody>
          <a:bodyPr wrap="square" lIns="0" tIns="0" rIns="0" bIns="0" rtlCol="0" anchor="t"/>
          <a:lstStyle/>
          <a:p>
            <a:pPr indent="0" marL="0">
              <a:buNone/>
            </a:pPr>
            <a:r>
              <a:rPr lang="en-US" sz="1200" dirty="0">
                <a:solidFill>
                  <a:srgbClr val="9CA7AC"/>
                </a:solidFill>
                <a:latin typeface="Arial" pitchFamily="34" charset="0"/>
                <a:ea typeface="Arial" pitchFamily="34" charset="-122"/>
                <a:cs typeface="Arial" pitchFamily="34" charset="-120"/>
              </a:rPr>
              <a:t>Priority plus visible prompt signals</a:t>
            </a:r>
            <a:endParaRPr lang="en-US" sz="1200" dirty="0"/>
          </a:p>
        </p:txBody>
      </p:sp>
      <p:sp>
        <p:nvSpPr>
          <p:cNvPr id="18" name="Shape 16"/>
          <p:cNvSpPr/>
          <p:nvPr/>
        </p:nvSpPr>
        <p:spPr>
          <a:xfrm>
            <a:off x="8787384" y="2308860"/>
            <a:ext cx="301752" cy="0"/>
          </a:xfrm>
          <a:prstGeom prst="line">
            <a:avLst/>
          </a:prstGeom>
          <a:noFill/>
          <a:ln w="19050">
            <a:solidFill>
              <a:srgbClr val="B8FF66"/>
            </a:solidFill>
            <a:prstDash val="solid"/>
            <a:tailEnd type="triangle"/>
          </a:ln>
        </p:spPr>
      </p:sp>
      <p:sp>
        <p:nvSpPr>
          <p:cNvPr id="19" name="Shape 17"/>
          <p:cNvSpPr/>
          <p:nvPr/>
        </p:nvSpPr>
        <p:spPr>
          <a:xfrm>
            <a:off x="9134856" y="1600200"/>
            <a:ext cx="2468880" cy="1417320"/>
          </a:xfrm>
          <a:prstGeom prst="roundRect">
            <a:avLst>
              <a:gd name="adj" fmla="val 5161"/>
            </a:avLst>
          </a:prstGeom>
          <a:solidFill>
            <a:srgbClr val="1A2414"/>
          </a:solidFill>
          <a:ln w="12700">
            <a:solidFill>
              <a:srgbClr val="B8FF66"/>
            </a:solidFill>
            <a:prstDash val="solid"/>
          </a:ln>
        </p:spPr>
      </p:sp>
      <p:sp>
        <p:nvSpPr>
          <p:cNvPr id="20" name="Text 18"/>
          <p:cNvSpPr txBox="1"/>
          <p:nvPr/>
        </p:nvSpPr>
        <p:spPr>
          <a:xfrm>
            <a:off x="9336024" y="1755648"/>
            <a:ext cx="548640" cy="274320"/>
          </a:xfrm>
          <a:prstGeom prst="rect">
            <a:avLst/>
          </a:prstGeom>
          <a:noFill/>
          <a:ln/>
        </p:spPr>
        <p:txBody>
          <a:bodyPr wrap="square" lIns="0" tIns="0" rIns="0" bIns="0" rtlCol="0" anchor="t"/>
          <a:lstStyle/>
          <a:p>
            <a:pPr indent="0" marL="0">
              <a:buNone/>
            </a:pPr>
            <a:r>
              <a:rPr lang="en-US" sz="1100" b="1" dirty="0">
                <a:solidFill>
                  <a:srgbClr val="B8FF66"/>
                </a:solidFill>
                <a:latin typeface="Consolas" pitchFamily="34" charset="0"/>
                <a:ea typeface="Consolas" pitchFamily="34" charset="-122"/>
                <a:cs typeface="Consolas" pitchFamily="34" charset="-120"/>
              </a:rPr>
              <a:t>04</a:t>
            </a:r>
            <a:endParaRPr lang="en-US" sz="1100" dirty="0"/>
          </a:p>
        </p:txBody>
      </p:sp>
      <p:sp>
        <p:nvSpPr>
          <p:cNvPr id="21" name="Text 19"/>
          <p:cNvSpPr txBox="1"/>
          <p:nvPr/>
        </p:nvSpPr>
        <p:spPr>
          <a:xfrm>
            <a:off x="9336024" y="2029968"/>
            <a:ext cx="2103120" cy="365760"/>
          </a:xfrm>
          <a:prstGeom prst="rect">
            <a:avLst/>
          </a:prstGeom>
          <a:noFill/>
          <a:ln/>
        </p:spPr>
        <p:txBody>
          <a:bodyPr wrap="square" lIns="0" tIns="0" rIns="0" bIns="0" rtlCol="0" anchor="t"/>
          <a:lstStyle/>
          <a:p>
            <a:pPr indent="0" marL="0">
              <a:buNone/>
            </a:pPr>
            <a:r>
              <a:rPr lang="en-US" sz="1800" b="1" dirty="0">
                <a:solidFill>
                  <a:srgbClr val="F2F5F3"/>
                </a:solidFill>
                <a:latin typeface="Arial" pitchFamily="34" charset="0"/>
                <a:ea typeface="Arial" pitchFamily="34" charset="-122"/>
                <a:cs typeface="Arial" pitchFamily="34" charset="-120"/>
              </a:rPr>
              <a:t>One model</a:t>
            </a:r>
            <a:endParaRPr lang="en-US" sz="1800" dirty="0"/>
          </a:p>
        </p:txBody>
      </p:sp>
      <p:sp>
        <p:nvSpPr>
          <p:cNvPr id="22" name="Text 20"/>
          <p:cNvSpPr txBox="1"/>
          <p:nvPr/>
        </p:nvSpPr>
        <p:spPr>
          <a:xfrm>
            <a:off x="9336024" y="2423160"/>
            <a:ext cx="2103120" cy="548640"/>
          </a:xfrm>
          <a:prstGeom prst="rect">
            <a:avLst/>
          </a:prstGeom>
          <a:noFill/>
          <a:ln/>
        </p:spPr>
        <p:txBody>
          <a:bodyPr wrap="square" lIns="0" tIns="0" rIns="0" bIns="0" rtlCol="0" anchor="t"/>
          <a:lstStyle/>
          <a:p>
            <a:pPr indent="0" marL="0">
              <a:buNone/>
            </a:pPr>
            <a:r>
              <a:rPr lang="en-US" sz="1200" dirty="0">
                <a:solidFill>
                  <a:srgbClr val="9CA7AC"/>
                </a:solidFill>
                <a:latin typeface="Arial" pitchFamily="34" charset="0"/>
                <a:ea typeface="Arial" pitchFamily="34" charset="-122"/>
                <a:cs typeface="Arial" pitchFamily="34" charset="-120"/>
              </a:rPr>
              <a:t>Exactly one pinned model and a reason. No hidden fallback</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64240" cy="914400"/>
        </p:xfrm>
        <a:graphic>
          <a:graphicData uri="http://schemas.openxmlformats.org/drawingml/2006/table">
            <a:tbl>
              <a:tblPr/>
              <a:tblGrid>
                <a:gridCol w="2194560"/>
                <a:gridCol w="3291840"/>
                <a:gridCol w="5577840"/>
              </a:tblGrid>
              <a:tr h="347472">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PRIORITY</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PAID-POOL CHOICE</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WHY</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r>
              <a:tr h="411480">
                <a:tc>
                  <a:txBody>
                    <a:bodyPr/>
                    <a:lstStyle/>
                    <a:p>
                      <a:pPr indent="0" marL="0">
                        <a:buNone/>
                      </a:pPr>
                      <a:r>
                        <a:rPr lang="en-US" sz="1300" b="1" dirty="0">
                          <a:solidFill>
                            <a:srgbClr val="F2F5F3"/>
                          </a:solidFill>
                          <a:latin typeface="Arial" pitchFamily="34" charset="0"/>
                          <a:ea typeface="Arial" pitchFamily="34" charset="-122"/>
                          <a:cs typeface="Arial" pitchFamily="34" charset="-120"/>
                        </a:rPr>
                        <a:t>Lower cost</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Gemma 4 26B A4B</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9CA7AC"/>
                          </a:solidFill>
                          <a:latin typeface="Arial" pitchFamily="34" charset="0"/>
                          <a:ea typeface="Arial" pitchFamily="34" charset="-122"/>
                          <a:cs typeface="Arial" pitchFamily="34" charset="-120"/>
                        </a:rPr>
                        <a:t>Lowest price: $0.077 in / $0.255 out per million tokens</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r h="411480">
                <a:tc>
                  <a:txBody>
                    <a:bodyPr/>
                    <a:lstStyle/>
                    <a:p>
                      <a:pPr indent="0" marL="0">
                        <a:buNone/>
                      </a:pPr>
                      <a:r>
                        <a:rPr lang="en-US" sz="1300" b="1" dirty="0">
                          <a:solidFill>
                            <a:srgbClr val="F2F5F3"/>
                          </a:solidFill>
                          <a:latin typeface="Arial" pitchFamily="34" charset="0"/>
                          <a:ea typeface="Arial" pitchFamily="34" charset="-122"/>
                          <a:cs typeface="Arial" pitchFamily="34" charset="-120"/>
                        </a:rPr>
                        <a:t>Faster response</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Mercury 3</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9CA7AC"/>
                          </a:solidFill>
                          <a:latin typeface="Arial" pitchFamily="34" charset="0"/>
                          <a:ea typeface="Arial" pitchFamily="34" charset="-122"/>
                          <a:cs typeface="Arial" pitchFamily="34" charset="-120"/>
                        </a:rPr>
                        <a:t>Designated low-latency model</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r h="411480">
                <a:tc>
                  <a:txBody>
                    <a:bodyPr/>
                    <a:lstStyle/>
                    <a:p>
                      <a:pPr indent="0" marL="0">
                        <a:buNone/>
                      </a:pPr>
                      <a:r>
                        <a:rPr lang="en-US" sz="1300" b="1" dirty="0">
                          <a:solidFill>
                            <a:srgbClr val="F2F5F3"/>
                          </a:solidFill>
                          <a:latin typeface="Arial" pitchFamily="34" charset="0"/>
                          <a:ea typeface="Arial" pitchFamily="34" charset="-122"/>
                          <a:cs typeface="Arial" pitchFamily="34" charset="-120"/>
                        </a:rPr>
                        <a:t>Higher quality</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Gemini 4 Argon</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9CA7AC"/>
                          </a:solidFill>
                          <a:latin typeface="Arial" pitchFamily="34" charset="0"/>
                          <a:ea typeface="Arial" pitchFamily="34" charset="-122"/>
                          <a:cs typeface="Arial" pitchFamily="34" charset="-120"/>
                        </a:rPr>
                        <a:t>Highest-capability model: $2 in / $10 out per million tokens</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r h="914400">
                <a:tc>
                  <a:txBody>
                    <a:bodyPr/>
                    <a:lstStyle/>
                    <a:p>
                      <a:pPr indent="0" marL="0">
                        <a:buNone/>
                      </a:pPr>
                      <a:r>
                        <a:rPr lang="en-US" sz="1300" b="1" dirty="0">
                          <a:solidFill>
                            <a:srgbClr val="B8FF66"/>
                          </a:solidFill>
                          <a:latin typeface="Arial" pitchFamily="34" charset="0"/>
                          <a:ea typeface="Arial" pitchFamily="34" charset="-122"/>
                          <a:cs typeface="Arial" pitchFamily="34" charset="-120"/>
                        </a:rPr>
                        <a:t>Balanced</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 signals → Gemma</a:t>
                      </a:r>
                      <a:endParaRPr lang="en-US" sz="1300" dirty="0">
                        <a:latin typeface="Consolas" charset="0"/>
                        <a:ea typeface="Consolas" charset="0"/>
                        <a:cs typeface="Consolas" charset="0"/>
                      </a:endParaRPr>
                    </a:p>
                    <a:p>
                      <a:pPr indent="0" marL="0">
                        <a:buNone/>
                      </a:pPr>
                      <a:r>
                        <a:rPr lang="en-US" sz="1300" dirty="0">
                          <a:solidFill>
                            <a:srgbClr val="F2F5F3"/>
                          </a:solidFill>
                          <a:latin typeface="Consolas" pitchFamily="34" charset="0"/>
                          <a:ea typeface="Consolas" pitchFamily="34" charset="-122"/>
                          <a:cs typeface="Consolas" pitchFamily="34" charset="-120"/>
                        </a:rPr>
                        <a:t>1–2 signals → Mercury</a:t>
                      </a:r>
                      <a:endParaRPr lang="en-US" sz="1300" dirty="0">
                        <a:latin typeface="Consolas" charset="0"/>
                        <a:ea typeface="Consolas" charset="0"/>
                        <a:cs typeface="Consolas" charset="0"/>
                      </a:endParaRPr>
                    </a:p>
                    <a:p>
                      <a:pPr indent="0" marL="0">
                        <a:buNone/>
                      </a:pPr>
                      <a:r>
                        <a:rPr lang="en-US" sz="1300" dirty="0">
                          <a:solidFill>
                            <a:srgbClr val="F2F5F3"/>
                          </a:solidFill>
                          <a:latin typeface="Consolas" pitchFamily="34" charset="0"/>
                          <a:ea typeface="Consolas" pitchFamily="34" charset="-122"/>
                          <a:cs typeface="Consolas" pitchFamily="34" charset="-120"/>
                        </a:rPr>
                        <a:t>3+ signals → Gemini</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9CA7AC"/>
                          </a:solidFill>
                          <a:latin typeface="Arial" pitchFamily="34" charset="0"/>
                          <a:ea typeface="Arial" pitchFamily="34" charset="-122"/>
                          <a:cs typeface="Arial" pitchFamily="34" charset="-120"/>
                        </a:rPr>
                        <a:t>Signals: math, code, long_prompt, many_numbers. Counted, shown, never hidden</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bl>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100" b="1" spc="200" kern="0" dirty="0">
                <a:solidFill>
                  <a:srgbClr val="B8FF66"/>
                </a:solidFill>
                <a:latin typeface="Consolas" pitchFamily="34" charset="0"/>
                <a:ea typeface="Consolas" pitchFamily="34" charset="-122"/>
                <a:cs typeface="Consolas" pitchFamily="34" charset="-120"/>
              </a:rPr>
              <a:t>PRIORITY CONTROLS · SAME PROMPT, DIFFERENT GOAL</a:t>
            </a:r>
            <a:endParaRPr lang="en-US" sz="1100" dirty="0"/>
          </a:p>
        </p:txBody>
      </p:sp>
      <p:sp>
        <p:nvSpPr>
          <p:cNvPr id="3" name="Title"/>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2F5F3"/>
                </a:solidFill>
                <a:latin typeface="Arial" pitchFamily="34" charset="0"/>
                <a:ea typeface="Arial" pitchFamily="34" charset="-122"/>
                <a:cs typeface="Arial" pitchFamily="34" charset="-120"/>
              </a:rPr>
              <a:t>Change one setting, get a different model</a:t>
            </a:r>
            <a:endParaRPr lang="en-US" sz="3200" dirty="0"/>
          </a:p>
        </p:txBody>
      </p:sp>
      <p:sp>
        <p:nvSpPr>
          <p:cNvPr id="4" name="Shape 2"/>
          <p:cNvSpPr/>
          <p:nvPr/>
        </p:nvSpPr>
        <p:spPr>
          <a:xfrm>
            <a:off x="548640" y="1508760"/>
            <a:ext cx="11064240" cy="566928"/>
          </a:xfrm>
          <a:prstGeom prst="roundRect">
            <a:avLst>
              <a:gd name="adj" fmla="val 12903"/>
            </a:avLst>
          </a:prstGeom>
          <a:solidFill>
            <a:srgbClr val="14181B"/>
          </a:solidFill>
          <a:ln w="12700">
            <a:solidFill>
              <a:srgbClr val="273036"/>
            </a:solidFill>
            <a:prstDash val="solid"/>
          </a:ln>
        </p:spPr>
      </p:sp>
      <p:sp>
        <p:nvSpPr>
          <p:cNvPr id="5" name="Text 3"/>
          <p:cNvSpPr txBox="1"/>
          <p:nvPr/>
        </p:nvSpPr>
        <p:spPr>
          <a:xfrm>
            <a:off x="777240" y="1645920"/>
            <a:ext cx="10607040" cy="320040"/>
          </a:xfrm>
          <a:prstGeom prst="rect">
            <a:avLst/>
          </a:prstGeom>
          <a:noFill/>
          <a:ln/>
        </p:spPr>
        <p:txBody>
          <a:bodyPr wrap="square" lIns="0" tIns="0" rIns="0" bIns="0" rtlCol="0" anchor="ctr"/>
          <a:lstStyle/>
          <a:p>
            <a:pPr indent="0" marL="0">
              <a:buNone/>
            </a:pPr>
            <a:r>
              <a:rPr lang="en-US" sz="1100" b="1" dirty="0">
                <a:solidFill>
                  <a:srgbClr val="B8FF66"/>
                </a:solidFill>
                <a:latin typeface="Consolas" pitchFamily="34" charset="0"/>
                <a:ea typeface="Consolas" pitchFamily="34" charset="-122"/>
                <a:cs typeface="Consolas" pitchFamily="34" charset="-120"/>
              </a:rPr>
              <a:t>PROMPT  </a:t>
            </a:r>
            <a:pPr indent="0" marL="0">
              <a:buNone/>
            </a:pPr>
            <a:r>
              <a:rPr lang="en-US" sz="1400" dirty="0">
                <a:solidFill>
                  <a:srgbClr val="F2F5F3"/>
                </a:solidFill>
                <a:latin typeface="Arial" pitchFamily="34" charset="0"/>
                <a:ea typeface="Arial" pitchFamily="34" charset="-122"/>
                <a:cs typeface="Arial" pitchFamily="34" charset="-120"/>
              </a:rPr>
              <a:t>A store sells 3 notebooks for $4.50 each and 2 pens for $1.25 each. Calculate the total cost.</a:t>
            </a:r>
            <a:endParaRPr lang="en-US" sz="1500" dirty="0"/>
          </a:p>
        </p:txBody>
      </p:sp>
      <p:sp>
        <p:nvSpPr>
          <p:cNvPr id="6" name="Text 4"/>
          <p:cNvSpPr txBox="1"/>
          <p:nvPr/>
        </p:nvSpPr>
        <p:spPr>
          <a:xfrm>
            <a:off x="548640" y="2286000"/>
            <a:ext cx="5394960" cy="274320"/>
          </a:xfrm>
          <a:prstGeom prst="rect">
            <a:avLst/>
          </a:prstGeom>
          <a:noFill/>
          <a:ln/>
        </p:spPr>
        <p:txBody>
          <a:bodyPr wrap="square" lIns="0" tIns="0" rIns="0" bIns="0" rtlCol="0" anchor="t"/>
          <a:lstStyle/>
          <a:p>
            <a:pPr indent="0" marL="0">
              <a:buNone/>
            </a:pPr>
            <a:r>
              <a:rPr lang="en-US" sz="1100" b="1" dirty="0">
                <a:solidFill>
                  <a:srgbClr val="9CA7AC"/>
                </a:solidFill>
                <a:latin typeface="Consolas" pitchFamily="34" charset="0"/>
                <a:ea typeface="Consolas" pitchFamily="34" charset="-122"/>
                <a:cs typeface="Consolas" pitchFamily="34" charset="-120"/>
              </a:rPr>
              <a:t>LOWER COST</a:t>
            </a:r>
            <a:endParaRPr lang="en-US" sz="1100" dirty="0"/>
          </a:p>
        </p:txBody>
      </p:sp>
      <p:sp>
        <p:nvSpPr>
          <p:cNvPr id="7" name="Text 5"/>
          <p:cNvSpPr txBox="1"/>
          <p:nvPr/>
        </p:nvSpPr>
        <p:spPr>
          <a:xfrm>
            <a:off x="6217920" y="2286000"/>
            <a:ext cx="5394960" cy="274320"/>
          </a:xfrm>
          <a:prstGeom prst="rect">
            <a:avLst/>
          </a:prstGeom>
          <a:noFill/>
          <a:ln/>
        </p:spPr>
        <p:txBody>
          <a:bodyPr wrap="square" lIns="0" tIns="0" rIns="0" bIns="0" rtlCol="0" anchor="t"/>
          <a:lstStyle/>
          <a:p>
            <a:pPr indent="0" marL="0">
              <a:buNone/>
            </a:pPr>
            <a:r>
              <a:rPr lang="en-US" sz="1100" b="1" dirty="0">
                <a:solidFill>
                  <a:srgbClr val="9CA7AC"/>
                </a:solidFill>
                <a:latin typeface="Consolas" pitchFamily="34" charset="0"/>
                <a:ea typeface="Consolas" pitchFamily="34" charset="-122"/>
                <a:cs typeface="Consolas" pitchFamily="34" charset="-120"/>
              </a:rPr>
              <a:t>HIGHER QUALITY</a:t>
            </a:r>
            <a:endParaRPr lang="en-US" sz="1100" dirty="0"/>
          </a:p>
        </p:txBody>
      </p:sp>
      <p:pic>
        <p:nvPicPr>
          <p:cNvPr id="8" name="Image 0" descr="Router decision preview selecting Gemma 4 26B A4B for lower cost">    </p:cNvPr>
          <p:cNvPicPr>
            <a:picLocks noChangeAspect="1"/>
          </p:cNvPicPr>
          <p:nvPr/>
        </p:nvPicPr>
        <p:blipFill>
          <a:blip r:embed="rId1"/>
          <a:stretch>
            <a:fillRect/>
          </a:stretch>
        </p:blipFill>
        <p:spPr>
          <a:xfrm>
            <a:off x="548640" y="2606040"/>
            <a:ext cx="5394960" cy="2286000"/>
          </a:xfrm>
          <a:prstGeom prst="rect">
            <a:avLst/>
          </a:prstGeom>
        </p:spPr>
      </p:pic>
      <p:pic>
        <p:nvPicPr>
          <p:cNvPr id="9" name="Image 1" descr="Router decision preview selecting Gemini 4 Argon for higher quality">    </p:cNvPr>
          <p:cNvPicPr>
            <a:picLocks noChangeAspect="1"/>
          </p:cNvPicPr>
          <p:nvPr/>
        </p:nvPicPr>
        <p:blipFill>
          <a:blip r:embed="rId2"/>
          <a:stretch>
            <a:fillRect/>
          </a:stretch>
        </p:blipFill>
        <p:spPr>
          <a:xfrm>
            <a:off x="6217920" y="2606040"/>
            <a:ext cx="5394960" cy="2286000"/>
          </a:xfrm>
          <a:prstGeom prst="rect">
            <a:avLst/>
          </a:prstGeom>
        </p:spPr>
      </p:pic>
      <p:sp>
        <p:nvSpPr>
          <p:cNvPr id="10" name="Shape 6"/>
          <p:cNvSpPr/>
          <p:nvPr/>
        </p:nvSpPr>
        <p:spPr>
          <a:xfrm>
            <a:off x="548640" y="5120640"/>
            <a:ext cx="6949440" cy="1051560"/>
          </a:xfrm>
          <a:prstGeom prst="roundRect">
            <a:avLst>
              <a:gd name="adj" fmla="val 6957"/>
            </a:avLst>
          </a:prstGeom>
          <a:solidFill>
            <a:srgbClr val="0E1113"/>
          </a:solidFill>
          <a:ln w="12700">
            <a:solidFill>
              <a:srgbClr val="273036"/>
            </a:solidFill>
            <a:prstDash val="solid"/>
          </a:ln>
        </p:spPr>
      </p:sp>
      <p:sp>
        <p:nvSpPr>
          <p:cNvPr id="11" name="Text 7"/>
          <p:cNvSpPr txBox="1"/>
          <p:nvPr/>
        </p:nvSpPr>
        <p:spPr>
          <a:xfrm>
            <a:off x="777240" y="5257800"/>
            <a:ext cx="6537960" cy="822960"/>
          </a:xfrm>
          <a:prstGeom prst="rect">
            <a:avLst/>
          </a:prstGeom>
          <a:noFill/>
          <a:ln/>
        </p:spPr>
        <p:txBody>
          <a:bodyPr wrap="square" lIns="0" tIns="0" rIns="0" bIns="0" rtlCol="0" anchor="t"/>
          <a:lstStyle/>
          <a:p>
            <a:pPr indent="0" marL="0">
              <a:buNone/>
            </a:pPr>
            <a:r>
              <a:rPr lang="en-US" sz="1350" b="1" dirty="0">
                <a:solidFill>
                  <a:srgbClr val="B8FF66"/>
                </a:solidFill>
                <a:latin typeface="Arial" pitchFamily="34" charset="0"/>
                <a:ea typeface="Arial" pitchFamily="34" charset="-122"/>
                <a:cs typeface="Arial" pitchFamily="34" charset="-120"/>
              </a:rPr>
              <a:t>Hard requirement wins.  </a:t>
            </a:r>
            <a:pPr indent="0" marL="0">
              <a:buNone/>
            </a:pPr>
            <a:r>
              <a:rPr lang="en-US" sz="1350" dirty="0">
                <a:solidFill>
                  <a:srgbClr val="F2F5F3"/>
                </a:solidFill>
                <a:latin typeface="Arial" pitchFamily="34" charset="0"/>
                <a:ea typeface="Arial" pitchFamily="34" charset="-122"/>
                <a:cs typeface="Arial" pitchFamily="34" charset="-120"/>
              </a:rPr>
              <a:t>At a 500,000-token minimum, Gemma (262,144) is removed before the cost preference applies, so the next-cheapest eligible model, Mercury 3, is chosen and the reason says so.</a:t>
            </a:r>
            <a:endParaRPr lang="en-US" sz="1350" dirty="0"/>
          </a:p>
        </p:txBody>
      </p:sp>
      <p:sp>
        <p:nvSpPr>
          <p:cNvPr id="12" name="Shape 8"/>
          <p:cNvSpPr/>
          <p:nvPr/>
        </p:nvSpPr>
        <p:spPr>
          <a:xfrm>
            <a:off x="7772400" y="5120640"/>
            <a:ext cx="3840480" cy="1051560"/>
          </a:xfrm>
          <a:prstGeom prst="roundRect">
            <a:avLst>
              <a:gd name="adj" fmla="val 6957"/>
            </a:avLst>
          </a:prstGeom>
          <a:solidFill>
            <a:srgbClr val="0E1113"/>
          </a:solidFill>
          <a:ln w="12700">
            <a:solidFill>
              <a:srgbClr val="273036"/>
            </a:solidFill>
            <a:prstDash val="solid"/>
          </a:ln>
        </p:spPr>
      </p:sp>
      <p:sp>
        <p:nvSpPr>
          <p:cNvPr id="13" name="Text 9"/>
          <p:cNvSpPr txBox="1"/>
          <p:nvPr/>
        </p:nvSpPr>
        <p:spPr>
          <a:xfrm>
            <a:off x="8001000" y="5230368"/>
            <a:ext cx="1463040" cy="548640"/>
          </a:xfrm>
          <a:prstGeom prst="rect">
            <a:avLst/>
          </a:prstGeom>
          <a:noFill/>
          <a:ln/>
        </p:spPr>
        <p:txBody>
          <a:bodyPr wrap="square" lIns="0" tIns="0" rIns="0" bIns="0" rtlCol="0" anchor="t"/>
          <a:lstStyle/>
          <a:p>
            <a:pPr indent="0" marL="0">
              <a:buNone/>
            </a:pPr>
            <a:r>
              <a:rPr lang="en-US" sz="2800" b="1" dirty="0">
                <a:solidFill>
                  <a:srgbClr val="6CDDA2"/>
                </a:solidFill>
                <a:latin typeface="Arial" pitchFamily="34" charset="0"/>
                <a:ea typeface="Arial" pitchFamily="34" charset="-122"/>
                <a:cs typeface="Arial" pitchFamily="34" charset="-120"/>
              </a:rPr>
              <a:t>12/12</a:t>
            </a:r>
            <a:endParaRPr lang="en-US" sz="2800" dirty="0"/>
          </a:p>
        </p:txBody>
      </p:sp>
      <p:sp>
        <p:nvSpPr>
          <p:cNvPr id="14" name="Text 10"/>
          <p:cNvSpPr txBox="1"/>
          <p:nvPr/>
        </p:nvSpPr>
        <p:spPr>
          <a:xfrm>
            <a:off x="9372600" y="5257800"/>
            <a:ext cx="2103120" cy="822960"/>
          </a:xfrm>
          <a:prstGeom prst="rect">
            <a:avLst/>
          </a:prstGeom>
          <a:noFill/>
          <a:ln/>
        </p:spPr>
        <p:txBody>
          <a:bodyPr wrap="square" lIns="0" tIns="0" rIns="0" bIns="0" rtlCol="0" anchor="t"/>
          <a:lstStyle/>
          <a:p>
            <a:pPr indent="0" marL="0">
              <a:buNone/>
            </a:pPr>
            <a:r>
              <a:rPr lang="en-US" sz="1200" dirty="0">
                <a:solidFill>
                  <a:srgbClr val="9CA7AC"/>
                </a:solidFill>
                <a:latin typeface="Arial" pitchFamily="34" charset="0"/>
                <a:ea typeface="Arial" pitchFamily="34" charset="-122"/>
                <a:cs typeface="Arial" pitchFamily="34" charset="-120"/>
              </a:rPr>
              <a:t>acceptance cases pass (5 free pool, 7 paid pool) with no provider call</a:t>
            </a:r>
            <a:endParaRPr lang="en-US" sz="1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100" b="1" spc="200" kern="0" dirty="0">
                <a:solidFill>
                  <a:srgbClr val="B8FF66"/>
                </a:solidFill>
                <a:latin typeface="Consolas" pitchFamily="34" charset="0"/>
                <a:ea typeface="Consolas" pitchFamily="34" charset="-122"/>
                <a:cs typeface="Consolas" pitchFamily="34" charset="-120"/>
              </a:rPr>
              <a:t>THE BENCHMARK DATA BOTH MATRICES SHARE</a:t>
            </a:r>
            <a:endParaRPr lang="en-US" sz="1100" dirty="0"/>
          </a:p>
        </p:txBody>
      </p:sp>
      <p:sp>
        <p:nvSpPr>
          <p:cNvPr id="3" name="Title"/>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2F5F3"/>
                </a:solidFill>
                <a:latin typeface="Arial" pitchFamily="34" charset="0"/>
                <a:ea typeface="Arial" pitchFamily="34" charset="-122"/>
                <a:cs typeface="Arial" pitchFamily="34" charset="-120"/>
              </a:rPr>
              <a:t>Same 12 GSM8K questions, two model pools</a:t>
            </a:r>
            <a:endParaRPr lang="en-US" sz="3200" dirty="0"/>
          </a:p>
        </p:txBody>
      </p:sp>
      <p:sp>
        <p:nvSpPr>
          <p:cNvPr id="4" name="Shape 2"/>
          <p:cNvSpPr/>
          <p:nvPr/>
        </p:nvSpPr>
        <p:spPr>
          <a:xfrm>
            <a:off x="548640" y="1554480"/>
            <a:ext cx="5257800" cy="4069080"/>
          </a:xfrm>
          <a:prstGeom prst="roundRect">
            <a:avLst>
              <a:gd name="adj" fmla="val 1798"/>
            </a:avLst>
          </a:prstGeom>
          <a:solidFill>
            <a:srgbClr val="0E1113"/>
          </a:solidFill>
          <a:ln w="12700">
            <a:solidFill>
              <a:srgbClr val="273036"/>
            </a:solidFill>
            <a:prstDash val="solid"/>
          </a:ln>
        </p:spPr>
      </p:sp>
      <p:sp>
        <p:nvSpPr>
          <p:cNvPr id="5" name="Text 3"/>
          <p:cNvSpPr txBox="1"/>
          <p:nvPr/>
        </p:nvSpPr>
        <p:spPr>
          <a:xfrm>
            <a:off x="777240" y="1737360"/>
            <a:ext cx="4846320" cy="274320"/>
          </a:xfrm>
          <a:prstGeom prst="rect">
            <a:avLst/>
          </a:prstGeom>
          <a:noFill/>
          <a:ln/>
        </p:spPr>
        <p:txBody>
          <a:bodyPr wrap="square" lIns="0" tIns="0" rIns="0" bIns="0" rtlCol="0" anchor="t"/>
          <a:lstStyle/>
          <a:p>
            <a:pPr indent="0" marL="0">
              <a:buNone/>
            </a:pPr>
            <a:r>
              <a:rPr lang="en-US" sz="1100" b="1" dirty="0">
                <a:solidFill>
                  <a:srgbClr val="9CA7AC"/>
                </a:solidFill>
                <a:latin typeface="Consolas" pitchFamily="34" charset="0"/>
                <a:ea typeface="Consolas" pitchFamily="34" charset="-122"/>
                <a:cs typeface="Consolas" pitchFamily="34" charset="-120"/>
              </a:rPr>
              <a:t>CHECKPOINT 1 · FREE POOL · 24 CELLS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2148840"/>
          <a:ext cx="4800600" cy="914400"/>
        </p:xfrm>
        <a:graphic>
          <a:graphicData uri="http://schemas.openxmlformats.org/drawingml/2006/table">
            <a:tbl>
              <a:tblPr/>
              <a:tblGrid>
                <a:gridCol w="2606040"/>
                <a:gridCol w="1097280"/>
                <a:gridCol w="1097280"/>
              </a:tblGrid>
              <a:tr h="329184">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MODEL</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CORRECT</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SERVED</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r>
              <a:tr h="457200">
                <a:tc>
                  <a:txBody>
                    <a:bodyPr/>
                    <a:lstStyle/>
                    <a:p>
                      <a:pPr indent="0" marL="0">
                        <a:buNone/>
                      </a:pPr>
                      <a:r>
                        <a:rPr lang="en-US" sz="1300" b="1" dirty="0">
                          <a:solidFill>
                            <a:srgbClr val="F2F5F3"/>
                          </a:solidFill>
                          <a:latin typeface="Arial" pitchFamily="34" charset="0"/>
                          <a:ea typeface="Arial" pitchFamily="34" charset="-122"/>
                          <a:cs typeface="Arial" pitchFamily="34" charset="-120"/>
                        </a:rPr>
                        <a:t>Nemotron 3 Ultra (free)</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8/12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12/12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r>
              <a:tr h="457200">
                <a:tc>
                  <a:txBody>
                    <a:bodyPr/>
                    <a:lstStyle/>
                    <a:p>
                      <a:pPr indent="0" marL="0">
                        <a:buNone/>
                      </a:pPr>
                      <a:r>
                        <a:rPr lang="en-US" sz="1300" b="1" dirty="0">
                          <a:solidFill>
                            <a:srgbClr val="F2F5F3"/>
                          </a:solidFill>
                          <a:latin typeface="Arial" pitchFamily="34" charset="0"/>
                          <a:ea typeface="Arial" pitchFamily="34" charset="-122"/>
                          <a:cs typeface="Arial" pitchFamily="34" charset="-120"/>
                        </a:rPr>
                        <a:t>Gemma 4 26B (free)</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3/12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1C75B"/>
                          </a:solidFill>
                          <a:latin typeface="Consolas" pitchFamily="34" charset="0"/>
                          <a:ea typeface="Consolas" pitchFamily="34" charset="-122"/>
                          <a:cs typeface="Consolas" pitchFamily="34" charset="-120"/>
                        </a:rPr>
                        <a:t>3/12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r>
            </a:tbl>
          </a:graphicData>
        </a:graphic>
      </p:graphicFrame>
      <p:sp>
        <p:nvSpPr>
          <p:cNvPr id="7" name="Text 4"/>
          <p:cNvSpPr txBox="1"/>
          <p:nvPr/>
        </p:nvSpPr>
        <p:spPr>
          <a:xfrm>
            <a:off x="777240" y="3703320"/>
            <a:ext cx="4800600" cy="82296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Nine Gemma cells were shared free-tier rate limits, not wrong answers. They stay in the denominator.</a:t>
            </a:r>
            <a:endParaRPr lang="en-US" sz="1300" dirty="0"/>
          </a:p>
        </p:txBody>
      </p:sp>
      <p:sp>
        <p:nvSpPr>
          <p:cNvPr id="8" name="Text 5"/>
          <p:cNvSpPr txBox="1"/>
          <p:nvPr/>
        </p:nvSpPr>
        <p:spPr>
          <a:xfrm>
            <a:off x="777240" y="4892040"/>
            <a:ext cx="4800600" cy="365760"/>
          </a:xfrm>
          <a:prstGeom prst="rect">
            <a:avLst/>
          </a:prstGeom>
          <a:noFill/>
          <a:ln/>
        </p:spPr>
        <p:txBody>
          <a:bodyPr wrap="square" lIns="0" tIns="0" rIns="0" bIns="0" rtlCol="0" anchor="t"/>
          <a:lstStyle/>
          <a:p>
            <a:pPr indent="0" marL="0">
              <a:buNone/>
            </a:pPr>
            <a:r>
              <a:rPr lang="en-US" sz="1100" dirty="0">
                <a:solidFill>
                  <a:srgbClr val="F1C75B"/>
                </a:solidFill>
                <a:latin typeface="Consolas" pitchFamily="34" charset="0"/>
                <a:ea typeface="Consolas" pitchFamily="34" charset="-122"/>
                <a:cs typeface="Consolas" pitchFamily="34" charset="-120"/>
              </a:rPr>
              <a:t>Cost: $0 · availability dominated the result</a:t>
            </a:r>
            <a:endParaRPr lang="en-US" sz="1100" dirty="0"/>
          </a:p>
        </p:txBody>
      </p:sp>
      <p:sp>
        <p:nvSpPr>
          <p:cNvPr id="9" name="Shape 6"/>
          <p:cNvSpPr/>
          <p:nvPr/>
        </p:nvSpPr>
        <p:spPr>
          <a:xfrm>
            <a:off x="6355080" y="1554480"/>
            <a:ext cx="5257800" cy="4069080"/>
          </a:xfrm>
          <a:prstGeom prst="roundRect">
            <a:avLst>
              <a:gd name="adj" fmla="val 1798"/>
            </a:avLst>
          </a:prstGeom>
          <a:solidFill>
            <a:srgbClr val="0E1113"/>
          </a:solidFill>
          <a:ln w="12700">
            <a:solidFill>
              <a:srgbClr val="B8FF66"/>
            </a:solidFill>
            <a:prstDash val="solid"/>
          </a:ln>
        </p:spPr>
      </p:sp>
      <p:sp>
        <p:nvSpPr>
          <p:cNvPr id="10" name="Text 7"/>
          <p:cNvSpPr txBox="1"/>
          <p:nvPr/>
        </p:nvSpPr>
        <p:spPr>
          <a:xfrm>
            <a:off x="6583680" y="1737360"/>
            <a:ext cx="4846320" cy="274320"/>
          </a:xfrm>
          <a:prstGeom prst="rect">
            <a:avLst/>
          </a:prstGeom>
          <a:noFill/>
          <a:ln/>
        </p:spPr>
        <p:txBody>
          <a:bodyPr wrap="square" lIns="0" tIns="0" rIns="0" bIns="0" rtlCol="0" anchor="t"/>
          <a:lstStyle/>
          <a:p>
            <a:pPr indent="0" marL="0">
              <a:buNone/>
            </a:pPr>
            <a:r>
              <a:rPr lang="en-US" sz="1100" b="1" dirty="0">
                <a:solidFill>
                  <a:srgbClr val="B8FF66"/>
                </a:solidFill>
                <a:latin typeface="Consolas" pitchFamily="34" charset="0"/>
                <a:ea typeface="Consolas" pitchFamily="34" charset="-122"/>
                <a:cs typeface="Consolas" pitchFamily="34" charset="-120"/>
              </a:rPr>
              <a:t>CHECKPOINT 2 · PAID POOL · 36 CELLS</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583680" y="2148840"/>
          <a:ext cx="4800600" cy="914400"/>
        </p:xfrm>
        <a:graphic>
          <a:graphicData uri="http://schemas.openxmlformats.org/drawingml/2006/table">
            <a:tbl>
              <a:tblPr/>
              <a:tblGrid>
                <a:gridCol w="1691640"/>
                <a:gridCol w="960120"/>
                <a:gridCol w="1143000"/>
                <a:gridCol w="1005840"/>
              </a:tblGrid>
              <a:tr h="329184">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MODEL</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CORRECT</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MEDIAN</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COST</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r>
              <a:tr h="457200">
                <a:tc>
                  <a:txBody>
                    <a:bodyPr/>
                    <a:lstStyle/>
                    <a:p>
                      <a:pPr indent="0" marL="0">
                        <a:buNone/>
                      </a:pPr>
                      <a:r>
                        <a:rPr lang="en-US" sz="1300" b="1" dirty="0">
                          <a:solidFill>
                            <a:srgbClr val="F2F5F3"/>
                          </a:solidFill>
                          <a:latin typeface="Arial" pitchFamily="34" charset="0"/>
                          <a:ea typeface="Arial" pitchFamily="34" charset="-122"/>
                          <a:cs typeface="Arial" pitchFamily="34" charset="-120"/>
                        </a:rPr>
                        <a:t>Gemini 4 Argon</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6CDDA2"/>
                          </a:solidFill>
                          <a:latin typeface="Consolas" pitchFamily="34" charset="0"/>
                          <a:ea typeface="Consolas" pitchFamily="34" charset="-122"/>
                          <a:cs typeface="Consolas" pitchFamily="34" charset="-120"/>
                        </a:rPr>
                        <a:t>12/12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4,992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$0.0209</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r>
              <a:tr h="457200">
                <a:tc>
                  <a:txBody>
                    <a:bodyPr/>
                    <a:lstStyle/>
                    <a:p>
                      <a:pPr indent="0" marL="0">
                        <a:buNone/>
                      </a:pPr>
                      <a:r>
                        <a:rPr lang="en-US" sz="1300" b="1" dirty="0">
                          <a:solidFill>
                            <a:srgbClr val="F2F5F3"/>
                          </a:solidFill>
                          <a:latin typeface="Arial" pitchFamily="34" charset="0"/>
                          <a:ea typeface="Arial" pitchFamily="34" charset="-122"/>
                          <a:cs typeface="Arial" pitchFamily="34" charset="-120"/>
                        </a:rPr>
                        <a:t>Gemma 4 26B</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11/12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2,941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$0.0010</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r>
              <a:tr h="457200">
                <a:tc>
                  <a:txBody>
                    <a:bodyPr/>
                    <a:lstStyle/>
                    <a:p>
                      <a:pPr indent="0" marL="0">
                        <a:buNone/>
                      </a:pPr>
                      <a:r>
                        <a:rPr lang="en-US" sz="1300" b="1" dirty="0">
                          <a:solidFill>
                            <a:srgbClr val="F2F5F3"/>
                          </a:solidFill>
                          <a:latin typeface="Arial" pitchFamily="34" charset="0"/>
                          <a:ea typeface="Arial" pitchFamily="34" charset="-122"/>
                          <a:cs typeface="Arial" pitchFamily="34" charset="-120"/>
                        </a:rPr>
                        <a:t>Mercury 3</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10/12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579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$0.0009</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80A0B"/>
                    </a:solidFill>
                  </a:tcPr>
                </a:tc>
              </a:tr>
            </a:tbl>
          </a:graphicData>
        </a:graphic>
      </p:graphicFrame>
      <p:sp>
        <p:nvSpPr>
          <p:cNvPr id="12" name="Text 8"/>
          <p:cNvSpPr txBox="1"/>
          <p:nvPr/>
        </p:nvSpPr>
        <p:spPr>
          <a:xfrm>
            <a:off x="6583680" y="4160520"/>
            <a:ext cx="4800600" cy="73152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Mercury’s two misses were empty provider responses, recorded as failures rather than dropped.</a:t>
            </a:r>
            <a:endParaRPr lang="en-US" sz="1300" dirty="0"/>
          </a:p>
        </p:txBody>
      </p:sp>
      <p:sp>
        <p:nvSpPr>
          <p:cNvPr id="13" name="Text 9"/>
          <p:cNvSpPr txBox="1"/>
          <p:nvPr/>
        </p:nvSpPr>
        <p:spPr>
          <a:xfrm>
            <a:off x="6583680" y="4892040"/>
            <a:ext cx="4800600" cy="365760"/>
          </a:xfrm>
          <a:prstGeom prst="rect">
            <a:avLst/>
          </a:prstGeom>
          <a:noFill/>
          <a:ln/>
        </p:spPr>
        <p:txBody>
          <a:bodyPr wrap="square" lIns="0" tIns="0" rIns="0" bIns="0" rtlCol="0" anchor="t"/>
          <a:lstStyle/>
          <a:p>
            <a:pPr indent="0" marL="0">
              <a:buNone/>
            </a:pPr>
            <a:r>
              <a:rPr lang="en-US" sz="1100" dirty="0">
                <a:solidFill>
                  <a:srgbClr val="B8FF66"/>
                </a:solidFill>
                <a:latin typeface="Consolas" pitchFamily="34" charset="0"/>
                <a:ea typeface="Consolas" pitchFamily="34" charset="-122"/>
                <a:cs typeface="Consolas" pitchFamily="34" charset="-120"/>
              </a:rPr>
              <a:t>Whole paid run: $0.023 against a $1 cap</a:t>
            </a:r>
            <a:endParaRPr lang="en-US" sz="1100" dirty="0"/>
          </a:p>
        </p:txBody>
      </p:sp>
      <p:sp>
        <p:nvSpPr>
          <p:cNvPr id="14" name="Text 10"/>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250" dirty="0">
                <a:solidFill>
                  <a:srgbClr val="6F7A80"/>
                </a:solidFill>
                <a:latin typeface="Arial" pitchFamily="34" charset="0"/>
                <a:ea typeface="Arial" pitchFamily="34" charset="-122"/>
                <a:cs typeface="Arial" pitchFamily="34" charset="-120"/>
              </a:rPr>
              <a:t>Fixed protocol for both: GSM8K test split, seed 498, identical prompt template, temperature 0, 512 max tokens, exact numeric scoring, no LLM judge.</a:t>
            </a:r>
            <a:endParaRPr lang="en-US" sz="12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100" b="1" spc="200" kern="0" dirty="0">
                <a:solidFill>
                  <a:srgbClr val="B8FF66"/>
                </a:solidFill>
                <a:latin typeface="Consolas" pitchFamily="34" charset="0"/>
                <a:ea typeface="Consolas" pitchFamily="34" charset="-122"/>
                <a:cs typeface="Consolas" pitchFamily="34" charset="-120"/>
              </a:rPr>
              <a:t>RESULTS DASHBOARD · PAID-POOL REPLAY</a:t>
            </a:r>
            <a:endParaRPr lang="en-US" sz="1100" dirty="0"/>
          </a:p>
        </p:txBody>
      </p:sp>
      <p:sp>
        <p:nvSpPr>
          <p:cNvPr id="3" name="Title"/>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2F5F3"/>
                </a:solidFill>
                <a:latin typeface="Arial" pitchFamily="34" charset="0"/>
                <a:ea typeface="Arial" pitchFamily="34" charset="-122"/>
                <a:cs typeface="Arial" pitchFamily="34" charset="-120"/>
              </a:rPr>
              <a:t>Six strategies on the same 36 saved cells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743200"/>
                <a:gridCol w="2331720"/>
                <a:gridCol w="960120"/>
                <a:gridCol w="1143000"/>
                <a:gridCol w="1234440"/>
                <a:gridCol w="1280160"/>
                <a:gridCol w="1371600"/>
              </a:tblGrid>
              <a:tr h="365760">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STRATEGY</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MODELS SELECTED</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CORRECT</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MEDIAN</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P95</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TOTAL COST</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c>
                  <a:txBody>
                    <a:bodyPr/>
                    <a:lstStyle/>
                    <a:p>
                      <a:pPr indent="0" marL="0">
                        <a:buNone/>
                      </a:pPr>
                      <a:r>
                        <a:rPr lang="en-US" sz="1050" b="1" dirty="0">
                          <a:solidFill>
                            <a:srgbClr val="9CA7AC"/>
                          </a:solidFill>
                          <a:latin typeface="Consolas" pitchFamily="34" charset="0"/>
                          <a:ea typeface="Consolas" pitchFamily="34" charset="-122"/>
                          <a:cs typeface="Consolas" pitchFamily="34" charset="-120"/>
                        </a:rPr>
                        <a:t>COST / CORRECT</a:t>
                      </a:r>
                      <a:endParaRPr lang="en-US" sz="105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4181B"/>
                    </a:solidFill>
                  </a:tcPr>
                </a:tc>
              </a:tr>
              <a:tr h="502920">
                <a:tc>
                  <a:txBody>
                    <a:bodyPr/>
                    <a:lstStyle/>
                    <a:p>
                      <a:pPr indent="0" marL="0">
                        <a:buNone/>
                      </a:pPr>
                      <a:r>
                        <a:rPr lang="en-US" sz="1300" b="1" dirty="0">
                          <a:solidFill>
                            <a:srgbClr val="F2F5F3"/>
                          </a:solidFill>
                          <a:latin typeface="Arial" pitchFamily="34" charset="0"/>
                          <a:ea typeface="Arial" pitchFamily="34" charset="-122"/>
                          <a:cs typeface="Arial" pitchFamily="34" charset="-120"/>
                        </a:rPr>
                        <a:t>Fixed: lowest-cost model</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Gemma × 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11/12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2,941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17,992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$0.00104</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$0.000094</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r h="502920">
                <a:tc>
                  <a:txBody>
                    <a:bodyPr/>
                    <a:lstStyle/>
                    <a:p>
                      <a:pPr indent="0" marL="0">
                        <a:buNone/>
                      </a:pPr>
                      <a:r>
                        <a:rPr lang="en-US" sz="1300" b="1" dirty="0">
                          <a:solidFill>
                            <a:srgbClr val="F2F5F3"/>
                          </a:solidFill>
                          <a:latin typeface="Arial" pitchFamily="34" charset="0"/>
                          <a:ea typeface="Arial" pitchFamily="34" charset="-122"/>
                          <a:cs typeface="Arial" pitchFamily="34" charset="-120"/>
                        </a:rPr>
                        <a:t>Fixed: higher-capability model</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Gemini × 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12/12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4,992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8,772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$0.02089</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$0.00174</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r h="502920">
                <a:tc>
                  <a:txBody>
                    <a:bodyPr/>
                    <a:lstStyle/>
                    <a:p>
                      <a:pPr indent="0" marL="0">
                        <a:buNone/>
                      </a:pPr>
                      <a:r>
                        <a:rPr lang="en-US" sz="1300" b="1" dirty="0">
                          <a:solidFill>
                            <a:srgbClr val="F2F5F3"/>
                          </a:solidFill>
                          <a:latin typeface="Arial" pitchFamily="34" charset="0"/>
                          <a:ea typeface="Arial" pitchFamily="34" charset="-122"/>
                          <a:cs typeface="Arial" pitchFamily="34" charset="-120"/>
                        </a:rPr>
                        <a:t>Rule: cost priority</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Gemma × 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11/12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2,941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17,992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$0.00104</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$0.000094</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r h="502920">
                <a:tc>
                  <a:txBody>
                    <a:bodyPr/>
                    <a:lstStyle/>
                    <a:p>
                      <a:pPr indent="0" marL="0">
                        <a:buNone/>
                      </a:pPr>
                      <a:r>
                        <a:rPr lang="en-US" sz="1300" b="1" dirty="0">
                          <a:solidFill>
                            <a:srgbClr val="F2F5F3"/>
                          </a:solidFill>
                          <a:latin typeface="Arial" pitchFamily="34" charset="0"/>
                          <a:ea typeface="Arial" pitchFamily="34" charset="-122"/>
                          <a:cs typeface="Arial" pitchFamily="34" charset="-120"/>
                        </a:rPr>
                        <a:t>Rule: quality priority</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Gemini × 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12/12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4,992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8,772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$0.02089</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$0.00174</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r h="502920">
                <a:tc>
                  <a:txBody>
                    <a:bodyPr/>
                    <a:lstStyle/>
                    <a:p>
                      <a:pPr indent="0" marL="0">
                        <a:buNone/>
                      </a:pPr>
                      <a:r>
                        <a:rPr lang="en-US" sz="1300" b="1" dirty="0">
                          <a:solidFill>
                            <a:srgbClr val="F2F5F3"/>
                          </a:solidFill>
                          <a:latin typeface="Arial" pitchFamily="34" charset="0"/>
                          <a:ea typeface="Arial" pitchFamily="34" charset="-122"/>
                          <a:cs typeface="Arial" pitchFamily="34" charset="-120"/>
                        </a:rPr>
                        <a:t>Rule: latency priority</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Mercury × 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10/12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579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1,098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$0.00090</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c>
                  <a:txBody>
                    <a:bodyPr/>
                    <a:lstStyle/>
                    <a:p>
                      <a:pPr indent="0" marL="0">
                        <a:buNone/>
                      </a:pPr>
                      <a:r>
                        <a:rPr lang="en-US" sz="1300" dirty="0">
                          <a:solidFill>
                            <a:srgbClr val="F2F5F3"/>
                          </a:solidFill>
                          <a:latin typeface="Consolas" pitchFamily="34" charset="0"/>
                          <a:ea typeface="Consolas" pitchFamily="34" charset="-122"/>
                          <a:cs typeface="Consolas" pitchFamily="34" charset="-120"/>
                        </a:rPr>
                        <a:t>$0.000090</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0E1113"/>
                    </a:solidFill>
                  </a:tcPr>
                </a:tc>
              </a:tr>
              <a:tr h="502920">
                <a:tc>
                  <a:txBody>
                    <a:bodyPr/>
                    <a:lstStyle/>
                    <a:p>
                      <a:pPr indent="0" marL="0">
                        <a:buNone/>
                      </a:pPr>
                      <a:r>
                        <a:rPr lang="en-US" sz="1300" b="1" dirty="0">
                          <a:solidFill>
                            <a:srgbClr val="B8FF66"/>
                          </a:solidFill>
                          <a:latin typeface="Arial" pitchFamily="34" charset="0"/>
                          <a:ea typeface="Arial" pitchFamily="34" charset="-122"/>
                          <a:cs typeface="Arial" pitchFamily="34" charset="-120"/>
                        </a:rPr>
                        <a:t>Rule: balanced priority</a:t>
                      </a:r>
                      <a:endParaRPr lang="en-US" sz="1300" dirty="0">
                        <a:latin typeface="Arial" charset="0"/>
                        <a:ea typeface="Arial" charset="0"/>
                        <a:cs typeface="Arial"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A2414"/>
                    </a:solidFill>
                  </a:tcPr>
                </a:tc>
                <a:tc>
                  <a:txBody>
                    <a:bodyPr/>
                    <a:lstStyle/>
                    <a:p>
                      <a:pPr indent="0" marL="0">
                        <a:buNone/>
                      </a:pPr>
                      <a:r>
                        <a:rPr lang="en-US" sz="1300" b="1" dirty="0">
                          <a:solidFill>
                            <a:srgbClr val="B8FF66"/>
                          </a:solidFill>
                          <a:latin typeface="Consolas" pitchFamily="34" charset="0"/>
                          <a:ea typeface="Consolas" pitchFamily="34" charset="-122"/>
                          <a:cs typeface="Consolas" pitchFamily="34" charset="-120"/>
                        </a:rPr>
                        <a:t>Mercury × 7, Gemini × 5</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A2414"/>
                    </a:solidFill>
                  </a:tcPr>
                </a:tc>
                <a:tc>
                  <a:txBody>
                    <a:bodyPr/>
                    <a:lstStyle/>
                    <a:p>
                      <a:pPr indent="0" marL="0">
                        <a:buNone/>
                      </a:pPr>
                      <a:r>
                        <a:rPr lang="en-US" sz="1300" b="1" dirty="0">
                          <a:solidFill>
                            <a:srgbClr val="B8FF66"/>
                          </a:solidFill>
                          <a:latin typeface="Consolas" pitchFamily="34" charset="0"/>
                          <a:ea typeface="Consolas" pitchFamily="34" charset="-122"/>
                          <a:cs typeface="Consolas" pitchFamily="34" charset="-120"/>
                        </a:rPr>
                        <a:t>12/12</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A2414"/>
                    </a:solidFill>
                  </a:tcPr>
                </a:tc>
                <a:tc>
                  <a:txBody>
                    <a:bodyPr/>
                    <a:lstStyle/>
                    <a:p>
                      <a:pPr indent="0" marL="0">
                        <a:buNone/>
                      </a:pPr>
                      <a:r>
                        <a:rPr lang="en-US" sz="1300" b="1" dirty="0">
                          <a:solidFill>
                            <a:srgbClr val="B8FF66"/>
                          </a:solidFill>
                          <a:latin typeface="Consolas" pitchFamily="34" charset="0"/>
                          <a:ea typeface="Consolas" pitchFamily="34" charset="-122"/>
                          <a:cs typeface="Consolas" pitchFamily="34" charset="-120"/>
                        </a:rPr>
                        <a:t>823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A2414"/>
                    </a:solidFill>
                  </a:tcPr>
                </a:tc>
                <a:tc>
                  <a:txBody>
                    <a:bodyPr/>
                    <a:lstStyle/>
                    <a:p>
                      <a:pPr indent="0" marL="0">
                        <a:buNone/>
                      </a:pPr>
                      <a:r>
                        <a:rPr lang="en-US" sz="1300" b="1" dirty="0">
                          <a:solidFill>
                            <a:srgbClr val="B8FF66"/>
                          </a:solidFill>
                          <a:latin typeface="Consolas" pitchFamily="34" charset="0"/>
                          <a:ea typeface="Consolas" pitchFamily="34" charset="-122"/>
                          <a:cs typeface="Consolas" pitchFamily="34" charset="-120"/>
                        </a:rPr>
                        <a:t>8,772 ms</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A2414"/>
                    </a:solidFill>
                  </a:tcPr>
                </a:tc>
                <a:tc>
                  <a:txBody>
                    <a:bodyPr/>
                    <a:lstStyle/>
                    <a:p>
                      <a:pPr indent="0" marL="0">
                        <a:buNone/>
                      </a:pPr>
                      <a:r>
                        <a:rPr lang="en-US" sz="1300" b="1" dirty="0">
                          <a:solidFill>
                            <a:srgbClr val="B8FF66"/>
                          </a:solidFill>
                          <a:latin typeface="Consolas" pitchFamily="34" charset="0"/>
                          <a:ea typeface="Consolas" pitchFamily="34" charset="-122"/>
                          <a:cs typeface="Consolas" pitchFamily="34" charset="-120"/>
                        </a:rPr>
                        <a:t>$0.01156</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A2414"/>
                    </a:solidFill>
                  </a:tcPr>
                </a:tc>
                <a:tc>
                  <a:txBody>
                    <a:bodyPr/>
                    <a:lstStyle/>
                    <a:p>
                      <a:pPr indent="0" marL="0">
                        <a:buNone/>
                      </a:pPr>
                      <a:r>
                        <a:rPr lang="en-US" sz="1300" b="1" dirty="0">
                          <a:solidFill>
                            <a:srgbClr val="B8FF66"/>
                          </a:solidFill>
                          <a:latin typeface="Consolas" pitchFamily="34" charset="0"/>
                          <a:ea typeface="Consolas" pitchFamily="34" charset="-122"/>
                          <a:cs typeface="Consolas" pitchFamily="34" charset="-120"/>
                        </a:rPr>
                        <a:t>$0.00096</a:t>
                      </a:r>
                      <a:endParaRPr lang="en-US" sz="1300" dirty="0">
                        <a:latin typeface="Consolas" charset="0"/>
                        <a:ea typeface="Consolas" charset="0"/>
                        <a:cs typeface="Consolas" charset="0"/>
                      </a:endParaRPr>
                    </a:p>
                  </a:txBody>
                  <a:tcPr marL="91440" marR="91440" marT="54864" marB="54864" anchor="ctr">
                    <a:lnL w="9525" cap="flat" cmpd="sng" algn="ctr">
                      <a:solidFill>
                        <a:srgbClr val="273036"/>
                      </a:solidFill>
                      <a:prstDash val="solid"/>
                      <a:round/>
                      <a:headEnd type="none" w="med" len="med"/>
                      <a:tailEnd type="none" w="med" len="med"/>
                    </a:lnL>
                    <a:lnR w="9525" cap="flat" cmpd="sng" algn="ctr">
                      <a:solidFill>
                        <a:srgbClr val="273036"/>
                      </a:solidFill>
                      <a:prstDash val="solid"/>
                      <a:round/>
                      <a:headEnd type="none" w="med" len="med"/>
                      <a:tailEnd type="none" w="med" len="med"/>
                    </a:lnR>
                    <a:lnT w="9525" cap="flat" cmpd="sng" algn="ctr">
                      <a:solidFill>
                        <a:srgbClr val="273036"/>
                      </a:solidFill>
                      <a:prstDash val="solid"/>
                      <a:round/>
                      <a:headEnd type="none" w="med" len="med"/>
                      <a:tailEnd type="none" w="med" len="med"/>
                    </a:lnT>
                    <a:lnB w="9525" cap="flat" cmpd="sng" algn="ctr">
                      <a:solidFill>
                        <a:srgbClr val="273036"/>
                      </a:solidFill>
                      <a:prstDash val="solid"/>
                      <a:round/>
                      <a:headEnd type="none" w="med" len="med"/>
                      <a:tailEnd type="none" w="med" len="med"/>
                    </a:lnB>
                    <a:solidFill>
                      <a:srgbClr val="1A2414"/>
                    </a:solidFill>
                  </a:tcPr>
                </a:tc>
              </a:tr>
            </a:tbl>
          </a:graphicData>
        </a:graphic>
      </p:graphicFrame>
      <p:sp>
        <p:nvSpPr>
          <p:cNvPr id="5" name="Text 2"/>
          <p:cNvSpPr txBox="1"/>
          <p:nvPr/>
        </p:nvSpPr>
        <p:spPr>
          <a:xfrm>
            <a:off x="548640" y="5166360"/>
            <a:ext cx="11064240" cy="82296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Offline replay: each strategy picks one saved result per prompt, so no new provider calls are made. Failed calls stay in the denominator. p95 uses the nearest-rank method (with 12 prompts, the slowest served call). The live dashboard also lists the chosen model and the reason for every prompt.</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100" b="1" spc="200" kern="0" dirty="0">
                <a:solidFill>
                  <a:srgbClr val="B8FF66"/>
                </a:solidFill>
                <a:latin typeface="Consolas" pitchFamily="34" charset="0"/>
                <a:ea typeface="Consolas" pitchFamily="34" charset="-122"/>
                <a:cs typeface="Consolas" pitchFamily="34" charset="-120"/>
              </a:rPr>
              <a:t>WHAT THE COMPARISON SHOWS</a:t>
            </a:r>
            <a:endParaRPr lang="en-US" sz="1100" dirty="0"/>
          </a:p>
        </p:txBody>
      </p:sp>
      <p:sp>
        <p:nvSpPr>
          <p:cNvPr id="3" name="Title"/>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2F5F3"/>
                </a:solidFill>
                <a:latin typeface="Arial" pitchFamily="34" charset="0"/>
                <a:ea typeface="Arial" pitchFamily="34" charset="-122"/>
                <a:cs typeface="Arial" pitchFamily="34" charset="-120"/>
              </a:rPr>
              <a:t>Balanced routing matched the strongest model for less</a:t>
            </a:r>
            <a:endParaRPr lang="en-US" sz="3200" dirty="0"/>
          </a:p>
        </p:txBody>
      </p:sp>
      <p:sp>
        <p:nvSpPr>
          <p:cNvPr id="4" name="Shape 2"/>
          <p:cNvSpPr/>
          <p:nvPr/>
        </p:nvSpPr>
        <p:spPr>
          <a:xfrm>
            <a:off x="548640" y="1600200"/>
            <a:ext cx="3520440" cy="2011680"/>
          </a:xfrm>
          <a:prstGeom prst="roundRect">
            <a:avLst>
              <a:gd name="adj" fmla="val 3636"/>
            </a:avLst>
          </a:prstGeom>
          <a:solidFill>
            <a:srgbClr val="0E1113"/>
          </a:solidFill>
          <a:ln w="12700">
            <a:solidFill>
              <a:srgbClr val="273036"/>
            </a:solidFill>
            <a:prstDash val="solid"/>
          </a:ln>
        </p:spPr>
      </p:sp>
      <p:sp>
        <p:nvSpPr>
          <p:cNvPr id="5" name="Text 3"/>
          <p:cNvSpPr txBox="1"/>
          <p:nvPr/>
        </p:nvSpPr>
        <p:spPr>
          <a:xfrm>
            <a:off x="822960" y="1783080"/>
            <a:ext cx="3017520" cy="914400"/>
          </a:xfrm>
          <a:prstGeom prst="rect">
            <a:avLst/>
          </a:prstGeom>
          <a:noFill/>
          <a:ln/>
        </p:spPr>
        <p:txBody>
          <a:bodyPr wrap="square" lIns="0" tIns="0" rIns="0" bIns="0" rtlCol="0" anchor="t"/>
          <a:lstStyle/>
          <a:p>
            <a:pPr indent="0" marL="0">
              <a:buNone/>
            </a:pPr>
            <a:r>
              <a:rPr lang="en-US" sz="5400" b="1" dirty="0">
                <a:solidFill>
                  <a:srgbClr val="6CDDA2"/>
                </a:solidFill>
                <a:latin typeface="Arial" pitchFamily="34" charset="0"/>
                <a:ea typeface="Arial" pitchFamily="34" charset="-122"/>
                <a:cs typeface="Arial" pitchFamily="34" charset="-120"/>
              </a:rPr>
              <a:t>12/12</a:t>
            </a:r>
            <a:endParaRPr lang="en-US" sz="5400" dirty="0"/>
          </a:p>
        </p:txBody>
      </p:sp>
      <p:sp>
        <p:nvSpPr>
          <p:cNvPr id="6" name="Text 4"/>
          <p:cNvSpPr txBox="1"/>
          <p:nvPr/>
        </p:nvSpPr>
        <p:spPr>
          <a:xfrm>
            <a:off x="822960" y="2743200"/>
            <a:ext cx="3017520" cy="731520"/>
          </a:xfrm>
          <a:prstGeom prst="rect">
            <a:avLst/>
          </a:prstGeom>
          <a:noFill/>
          <a:ln/>
        </p:spPr>
        <p:txBody>
          <a:bodyPr wrap="square" lIns="0" tIns="0" rIns="0" bIns="0" rtlCol="0" anchor="t"/>
          <a:lstStyle/>
          <a:p>
            <a:pPr indent="0" marL="0">
              <a:buNone/>
            </a:pPr>
            <a:r>
              <a:rPr lang="en-US" sz="1400" dirty="0">
                <a:solidFill>
                  <a:srgbClr val="9CA7AC"/>
                </a:solidFill>
                <a:latin typeface="Arial" pitchFamily="34" charset="0"/>
                <a:ea typeface="Arial" pitchFamily="34" charset="-122"/>
                <a:cs typeface="Arial" pitchFamily="34" charset="-120"/>
              </a:rPr>
              <a:t>correct, the same as always using Gemini Argon</a:t>
            </a:r>
            <a:endParaRPr lang="en-US" sz="1400" dirty="0"/>
          </a:p>
        </p:txBody>
      </p:sp>
      <p:sp>
        <p:nvSpPr>
          <p:cNvPr id="7" name="Shape 5"/>
          <p:cNvSpPr/>
          <p:nvPr/>
        </p:nvSpPr>
        <p:spPr>
          <a:xfrm>
            <a:off x="4343400" y="1600200"/>
            <a:ext cx="3520440" cy="2011680"/>
          </a:xfrm>
          <a:prstGeom prst="roundRect">
            <a:avLst>
              <a:gd name="adj" fmla="val 3636"/>
            </a:avLst>
          </a:prstGeom>
          <a:solidFill>
            <a:srgbClr val="0E1113"/>
          </a:solidFill>
          <a:ln w="12700">
            <a:solidFill>
              <a:srgbClr val="273036"/>
            </a:solidFill>
            <a:prstDash val="solid"/>
          </a:ln>
        </p:spPr>
      </p:sp>
      <p:sp>
        <p:nvSpPr>
          <p:cNvPr id="8" name="Text 6"/>
          <p:cNvSpPr txBox="1"/>
          <p:nvPr/>
        </p:nvSpPr>
        <p:spPr>
          <a:xfrm>
            <a:off x="4617720" y="1783080"/>
            <a:ext cx="3017520" cy="914400"/>
          </a:xfrm>
          <a:prstGeom prst="rect">
            <a:avLst/>
          </a:prstGeom>
          <a:noFill/>
          <a:ln/>
        </p:spPr>
        <p:txBody>
          <a:bodyPr wrap="square" lIns="0" tIns="0" rIns="0" bIns="0" rtlCol="0" anchor="t"/>
          <a:lstStyle/>
          <a:p>
            <a:pPr indent="0" marL="0">
              <a:buNone/>
            </a:pPr>
            <a:r>
              <a:rPr lang="en-US" sz="5400" b="1" dirty="0">
                <a:solidFill>
                  <a:srgbClr val="B8FF66"/>
                </a:solidFill>
                <a:latin typeface="Arial" pitchFamily="34" charset="0"/>
                <a:ea typeface="Arial" pitchFamily="34" charset="-122"/>
                <a:cs typeface="Arial" pitchFamily="34" charset="-120"/>
              </a:rPr>
              <a:t>−45%</a:t>
            </a:r>
            <a:endParaRPr lang="en-US" sz="5400" dirty="0"/>
          </a:p>
        </p:txBody>
      </p:sp>
      <p:sp>
        <p:nvSpPr>
          <p:cNvPr id="9" name="Text 7"/>
          <p:cNvSpPr txBox="1"/>
          <p:nvPr/>
        </p:nvSpPr>
        <p:spPr>
          <a:xfrm>
            <a:off x="4617720" y="2743200"/>
            <a:ext cx="3017520" cy="731520"/>
          </a:xfrm>
          <a:prstGeom prst="rect">
            <a:avLst/>
          </a:prstGeom>
          <a:noFill/>
          <a:ln/>
        </p:spPr>
        <p:txBody>
          <a:bodyPr wrap="square" lIns="0" tIns="0" rIns="0" bIns="0" rtlCol="0" anchor="t"/>
          <a:lstStyle/>
          <a:p>
            <a:pPr indent="0" marL="0">
              <a:buNone/>
            </a:pPr>
            <a:r>
              <a:rPr lang="en-US" sz="1400" dirty="0">
                <a:solidFill>
                  <a:srgbClr val="9CA7AC"/>
                </a:solidFill>
                <a:latin typeface="Arial" pitchFamily="34" charset="0"/>
                <a:ea typeface="Arial" pitchFamily="34" charset="-122"/>
                <a:cs typeface="Arial" pitchFamily="34" charset="-120"/>
              </a:rPr>
              <a:t>total cost vs. always-Gemini ($0.0116 vs. $0.0209)</a:t>
            </a:r>
            <a:endParaRPr lang="en-US" sz="1400" dirty="0"/>
          </a:p>
        </p:txBody>
      </p:sp>
      <p:sp>
        <p:nvSpPr>
          <p:cNvPr id="10" name="Shape 8"/>
          <p:cNvSpPr/>
          <p:nvPr/>
        </p:nvSpPr>
        <p:spPr>
          <a:xfrm>
            <a:off x="8138160" y="1600200"/>
            <a:ext cx="3520440" cy="2011680"/>
          </a:xfrm>
          <a:prstGeom prst="roundRect">
            <a:avLst>
              <a:gd name="adj" fmla="val 3636"/>
            </a:avLst>
          </a:prstGeom>
          <a:solidFill>
            <a:srgbClr val="0E1113"/>
          </a:solidFill>
          <a:ln w="12700">
            <a:solidFill>
              <a:srgbClr val="273036"/>
            </a:solidFill>
            <a:prstDash val="solid"/>
          </a:ln>
        </p:spPr>
      </p:sp>
      <p:sp>
        <p:nvSpPr>
          <p:cNvPr id="11" name="Text 9"/>
          <p:cNvSpPr txBox="1"/>
          <p:nvPr/>
        </p:nvSpPr>
        <p:spPr>
          <a:xfrm>
            <a:off x="8412480" y="1783080"/>
            <a:ext cx="3017520" cy="914400"/>
          </a:xfrm>
          <a:prstGeom prst="rect">
            <a:avLst/>
          </a:prstGeom>
          <a:noFill/>
          <a:ln/>
        </p:spPr>
        <p:txBody>
          <a:bodyPr wrap="square" lIns="0" tIns="0" rIns="0" bIns="0" rtlCol="0" anchor="t"/>
          <a:lstStyle/>
          <a:p>
            <a:pPr indent="0" marL="0">
              <a:buNone/>
            </a:pPr>
            <a:r>
              <a:rPr lang="en-US" sz="5400" b="1" dirty="0">
                <a:solidFill>
                  <a:srgbClr val="B8FF66"/>
                </a:solidFill>
                <a:latin typeface="Arial" pitchFamily="34" charset="0"/>
                <a:ea typeface="Arial" pitchFamily="34" charset="-122"/>
                <a:cs typeface="Arial" pitchFamily="34" charset="-120"/>
              </a:rPr>
              <a:t>6×</a:t>
            </a:r>
            <a:endParaRPr lang="en-US" sz="5400" dirty="0"/>
          </a:p>
        </p:txBody>
      </p:sp>
      <p:sp>
        <p:nvSpPr>
          <p:cNvPr id="12" name="Text 10"/>
          <p:cNvSpPr txBox="1"/>
          <p:nvPr/>
        </p:nvSpPr>
        <p:spPr>
          <a:xfrm>
            <a:off x="8412480" y="2743200"/>
            <a:ext cx="3017520" cy="731520"/>
          </a:xfrm>
          <a:prstGeom prst="rect">
            <a:avLst/>
          </a:prstGeom>
          <a:noFill/>
          <a:ln/>
        </p:spPr>
        <p:txBody>
          <a:bodyPr wrap="square" lIns="0" tIns="0" rIns="0" bIns="0" rtlCol="0" anchor="t"/>
          <a:lstStyle/>
          <a:p>
            <a:pPr indent="0" marL="0">
              <a:buNone/>
            </a:pPr>
            <a:r>
              <a:rPr lang="en-US" sz="1400" dirty="0">
                <a:solidFill>
                  <a:srgbClr val="9CA7AC"/>
                </a:solidFill>
                <a:latin typeface="Arial" pitchFamily="34" charset="0"/>
                <a:ea typeface="Arial" pitchFamily="34" charset="-122"/>
                <a:cs typeface="Arial" pitchFamily="34" charset="-120"/>
              </a:rPr>
              <a:t>faster median response (823 ms vs. 4,992 ms)</a:t>
            </a:r>
            <a:endParaRPr lang="en-US" sz="1400" dirty="0"/>
          </a:p>
        </p:txBody>
      </p:sp>
      <p:sp>
        <p:nvSpPr>
          <p:cNvPr id="13" name="Text 11"/>
          <p:cNvSpPr txBox="1"/>
          <p:nvPr/>
        </p:nvSpPr>
        <p:spPr>
          <a:xfrm>
            <a:off x="548640" y="3931920"/>
            <a:ext cx="11064240" cy="365760"/>
          </a:xfrm>
          <a:prstGeom prst="rect">
            <a:avLst/>
          </a:prstGeom>
          <a:noFill/>
          <a:ln/>
        </p:spPr>
        <p:txBody>
          <a:bodyPr wrap="square" lIns="0" tIns="0" rIns="0" bIns="0" rtlCol="0" anchor="t"/>
          <a:lstStyle/>
          <a:p>
            <a:pPr indent="0" marL="0">
              <a:buNone/>
            </a:pPr>
            <a:r>
              <a:rPr lang="en-US" sz="1800" b="1" dirty="0">
                <a:solidFill>
                  <a:srgbClr val="F2F5F3"/>
                </a:solidFill>
                <a:latin typeface="Arial" pitchFamily="34" charset="0"/>
                <a:ea typeface="Arial" pitchFamily="34" charset="-122"/>
                <a:cs typeface="Arial" pitchFamily="34" charset="-120"/>
              </a:rPr>
              <a:t>Why, and why it is not proof yet</a:t>
            </a:r>
            <a:endParaRPr lang="en-US" sz="1800" dirty="0"/>
          </a:p>
        </p:txBody>
      </p:sp>
      <p:sp>
        <p:nvSpPr>
          <p:cNvPr id="14" name="Text 12"/>
          <p:cNvSpPr txBox="1"/>
          <p:nvPr/>
        </p:nvSpPr>
        <p:spPr>
          <a:xfrm>
            <a:off x="548640" y="4389120"/>
            <a:ext cx="11064240"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5F3"/>
                </a:solidFill>
                <a:latin typeface="Arial" pitchFamily="34" charset="0"/>
                <a:ea typeface="Arial" pitchFamily="34" charset="-122"/>
                <a:cs typeface="Arial" pitchFamily="34" charset="-120"/>
              </a:rPr>
              <a:t>The 7 prompts with one or two effort signals went to Mercury, and all 7 were answered correctly.</a:t>
            </a:r>
            <a:endParaRPr lang="en-US" sz="1500" dirty="0"/>
          </a:p>
          <a:p>
            <a:pPr marL="342900" indent="-342900">
              <a:spcAft>
                <a:spcPts val="800"/>
              </a:spcAft>
              <a:buSzPct val="100000"/>
              <a:buChar char="•"/>
            </a:pPr>
            <a:r>
              <a:rPr lang="en-US" sz="1500" dirty="0">
                <a:solidFill>
                  <a:srgbClr val="F2F5F3"/>
                </a:solidFill>
                <a:latin typeface="Arial" pitchFamily="34" charset="0"/>
                <a:ea typeface="Arial" pitchFamily="34" charset="-122"/>
                <a:cs typeface="Arial" pitchFamily="34" charset="-120"/>
              </a:rPr>
              <a:t>Mercury’s only two failures were on prompts the rule had already sent to Gemini. That helped, and some of it is luck.</a:t>
            </a:r>
            <a:endParaRPr lang="en-US" sz="1500" dirty="0"/>
          </a:p>
          <a:p>
            <a:pPr marL="342900" indent="-342900">
              <a:spcAft>
                <a:spcPts val="800"/>
              </a:spcAft>
              <a:buSzPct val="100000"/>
              <a:buChar char="•"/>
            </a:pPr>
            <a:r>
              <a:rPr lang="en-US" sz="1500" dirty="0">
                <a:solidFill>
                  <a:srgbClr val="F2F5F3"/>
                </a:solidFill>
                <a:latin typeface="Arial" pitchFamily="34" charset="0"/>
                <a:ea typeface="Arial" pitchFamily="34" charset="-122"/>
                <a:cs typeface="Arial" pitchFamily="34" charset="-120"/>
              </a:rPr>
              <a:t>12 prompts and one task type: evidence for this setup, not a general ranking. The tiers were set before the paid run finished and were not tuned afterward.</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100" b="1" spc="200" kern="0" dirty="0">
                <a:solidFill>
                  <a:srgbClr val="B8FF66"/>
                </a:solidFill>
                <a:latin typeface="Consolas" pitchFamily="34" charset="0"/>
                <a:ea typeface="Consolas" pitchFamily="34" charset="-122"/>
                <a:cs typeface="Consolas" pitchFamily="34" charset="-120"/>
              </a:rPr>
              <a:t>LIVE DEMO · ROUTE TAB</a:t>
            </a:r>
            <a:endParaRPr lang="en-US" sz="1100" dirty="0"/>
          </a:p>
        </p:txBody>
      </p:sp>
      <p:sp>
        <p:nvSpPr>
          <p:cNvPr id="3" name="Title"/>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2F5F3"/>
                </a:solidFill>
                <a:latin typeface="Arial" pitchFamily="34" charset="0"/>
                <a:ea typeface="Arial" pitchFamily="34" charset="-122"/>
                <a:cs typeface="Arial" pitchFamily="34" charset="-120"/>
              </a:rPr>
              <a:t>What I will show, in order</a:t>
            </a:r>
            <a:endParaRPr lang="en-US" sz="3200" dirty="0"/>
          </a:p>
        </p:txBody>
      </p:sp>
      <p:sp>
        <p:nvSpPr>
          <p:cNvPr id="4" name="Shape 2"/>
          <p:cNvSpPr/>
          <p:nvPr/>
        </p:nvSpPr>
        <p:spPr>
          <a:xfrm>
            <a:off x="548640" y="1600200"/>
            <a:ext cx="5394960" cy="1143000"/>
          </a:xfrm>
          <a:prstGeom prst="roundRect">
            <a:avLst>
              <a:gd name="adj" fmla="val 6400"/>
            </a:avLst>
          </a:prstGeom>
          <a:solidFill>
            <a:srgbClr val="0E1113"/>
          </a:solidFill>
          <a:ln w="12700">
            <a:solidFill>
              <a:srgbClr val="273036"/>
            </a:solidFill>
            <a:prstDash val="solid"/>
          </a:ln>
        </p:spPr>
      </p:sp>
      <p:sp>
        <p:nvSpPr>
          <p:cNvPr id="5" name="Shape 3"/>
          <p:cNvSpPr/>
          <p:nvPr/>
        </p:nvSpPr>
        <p:spPr>
          <a:xfrm>
            <a:off x="777240" y="1892808"/>
            <a:ext cx="548640" cy="548640"/>
          </a:xfrm>
          <a:prstGeom prst="ellipse">
            <a:avLst/>
          </a:prstGeom>
          <a:solidFill>
            <a:srgbClr val="1A2414"/>
          </a:solidFill>
          <a:ln w="12700">
            <a:solidFill>
              <a:srgbClr val="B8FF66"/>
            </a:solidFill>
            <a:prstDash val="solid"/>
          </a:ln>
        </p:spPr>
      </p:sp>
      <p:sp>
        <p:nvSpPr>
          <p:cNvPr id="6" name="Text 4"/>
          <p:cNvSpPr txBox="1"/>
          <p:nvPr/>
        </p:nvSpPr>
        <p:spPr>
          <a:xfrm>
            <a:off x="777240" y="1892808"/>
            <a:ext cx="548640" cy="548640"/>
          </a:xfrm>
          <a:prstGeom prst="rect">
            <a:avLst/>
          </a:prstGeom>
          <a:noFill/>
          <a:ln/>
        </p:spPr>
        <p:txBody>
          <a:bodyPr wrap="square" lIns="0" tIns="0" rIns="0" bIns="0" rtlCol="0" anchor="ctr"/>
          <a:lstStyle/>
          <a:p>
            <a:pPr algn="ctr" indent="0" marL="0">
              <a:buNone/>
            </a:pPr>
            <a:r>
              <a:rPr lang="en-US" sz="1600" b="1" dirty="0">
                <a:solidFill>
                  <a:srgbClr val="B8FF66"/>
                </a:solidFill>
                <a:latin typeface="Consolas" pitchFamily="34" charset="0"/>
                <a:ea typeface="Consolas" pitchFamily="34" charset="-122"/>
                <a:cs typeface="Consolas" pitchFamily="34" charset="-120"/>
              </a:rPr>
              <a:t>1</a:t>
            </a:r>
            <a:endParaRPr lang="en-US" sz="1600" dirty="0"/>
          </a:p>
        </p:txBody>
      </p:sp>
      <p:sp>
        <p:nvSpPr>
          <p:cNvPr id="7" name="Text 5"/>
          <p:cNvSpPr txBox="1"/>
          <p:nvPr/>
        </p:nvSpPr>
        <p:spPr>
          <a:xfrm>
            <a:off x="1554480" y="1801368"/>
            <a:ext cx="4206240" cy="365760"/>
          </a:xfrm>
          <a:prstGeom prst="rect">
            <a:avLst/>
          </a:prstGeom>
          <a:noFill/>
          <a:ln/>
        </p:spPr>
        <p:txBody>
          <a:bodyPr wrap="square" lIns="0" tIns="0" rIns="0" bIns="0" rtlCol="0" anchor="t"/>
          <a:lstStyle/>
          <a:p>
            <a:pPr indent="0" marL="0">
              <a:buNone/>
            </a:pPr>
            <a:r>
              <a:rPr lang="en-US" sz="1600" b="1" dirty="0">
                <a:solidFill>
                  <a:srgbClr val="F2F5F3"/>
                </a:solidFill>
                <a:latin typeface="Arial" pitchFamily="34" charset="0"/>
                <a:ea typeface="Arial" pitchFamily="34" charset="-122"/>
                <a:cs typeface="Arial" pitchFamily="34" charset="-120"/>
              </a:rPr>
              <a:t>Paid pool acceptance matrix</a:t>
            </a:r>
            <a:endParaRPr lang="en-US" sz="1600" dirty="0"/>
          </a:p>
        </p:txBody>
      </p:sp>
      <p:sp>
        <p:nvSpPr>
          <p:cNvPr id="8" name="Text 6"/>
          <p:cNvSpPr txBox="1"/>
          <p:nvPr/>
        </p:nvSpPr>
        <p:spPr>
          <a:xfrm>
            <a:off x="1554480" y="2167128"/>
            <a:ext cx="4206240" cy="45720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7/7 expected-versus-actual cases pass with no provider call</a:t>
            </a:r>
            <a:endParaRPr lang="en-US" sz="1300" dirty="0"/>
          </a:p>
        </p:txBody>
      </p:sp>
      <p:sp>
        <p:nvSpPr>
          <p:cNvPr id="9" name="Shape 7"/>
          <p:cNvSpPr/>
          <p:nvPr/>
        </p:nvSpPr>
        <p:spPr>
          <a:xfrm>
            <a:off x="548640" y="2971800"/>
            <a:ext cx="5394960" cy="1143000"/>
          </a:xfrm>
          <a:prstGeom prst="roundRect">
            <a:avLst>
              <a:gd name="adj" fmla="val 6400"/>
            </a:avLst>
          </a:prstGeom>
          <a:solidFill>
            <a:srgbClr val="0E1113"/>
          </a:solidFill>
          <a:ln w="12700">
            <a:solidFill>
              <a:srgbClr val="273036"/>
            </a:solidFill>
            <a:prstDash val="solid"/>
          </a:ln>
        </p:spPr>
      </p:sp>
      <p:sp>
        <p:nvSpPr>
          <p:cNvPr id="10" name="Shape 8"/>
          <p:cNvSpPr/>
          <p:nvPr/>
        </p:nvSpPr>
        <p:spPr>
          <a:xfrm>
            <a:off x="777240" y="3264408"/>
            <a:ext cx="548640" cy="548640"/>
          </a:xfrm>
          <a:prstGeom prst="ellipse">
            <a:avLst/>
          </a:prstGeom>
          <a:solidFill>
            <a:srgbClr val="1A2414"/>
          </a:solidFill>
          <a:ln w="12700">
            <a:solidFill>
              <a:srgbClr val="B8FF66"/>
            </a:solidFill>
            <a:prstDash val="solid"/>
          </a:ln>
        </p:spPr>
      </p:sp>
      <p:sp>
        <p:nvSpPr>
          <p:cNvPr id="11" name="Text 9"/>
          <p:cNvSpPr txBox="1"/>
          <p:nvPr/>
        </p:nvSpPr>
        <p:spPr>
          <a:xfrm>
            <a:off x="777240" y="3264408"/>
            <a:ext cx="548640" cy="548640"/>
          </a:xfrm>
          <a:prstGeom prst="rect">
            <a:avLst/>
          </a:prstGeom>
          <a:noFill/>
          <a:ln/>
        </p:spPr>
        <p:txBody>
          <a:bodyPr wrap="square" lIns="0" tIns="0" rIns="0" bIns="0" rtlCol="0" anchor="ctr"/>
          <a:lstStyle/>
          <a:p>
            <a:pPr algn="ctr" indent="0" marL="0">
              <a:buNone/>
            </a:pPr>
            <a:r>
              <a:rPr lang="en-US" sz="1600" b="1" dirty="0">
                <a:solidFill>
                  <a:srgbClr val="B8FF66"/>
                </a:solidFill>
                <a:latin typeface="Consolas" pitchFamily="34" charset="0"/>
                <a:ea typeface="Consolas" pitchFamily="34" charset="-122"/>
                <a:cs typeface="Consolas" pitchFamily="34" charset="-120"/>
              </a:rPr>
              <a:t>2</a:t>
            </a:r>
            <a:endParaRPr lang="en-US" sz="1600" dirty="0"/>
          </a:p>
        </p:txBody>
      </p:sp>
      <p:sp>
        <p:nvSpPr>
          <p:cNvPr id="12" name="Text 10"/>
          <p:cNvSpPr txBox="1"/>
          <p:nvPr/>
        </p:nvSpPr>
        <p:spPr>
          <a:xfrm>
            <a:off x="1554480" y="3172968"/>
            <a:ext cx="4206240" cy="365760"/>
          </a:xfrm>
          <a:prstGeom prst="rect">
            <a:avLst/>
          </a:prstGeom>
          <a:noFill/>
          <a:ln/>
        </p:spPr>
        <p:txBody>
          <a:bodyPr wrap="square" lIns="0" tIns="0" rIns="0" bIns="0" rtlCol="0" anchor="t"/>
          <a:lstStyle/>
          <a:p>
            <a:pPr indent="0" marL="0">
              <a:buNone/>
            </a:pPr>
            <a:r>
              <a:rPr lang="en-US" sz="1600" b="1" dirty="0">
                <a:solidFill>
                  <a:srgbClr val="F2F5F3"/>
                </a:solidFill>
                <a:latin typeface="Arial" pitchFamily="34" charset="0"/>
                <a:ea typeface="Arial" pitchFamily="34" charset="-122"/>
                <a:cs typeface="Arial" pitchFamily="34" charset="-120"/>
              </a:rPr>
              <a:t>Same prompt, two priorities</a:t>
            </a:r>
            <a:endParaRPr lang="en-US" sz="1600" dirty="0"/>
          </a:p>
        </p:txBody>
      </p:sp>
      <p:sp>
        <p:nvSpPr>
          <p:cNvPr id="13" name="Text 11"/>
          <p:cNvSpPr txBox="1"/>
          <p:nvPr/>
        </p:nvSpPr>
        <p:spPr>
          <a:xfrm>
            <a:off x="1554480" y="3538728"/>
            <a:ext cx="4206240" cy="45720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Lower cost → Gemma · Higher quality → Gemini Argon</a:t>
            </a:r>
            <a:endParaRPr lang="en-US" sz="1300" dirty="0"/>
          </a:p>
        </p:txBody>
      </p:sp>
      <p:sp>
        <p:nvSpPr>
          <p:cNvPr id="14" name="Shape 12"/>
          <p:cNvSpPr/>
          <p:nvPr/>
        </p:nvSpPr>
        <p:spPr>
          <a:xfrm>
            <a:off x="548640" y="4343400"/>
            <a:ext cx="5394960" cy="1143000"/>
          </a:xfrm>
          <a:prstGeom prst="roundRect">
            <a:avLst>
              <a:gd name="adj" fmla="val 6400"/>
            </a:avLst>
          </a:prstGeom>
          <a:solidFill>
            <a:srgbClr val="0E1113"/>
          </a:solidFill>
          <a:ln w="12700">
            <a:solidFill>
              <a:srgbClr val="273036"/>
            </a:solidFill>
            <a:prstDash val="solid"/>
          </a:ln>
        </p:spPr>
      </p:sp>
      <p:sp>
        <p:nvSpPr>
          <p:cNvPr id="15" name="Shape 13"/>
          <p:cNvSpPr/>
          <p:nvPr/>
        </p:nvSpPr>
        <p:spPr>
          <a:xfrm>
            <a:off x="777240" y="4636008"/>
            <a:ext cx="548640" cy="548640"/>
          </a:xfrm>
          <a:prstGeom prst="ellipse">
            <a:avLst/>
          </a:prstGeom>
          <a:solidFill>
            <a:srgbClr val="1A2414"/>
          </a:solidFill>
          <a:ln w="12700">
            <a:solidFill>
              <a:srgbClr val="B8FF66"/>
            </a:solidFill>
            <a:prstDash val="solid"/>
          </a:ln>
        </p:spPr>
      </p:sp>
      <p:sp>
        <p:nvSpPr>
          <p:cNvPr id="16" name="Text 14"/>
          <p:cNvSpPr txBox="1"/>
          <p:nvPr/>
        </p:nvSpPr>
        <p:spPr>
          <a:xfrm>
            <a:off x="777240" y="4636008"/>
            <a:ext cx="548640" cy="548640"/>
          </a:xfrm>
          <a:prstGeom prst="rect">
            <a:avLst/>
          </a:prstGeom>
          <a:noFill/>
          <a:ln/>
        </p:spPr>
        <p:txBody>
          <a:bodyPr wrap="square" lIns="0" tIns="0" rIns="0" bIns="0" rtlCol="0" anchor="ctr"/>
          <a:lstStyle/>
          <a:p>
            <a:pPr algn="ctr" indent="0" marL="0">
              <a:buNone/>
            </a:pPr>
            <a:r>
              <a:rPr lang="en-US" sz="1600" b="1" dirty="0">
                <a:solidFill>
                  <a:srgbClr val="B8FF66"/>
                </a:solidFill>
                <a:latin typeface="Consolas" pitchFamily="34" charset="0"/>
                <a:ea typeface="Consolas" pitchFamily="34" charset="-122"/>
                <a:cs typeface="Consolas" pitchFamily="34" charset="-120"/>
              </a:rPr>
              <a:t>3</a:t>
            </a:r>
            <a:endParaRPr lang="en-US" sz="1600" dirty="0"/>
          </a:p>
        </p:txBody>
      </p:sp>
      <p:sp>
        <p:nvSpPr>
          <p:cNvPr id="17" name="Text 15"/>
          <p:cNvSpPr txBox="1"/>
          <p:nvPr/>
        </p:nvSpPr>
        <p:spPr>
          <a:xfrm>
            <a:off x="1554480" y="4544568"/>
            <a:ext cx="4206240" cy="365760"/>
          </a:xfrm>
          <a:prstGeom prst="rect">
            <a:avLst/>
          </a:prstGeom>
          <a:noFill/>
          <a:ln/>
        </p:spPr>
        <p:txBody>
          <a:bodyPr wrap="square" lIns="0" tIns="0" rIns="0" bIns="0" rtlCol="0" anchor="t"/>
          <a:lstStyle/>
          <a:p>
            <a:pPr indent="0" marL="0">
              <a:buNone/>
            </a:pPr>
            <a:r>
              <a:rPr lang="en-US" sz="1600" b="1" dirty="0">
                <a:solidFill>
                  <a:srgbClr val="F2F5F3"/>
                </a:solidFill>
                <a:latin typeface="Arial" pitchFamily="34" charset="0"/>
                <a:ea typeface="Arial" pitchFamily="34" charset="-122"/>
                <a:cs typeface="Arial" pitchFamily="34" charset="-120"/>
              </a:rPr>
              <a:t>500,000-token requirement</a:t>
            </a:r>
            <a:endParaRPr lang="en-US" sz="1600" dirty="0"/>
          </a:p>
        </p:txBody>
      </p:sp>
      <p:sp>
        <p:nvSpPr>
          <p:cNvPr id="18" name="Text 16"/>
          <p:cNvSpPr txBox="1"/>
          <p:nvPr/>
        </p:nvSpPr>
        <p:spPr>
          <a:xfrm>
            <a:off x="1554480" y="4910328"/>
            <a:ext cx="4206240" cy="45720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Gemma excluded first; the reason explains the override</a:t>
            </a:r>
            <a:endParaRPr lang="en-US" sz="1300" dirty="0"/>
          </a:p>
        </p:txBody>
      </p:sp>
      <p:sp>
        <p:nvSpPr>
          <p:cNvPr id="19" name="Shape 17"/>
          <p:cNvSpPr/>
          <p:nvPr/>
        </p:nvSpPr>
        <p:spPr>
          <a:xfrm>
            <a:off x="6217920" y="1600200"/>
            <a:ext cx="5394960" cy="1143000"/>
          </a:xfrm>
          <a:prstGeom prst="roundRect">
            <a:avLst>
              <a:gd name="adj" fmla="val 6400"/>
            </a:avLst>
          </a:prstGeom>
          <a:solidFill>
            <a:srgbClr val="0E1113"/>
          </a:solidFill>
          <a:ln w="12700">
            <a:solidFill>
              <a:srgbClr val="273036"/>
            </a:solidFill>
            <a:prstDash val="solid"/>
          </a:ln>
        </p:spPr>
      </p:sp>
      <p:sp>
        <p:nvSpPr>
          <p:cNvPr id="20" name="Shape 18"/>
          <p:cNvSpPr/>
          <p:nvPr/>
        </p:nvSpPr>
        <p:spPr>
          <a:xfrm>
            <a:off x="6446520" y="1892808"/>
            <a:ext cx="548640" cy="548640"/>
          </a:xfrm>
          <a:prstGeom prst="ellipse">
            <a:avLst/>
          </a:prstGeom>
          <a:solidFill>
            <a:srgbClr val="1A2414"/>
          </a:solidFill>
          <a:ln w="12700">
            <a:solidFill>
              <a:srgbClr val="B8FF66"/>
            </a:solidFill>
            <a:prstDash val="solid"/>
          </a:ln>
        </p:spPr>
      </p:sp>
      <p:sp>
        <p:nvSpPr>
          <p:cNvPr id="21" name="Text 19"/>
          <p:cNvSpPr txBox="1"/>
          <p:nvPr/>
        </p:nvSpPr>
        <p:spPr>
          <a:xfrm>
            <a:off x="6446520" y="1892808"/>
            <a:ext cx="548640" cy="548640"/>
          </a:xfrm>
          <a:prstGeom prst="rect">
            <a:avLst/>
          </a:prstGeom>
          <a:noFill/>
          <a:ln/>
        </p:spPr>
        <p:txBody>
          <a:bodyPr wrap="square" lIns="0" tIns="0" rIns="0" bIns="0" rtlCol="0" anchor="ctr"/>
          <a:lstStyle/>
          <a:p>
            <a:pPr algn="ctr" indent="0" marL="0">
              <a:buNone/>
            </a:pPr>
            <a:r>
              <a:rPr lang="en-US" sz="1600" b="1" dirty="0">
                <a:solidFill>
                  <a:srgbClr val="B8FF66"/>
                </a:solidFill>
                <a:latin typeface="Consolas" pitchFamily="34" charset="0"/>
                <a:ea typeface="Consolas" pitchFamily="34" charset="-122"/>
                <a:cs typeface="Consolas" pitchFamily="34" charset="-120"/>
              </a:rPr>
              <a:t>4</a:t>
            </a:r>
            <a:endParaRPr lang="en-US" sz="1600" dirty="0"/>
          </a:p>
        </p:txBody>
      </p:sp>
      <p:sp>
        <p:nvSpPr>
          <p:cNvPr id="22" name="Text 20"/>
          <p:cNvSpPr txBox="1"/>
          <p:nvPr/>
        </p:nvSpPr>
        <p:spPr>
          <a:xfrm>
            <a:off x="7223760" y="1801368"/>
            <a:ext cx="4206240" cy="365760"/>
          </a:xfrm>
          <a:prstGeom prst="rect">
            <a:avLst/>
          </a:prstGeom>
          <a:noFill/>
          <a:ln/>
        </p:spPr>
        <p:txBody>
          <a:bodyPr wrap="square" lIns="0" tIns="0" rIns="0" bIns="0" rtlCol="0" anchor="t"/>
          <a:lstStyle/>
          <a:p>
            <a:pPr indent="0" marL="0">
              <a:buNone/>
            </a:pPr>
            <a:r>
              <a:rPr lang="en-US" sz="1600" b="1" dirty="0">
                <a:solidFill>
                  <a:srgbClr val="F2F5F3"/>
                </a:solidFill>
                <a:latin typeface="Arial" pitchFamily="34" charset="0"/>
                <a:ea typeface="Arial" pitchFamily="34" charset="-122"/>
                <a:cs typeface="Arial" pitchFamily="34" charset="-120"/>
              </a:rPr>
              <a:t>One real routed call</a:t>
            </a:r>
            <a:endParaRPr lang="en-US" sz="1600" dirty="0"/>
          </a:p>
        </p:txBody>
      </p:sp>
      <p:sp>
        <p:nvSpPr>
          <p:cNvPr id="23" name="Text 21"/>
          <p:cNvSpPr txBox="1"/>
          <p:nvPr/>
        </p:nvSpPr>
        <p:spPr>
          <a:xfrm>
            <a:off x="7223760" y="2167128"/>
            <a:ext cx="4206240" cy="45720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Response, latency, tokens, and provider-reported cost</a:t>
            </a:r>
            <a:endParaRPr lang="en-US" sz="1300" dirty="0"/>
          </a:p>
        </p:txBody>
      </p:sp>
      <p:sp>
        <p:nvSpPr>
          <p:cNvPr id="24" name="Shape 22"/>
          <p:cNvSpPr/>
          <p:nvPr/>
        </p:nvSpPr>
        <p:spPr>
          <a:xfrm>
            <a:off x="6217920" y="2971800"/>
            <a:ext cx="5394960" cy="1143000"/>
          </a:xfrm>
          <a:prstGeom prst="roundRect">
            <a:avLst>
              <a:gd name="adj" fmla="val 6400"/>
            </a:avLst>
          </a:prstGeom>
          <a:solidFill>
            <a:srgbClr val="0E1113"/>
          </a:solidFill>
          <a:ln w="12700">
            <a:solidFill>
              <a:srgbClr val="273036"/>
            </a:solidFill>
            <a:prstDash val="solid"/>
          </a:ln>
        </p:spPr>
      </p:sp>
      <p:sp>
        <p:nvSpPr>
          <p:cNvPr id="25" name="Shape 23"/>
          <p:cNvSpPr/>
          <p:nvPr/>
        </p:nvSpPr>
        <p:spPr>
          <a:xfrm>
            <a:off x="6446520" y="3264408"/>
            <a:ext cx="548640" cy="548640"/>
          </a:xfrm>
          <a:prstGeom prst="ellipse">
            <a:avLst/>
          </a:prstGeom>
          <a:solidFill>
            <a:srgbClr val="1A2414"/>
          </a:solidFill>
          <a:ln w="12700">
            <a:solidFill>
              <a:srgbClr val="B8FF66"/>
            </a:solidFill>
            <a:prstDash val="solid"/>
          </a:ln>
        </p:spPr>
      </p:sp>
      <p:sp>
        <p:nvSpPr>
          <p:cNvPr id="26" name="Text 24"/>
          <p:cNvSpPr txBox="1"/>
          <p:nvPr/>
        </p:nvSpPr>
        <p:spPr>
          <a:xfrm>
            <a:off x="6446520" y="3264408"/>
            <a:ext cx="548640" cy="548640"/>
          </a:xfrm>
          <a:prstGeom prst="rect">
            <a:avLst/>
          </a:prstGeom>
          <a:noFill/>
          <a:ln/>
        </p:spPr>
        <p:txBody>
          <a:bodyPr wrap="square" lIns="0" tIns="0" rIns="0" bIns="0" rtlCol="0" anchor="ctr"/>
          <a:lstStyle/>
          <a:p>
            <a:pPr algn="ctr" indent="0" marL="0">
              <a:buNone/>
            </a:pPr>
            <a:r>
              <a:rPr lang="en-US" sz="1600" b="1" dirty="0">
                <a:solidFill>
                  <a:srgbClr val="B8FF66"/>
                </a:solidFill>
                <a:latin typeface="Consolas" pitchFamily="34" charset="0"/>
                <a:ea typeface="Consolas" pitchFamily="34" charset="-122"/>
                <a:cs typeface="Consolas" pitchFamily="34" charset="-120"/>
              </a:rPr>
              <a:t>5</a:t>
            </a:r>
            <a:endParaRPr lang="en-US" sz="1600" dirty="0"/>
          </a:p>
        </p:txBody>
      </p:sp>
      <p:sp>
        <p:nvSpPr>
          <p:cNvPr id="27" name="Text 25"/>
          <p:cNvSpPr txBox="1"/>
          <p:nvPr/>
        </p:nvSpPr>
        <p:spPr>
          <a:xfrm>
            <a:off x="7223760" y="3172968"/>
            <a:ext cx="4206240" cy="365760"/>
          </a:xfrm>
          <a:prstGeom prst="rect">
            <a:avLst/>
          </a:prstGeom>
          <a:noFill/>
          <a:ln/>
        </p:spPr>
        <p:txBody>
          <a:bodyPr wrap="square" lIns="0" tIns="0" rIns="0" bIns="0" rtlCol="0" anchor="t"/>
          <a:lstStyle/>
          <a:p>
            <a:pPr indent="0" marL="0">
              <a:buNone/>
            </a:pPr>
            <a:r>
              <a:rPr lang="en-US" sz="1600" b="1" dirty="0">
                <a:solidFill>
                  <a:srgbClr val="F2F5F3"/>
                </a:solidFill>
                <a:latin typeface="Arial" pitchFamily="34" charset="0"/>
                <a:ea typeface="Arial" pitchFamily="34" charset="-122"/>
                <a:cs typeface="Arial" pitchFamily="34" charset="-120"/>
              </a:rPr>
              <a:t>Results dashboard</a:t>
            </a:r>
            <a:endParaRPr lang="en-US" sz="1600" dirty="0"/>
          </a:p>
        </p:txBody>
      </p:sp>
      <p:sp>
        <p:nvSpPr>
          <p:cNvPr id="28" name="Text 26"/>
          <p:cNvSpPr txBox="1"/>
          <p:nvPr/>
        </p:nvSpPr>
        <p:spPr>
          <a:xfrm>
            <a:off x="7223760" y="3538728"/>
            <a:ext cx="4206240" cy="45720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Strategy table; switch pools to compare free and paid evidence</a:t>
            </a:r>
            <a:endParaRPr lang="en-US" sz="1300" dirty="0"/>
          </a:p>
        </p:txBody>
      </p:sp>
      <p:sp>
        <p:nvSpPr>
          <p:cNvPr id="29" name="Shape 27"/>
          <p:cNvSpPr/>
          <p:nvPr/>
        </p:nvSpPr>
        <p:spPr>
          <a:xfrm>
            <a:off x="6217920" y="4343400"/>
            <a:ext cx="5394960" cy="1143000"/>
          </a:xfrm>
          <a:prstGeom prst="roundRect">
            <a:avLst>
              <a:gd name="adj" fmla="val 6400"/>
            </a:avLst>
          </a:prstGeom>
          <a:solidFill>
            <a:srgbClr val="0E1113"/>
          </a:solidFill>
          <a:ln w="12700">
            <a:solidFill>
              <a:srgbClr val="273036"/>
            </a:solidFill>
            <a:prstDash val="solid"/>
          </a:ln>
        </p:spPr>
      </p:sp>
      <p:sp>
        <p:nvSpPr>
          <p:cNvPr id="30" name="Shape 28"/>
          <p:cNvSpPr/>
          <p:nvPr/>
        </p:nvSpPr>
        <p:spPr>
          <a:xfrm>
            <a:off x="6446520" y="4636008"/>
            <a:ext cx="548640" cy="548640"/>
          </a:xfrm>
          <a:prstGeom prst="ellipse">
            <a:avLst/>
          </a:prstGeom>
          <a:solidFill>
            <a:srgbClr val="1A2414"/>
          </a:solidFill>
          <a:ln w="12700">
            <a:solidFill>
              <a:srgbClr val="B8FF66"/>
            </a:solidFill>
            <a:prstDash val="solid"/>
          </a:ln>
        </p:spPr>
      </p:sp>
      <p:sp>
        <p:nvSpPr>
          <p:cNvPr id="31" name="Text 29"/>
          <p:cNvSpPr txBox="1"/>
          <p:nvPr/>
        </p:nvSpPr>
        <p:spPr>
          <a:xfrm>
            <a:off x="6446520" y="4636008"/>
            <a:ext cx="548640" cy="548640"/>
          </a:xfrm>
          <a:prstGeom prst="rect">
            <a:avLst/>
          </a:prstGeom>
          <a:noFill/>
          <a:ln/>
        </p:spPr>
        <p:txBody>
          <a:bodyPr wrap="square" lIns="0" tIns="0" rIns="0" bIns="0" rtlCol="0" anchor="ctr"/>
          <a:lstStyle/>
          <a:p>
            <a:pPr algn="ctr" indent="0" marL="0">
              <a:buNone/>
            </a:pPr>
            <a:r>
              <a:rPr lang="en-US" sz="1600" b="1" dirty="0">
                <a:solidFill>
                  <a:srgbClr val="B8FF66"/>
                </a:solidFill>
                <a:latin typeface="Consolas" pitchFamily="34" charset="0"/>
                <a:ea typeface="Consolas" pitchFamily="34" charset="-122"/>
                <a:cs typeface="Consolas" pitchFamily="34" charset="-120"/>
              </a:rPr>
              <a:t>6</a:t>
            </a:r>
            <a:endParaRPr lang="en-US" sz="1600" dirty="0"/>
          </a:p>
        </p:txBody>
      </p:sp>
      <p:sp>
        <p:nvSpPr>
          <p:cNvPr id="32" name="Text 30"/>
          <p:cNvSpPr txBox="1"/>
          <p:nvPr/>
        </p:nvSpPr>
        <p:spPr>
          <a:xfrm>
            <a:off x="7223760" y="4544568"/>
            <a:ext cx="4206240" cy="365760"/>
          </a:xfrm>
          <a:prstGeom prst="rect">
            <a:avLst/>
          </a:prstGeom>
          <a:noFill/>
          <a:ln/>
        </p:spPr>
        <p:txBody>
          <a:bodyPr wrap="square" lIns="0" tIns="0" rIns="0" bIns="0" rtlCol="0" anchor="t"/>
          <a:lstStyle/>
          <a:p>
            <a:pPr indent="0" marL="0">
              <a:buNone/>
            </a:pPr>
            <a:r>
              <a:rPr lang="en-US" sz="1600" b="1" dirty="0">
                <a:solidFill>
                  <a:srgbClr val="F2F5F3"/>
                </a:solidFill>
                <a:latin typeface="Arial" pitchFamily="34" charset="0"/>
                <a:ea typeface="Arial" pitchFamily="34" charset="-122"/>
                <a:cs typeface="Arial" pitchFamily="34" charset="-120"/>
              </a:rPr>
              <a:t>Per-prompt decisions</a:t>
            </a:r>
            <a:endParaRPr lang="en-US" sz="1600" dirty="0"/>
          </a:p>
        </p:txBody>
      </p:sp>
      <p:sp>
        <p:nvSpPr>
          <p:cNvPr id="33" name="Text 31"/>
          <p:cNvSpPr txBox="1"/>
          <p:nvPr/>
        </p:nvSpPr>
        <p:spPr>
          <a:xfrm>
            <a:off x="7223760" y="4910328"/>
            <a:ext cx="4206240" cy="457200"/>
          </a:xfrm>
          <a:prstGeom prst="rect">
            <a:avLst/>
          </a:prstGeom>
          <a:noFill/>
          <a:ln/>
        </p:spPr>
        <p:txBody>
          <a:bodyPr wrap="square" lIns="0" tIns="0" rIns="0" bIns="0" rtlCol="0" anchor="t"/>
          <a:lstStyle/>
          <a:p>
            <a:pPr indent="0" marL="0">
              <a:buNone/>
            </a:pPr>
            <a:r>
              <a:rPr lang="en-US" sz="1300" dirty="0">
                <a:solidFill>
                  <a:srgbClr val="9CA7AC"/>
                </a:solidFill>
                <a:latin typeface="Arial" pitchFamily="34" charset="0"/>
                <a:ea typeface="Arial" pitchFamily="34" charset="-122"/>
                <a:cs typeface="Arial" pitchFamily="34" charset="-120"/>
              </a:rPr>
              <a:t>Choose “balanced” and inspect the model and reason per question</a:t>
            </a:r>
            <a:endParaRPr lang="en-US" sz="1300" dirty="0"/>
          </a:p>
        </p:txBody>
      </p:sp>
      <p:sp>
        <p:nvSpPr>
          <p:cNvPr id="34" name="Text 32"/>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250" dirty="0">
                <a:solidFill>
                  <a:srgbClr val="6F7A80"/>
                </a:solidFill>
                <a:latin typeface="Arial" pitchFamily="34" charset="0"/>
                <a:ea typeface="Arial" pitchFamily="34" charset="-122"/>
                <a:cs typeface="Arial" pitchFamily="34" charset="-120"/>
              </a:rPr>
              <a:t>If the network fails: steps 1–3, 5, and 6 run fully offline from committed evidence, and a backup recording is in the repository.</a:t>
            </a:r>
            <a:endParaRPr lang="en-US" sz="12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100" b="1" spc="200" kern="0" dirty="0">
                <a:solidFill>
                  <a:srgbClr val="B8FF66"/>
                </a:solidFill>
                <a:latin typeface="Consolas" pitchFamily="34" charset="0"/>
                <a:ea typeface="Consolas" pitchFamily="34" charset="-122"/>
                <a:cs typeface="Consolas" pitchFamily="34" charset="-120"/>
              </a:rPr>
              <a:t>HONEST LIMITS AND THE NEXT CHECKPOINT</a:t>
            </a:r>
            <a:endParaRPr lang="en-US" sz="1100" dirty="0"/>
          </a:p>
        </p:txBody>
      </p:sp>
      <p:sp>
        <p:nvSpPr>
          <p:cNvPr id="3" name="Title"/>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2F5F3"/>
                </a:solidFill>
                <a:latin typeface="Arial" pitchFamily="34" charset="0"/>
                <a:ea typeface="Arial" pitchFamily="34" charset="-122"/>
                <a:cs typeface="Arial" pitchFamily="34" charset="-120"/>
              </a:rPr>
              <a:t>What this does not show yet, and what comes next</a:t>
            </a:r>
            <a:endParaRPr lang="en-US" sz="3200" dirty="0"/>
          </a:p>
        </p:txBody>
      </p:sp>
      <p:sp>
        <p:nvSpPr>
          <p:cNvPr id="4" name="Shape 2"/>
          <p:cNvSpPr/>
          <p:nvPr/>
        </p:nvSpPr>
        <p:spPr>
          <a:xfrm>
            <a:off x="548640" y="1600200"/>
            <a:ext cx="5394960" cy="3154680"/>
          </a:xfrm>
          <a:prstGeom prst="roundRect">
            <a:avLst>
              <a:gd name="adj" fmla="val 2319"/>
            </a:avLst>
          </a:prstGeom>
          <a:solidFill>
            <a:srgbClr val="0E1113"/>
          </a:solidFill>
          <a:ln w="12700">
            <a:solidFill>
              <a:srgbClr val="273036"/>
            </a:solidFill>
            <a:prstDash val="solid"/>
          </a:ln>
        </p:spPr>
      </p:sp>
      <p:sp>
        <p:nvSpPr>
          <p:cNvPr id="5" name="Text 3"/>
          <p:cNvSpPr txBox="1"/>
          <p:nvPr/>
        </p:nvSpPr>
        <p:spPr>
          <a:xfrm>
            <a:off x="822960" y="1783080"/>
            <a:ext cx="4846320" cy="274320"/>
          </a:xfrm>
          <a:prstGeom prst="rect">
            <a:avLst/>
          </a:prstGeom>
          <a:noFill/>
          <a:ln/>
        </p:spPr>
        <p:txBody>
          <a:bodyPr wrap="square" lIns="0" tIns="0" rIns="0" bIns="0" rtlCol="0" anchor="t"/>
          <a:lstStyle/>
          <a:p>
            <a:pPr indent="0" marL="0">
              <a:buNone/>
            </a:pPr>
            <a:r>
              <a:rPr lang="en-US" sz="1100" b="1" dirty="0">
                <a:solidFill>
                  <a:srgbClr val="F1C75B"/>
                </a:solidFill>
                <a:latin typeface="Consolas" pitchFamily="34" charset="0"/>
                <a:ea typeface="Consolas" pitchFamily="34" charset="-122"/>
                <a:cs typeface="Consolas" pitchFamily="34" charset="-120"/>
              </a:rPr>
              <a:t>LIMITS</a:t>
            </a:r>
            <a:endParaRPr lang="en-US" sz="1100" dirty="0"/>
          </a:p>
        </p:txBody>
      </p:sp>
      <p:sp>
        <p:nvSpPr>
          <p:cNvPr id="6" name="Text 4"/>
          <p:cNvSpPr txBox="1"/>
          <p:nvPr/>
        </p:nvSpPr>
        <p:spPr>
          <a:xfrm>
            <a:off x="822960" y="219456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F5F3"/>
                </a:solidFill>
                <a:latin typeface="Arial" pitchFamily="34" charset="0"/>
                <a:ea typeface="Arial" pitchFamily="34" charset="-122"/>
                <a:cs typeface="Arial" pitchFamily="34" charset="-120"/>
              </a:rPr>
              <a:t>12 GSM8K prompts, one task family</a:t>
            </a:r>
            <a:endParaRPr lang="en-US" sz="1500" dirty="0"/>
          </a:p>
          <a:p>
            <a:pPr marL="342900" indent="-342900">
              <a:spcAft>
                <a:spcPts val="1000"/>
              </a:spcAft>
              <a:buSzPct val="100000"/>
              <a:buChar char="•"/>
            </a:pPr>
            <a:r>
              <a:rPr lang="en-US" sz="1500" dirty="0">
                <a:solidFill>
                  <a:srgbClr val="F2F5F3"/>
                </a:solidFill>
                <a:latin typeface="Arial" pitchFamily="34" charset="0"/>
                <a:ea typeface="Arial" pitchFamily="34" charset="-122"/>
                <a:cs typeface="Arial" pitchFamily="34" charset="-120"/>
              </a:rPr>
              <a:t>Signals are hand-written keyword and length rules</a:t>
            </a:r>
            <a:endParaRPr lang="en-US" sz="1500" dirty="0"/>
          </a:p>
          <a:p>
            <a:pPr marL="342900" indent="-342900">
              <a:spcAft>
                <a:spcPts val="1000"/>
              </a:spcAft>
              <a:buSzPct val="100000"/>
              <a:buChar char="•"/>
            </a:pPr>
            <a:r>
              <a:rPr lang="en-US" sz="1500" dirty="0">
                <a:solidFill>
                  <a:srgbClr val="F2F5F3"/>
                </a:solidFill>
                <a:latin typeface="Arial" pitchFamily="34" charset="0"/>
                <a:ea typeface="Arial" pitchFamily="34" charset="-122"/>
                <a:cs typeface="Arial" pitchFamily="34" charset="-120"/>
              </a:rPr>
              <a:t>Priorities map to designated model roles, not predicted success</a:t>
            </a:r>
            <a:endParaRPr lang="en-US" sz="1500" dirty="0"/>
          </a:p>
          <a:p>
            <a:pPr marL="342900" indent="-342900">
              <a:spcAft>
                <a:spcPts val="1000"/>
              </a:spcAft>
              <a:buSzPct val="100000"/>
              <a:buChar char="•"/>
            </a:pPr>
            <a:r>
              <a:rPr lang="en-US" sz="1500" dirty="0">
                <a:solidFill>
                  <a:srgbClr val="F2F5F3"/>
                </a:solidFill>
                <a:latin typeface="Arial" pitchFamily="34" charset="0"/>
                <a:ea typeface="Arial" pitchFamily="34" charset="-122"/>
                <a:cs typeface="Arial" pitchFamily="34" charset="-120"/>
              </a:rPr>
              <a:t>Prices and availability are dated snapshots that can change</a:t>
            </a:r>
            <a:endParaRPr lang="en-US" sz="1500" dirty="0"/>
          </a:p>
        </p:txBody>
      </p:sp>
      <p:sp>
        <p:nvSpPr>
          <p:cNvPr id="7" name="Shape 5"/>
          <p:cNvSpPr/>
          <p:nvPr/>
        </p:nvSpPr>
        <p:spPr>
          <a:xfrm>
            <a:off x="6217920" y="1600200"/>
            <a:ext cx="5394960" cy="3154680"/>
          </a:xfrm>
          <a:prstGeom prst="roundRect">
            <a:avLst>
              <a:gd name="adj" fmla="val 2319"/>
            </a:avLst>
          </a:prstGeom>
          <a:solidFill>
            <a:srgbClr val="0E1113"/>
          </a:solidFill>
          <a:ln w="12700">
            <a:solidFill>
              <a:srgbClr val="B8FF66"/>
            </a:solidFill>
            <a:prstDash val="solid"/>
          </a:ln>
        </p:spPr>
      </p:sp>
      <p:sp>
        <p:nvSpPr>
          <p:cNvPr id="8" name="Text 6"/>
          <p:cNvSpPr txBox="1"/>
          <p:nvPr/>
        </p:nvSpPr>
        <p:spPr>
          <a:xfrm>
            <a:off x="6492240" y="1783080"/>
            <a:ext cx="4846320" cy="274320"/>
          </a:xfrm>
          <a:prstGeom prst="rect">
            <a:avLst/>
          </a:prstGeom>
          <a:noFill/>
          <a:ln/>
        </p:spPr>
        <p:txBody>
          <a:bodyPr wrap="square" lIns="0" tIns="0" rIns="0" bIns="0" rtlCol="0" anchor="t"/>
          <a:lstStyle/>
          <a:p>
            <a:pPr indent="0" marL="0">
              <a:buNone/>
            </a:pPr>
            <a:r>
              <a:rPr lang="en-US" sz="1100" b="1" dirty="0">
                <a:solidFill>
                  <a:srgbClr val="B8FF66"/>
                </a:solidFill>
                <a:latin typeface="Consolas" pitchFamily="34" charset="0"/>
                <a:ea typeface="Consolas" pitchFamily="34" charset="-122"/>
                <a:cs typeface="Consolas" pitchFamily="34" charset="-120"/>
              </a:rPr>
              <a:t>NEXT · CHECKPOINT 3 (NOV 12)</a:t>
            </a:r>
            <a:endParaRPr lang="en-US" sz="1100" dirty="0"/>
          </a:p>
        </p:txBody>
      </p:sp>
      <p:sp>
        <p:nvSpPr>
          <p:cNvPr id="9" name="Text 7"/>
          <p:cNvSpPr txBox="1"/>
          <p:nvPr/>
        </p:nvSpPr>
        <p:spPr>
          <a:xfrm>
            <a:off x="6492240" y="2194560"/>
            <a:ext cx="484632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F5F3"/>
                </a:solidFill>
                <a:latin typeface="Arial" pitchFamily="34" charset="0"/>
                <a:ea typeface="Arial" pitchFamily="34" charset="-122"/>
                <a:cs typeface="Arial" pitchFamily="34" charset="-120"/>
              </a:rPr>
              <a:t>Train, validation, and held-out test split</a:t>
            </a:r>
            <a:endParaRPr lang="en-US" sz="1500" dirty="0"/>
          </a:p>
          <a:p>
            <a:pPr marL="342900" indent="-342900">
              <a:spcAft>
                <a:spcPts val="1000"/>
              </a:spcAft>
              <a:buSzPct val="100000"/>
              <a:buChar char="•"/>
            </a:pPr>
            <a:r>
              <a:rPr lang="en-US" sz="1500" dirty="0">
                <a:solidFill>
                  <a:srgbClr val="F2F5F3"/>
                </a:solidFill>
                <a:latin typeface="Arial" pitchFamily="34" charset="0"/>
                <a:ea typeface="Arial" pitchFamily="34" charset="-122"/>
                <a:cs typeface="Arial" pitchFamily="34" charset="-120"/>
              </a:rPr>
              <a:t>Prompt and model feature extraction</a:t>
            </a:r>
            <a:endParaRPr lang="en-US" sz="1500" dirty="0"/>
          </a:p>
          <a:p>
            <a:pPr marL="342900" indent="-342900">
              <a:spcAft>
                <a:spcPts val="1000"/>
              </a:spcAft>
              <a:buSzPct val="100000"/>
              <a:buChar char="•"/>
            </a:pPr>
            <a:r>
              <a:rPr lang="en-US" sz="1500" dirty="0">
                <a:solidFill>
                  <a:srgbClr val="F2F5F3"/>
                </a:solidFill>
                <a:latin typeface="Arial" pitchFamily="34" charset="0"/>
                <a:ea typeface="Arial" pitchFamily="34" charset="-122"/>
                <a:cs typeface="Arial" pitchFamily="34" charset="-120"/>
              </a:rPr>
              <a:t>Lightweight trained router: logistic regression vs. gradient boosting</a:t>
            </a:r>
            <a:endParaRPr lang="en-US" sz="1500" dirty="0"/>
          </a:p>
          <a:p>
            <a:pPr marL="342900" indent="-342900">
              <a:spcAft>
                <a:spcPts val="1000"/>
              </a:spcAft>
              <a:buSzPct val="100000"/>
              <a:buChar char="•"/>
            </a:pPr>
            <a:r>
              <a:rPr lang="en-US" sz="1500" dirty="0">
                <a:solidFill>
                  <a:srgbClr val="F2F5F3"/>
                </a:solidFill>
                <a:latin typeface="Arial" pitchFamily="34" charset="0"/>
                <a:ea typeface="Arial" pitchFamily="34" charset="-122"/>
                <a:cs typeface="Arial" pitchFamily="34" charset="-120"/>
              </a:rPr>
              <a:t>Second task category, compared against these baselines on held-out prompts</a:t>
            </a:r>
            <a:endParaRPr lang="en-US" sz="1500" dirty="0"/>
          </a:p>
        </p:txBody>
      </p:sp>
      <p:sp>
        <p:nvSpPr>
          <p:cNvPr id="10" name="Text 8"/>
          <p:cNvSpPr txBox="1"/>
          <p:nvPr/>
        </p:nvSpPr>
        <p:spPr>
          <a:xfrm>
            <a:off x="548640" y="5166360"/>
            <a:ext cx="11064240" cy="731520"/>
          </a:xfrm>
          <a:prstGeom prst="rect">
            <a:avLst/>
          </a:prstGeom>
          <a:noFill/>
          <a:ln/>
        </p:spPr>
        <p:txBody>
          <a:bodyPr wrap="square" lIns="0" tIns="0" rIns="0" bIns="0" rtlCol="0" anchor="t"/>
          <a:lstStyle/>
          <a:p>
            <a:pPr indent="0" marL="0">
              <a:buNone/>
            </a:pPr>
            <a:r>
              <a:rPr lang="en-US" sz="3600" b="1" dirty="0">
                <a:solidFill>
                  <a:srgbClr val="B8FF66"/>
                </a:solidFill>
                <a:latin typeface="Arial" pitchFamily="34" charset="0"/>
                <a:ea typeface="Arial" pitchFamily="34" charset="-122"/>
                <a:cs typeface="Arial" pitchFamily="34" charset="-120"/>
              </a:rPr>
              <a:t>Questions?</a:t>
            </a:r>
            <a:endParaRPr lang="en-US" sz="3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F7A80"/>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LLM Router - Checkpoint 2</dc:title>
  <dc:subject>CSC 498 Senior Seminar - Checkpoint 2</dc:subject>
  <dc:creator>Mian Abdullah</dc:creator>
  <cp:lastModifiedBy>Mian Abdullah</cp:lastModifiedBy>
  <cp:revision>1</cp:revision>
  <dcterms:created xsi:type="dcterms:W3CDTF">2026-10-23T05:07:50Z</dcterms:created>
  <dcterms:modified xsi:type="dcterms:W3CDTF">2026-10-23T05:07:50Z</dcterms:modified>
</cp:coreProperties>
</file>